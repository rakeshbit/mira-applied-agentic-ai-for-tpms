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78" r:id="rId10"/>
    <p:sldId id="264" r:id="rId11"/>
    <p:sldId id="276" r:id="rId12"/>
    <p:sldId id="265" r:id="rId13"/>
    <p:sldId id="277" r:id="rId14"/>
    <p:sldId id="266" r:id="rId15"/>
    <p:sldId id="267" r:id="rId16"/>
    <p:sldId id="268" r:id="rId17"/>
    <p:sldId id="269" r:id="rId18"/>
    <p:sldId id="270" r:id="rId19"/>
    <p:sldId id="271" r:id="rId20"/>
    <p:sldId id="272" r:id="rId21"/>
    <p:sldId id="273" r:id="rId22"/>
    <p:sldId id="274" r:id="rId23"/>
    <p:sldId id="280" r:id="rId24"/>
    <p:sldId id="275" r:id="rId25"/>
    <p:sldId id="279"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60"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8718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B141B-3F5F-132A-74BB-6FB62D34A0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2124F0-A366-ADF2-94DD-9EE6F7ADFE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2221FD-10C6-BF09-9D94-294FCCA9C3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058A73-EAAC-0B10-F63A-7F533E26BE85}"/>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9520506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6041B-583A-E300-083A-EC390F38F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4BF429-EF94-BA1D-3C80-CF0CCFD936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DB0871-3D55-3D67-9A7A-651CAA4226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91608E-7344-D69C-E1FE-E70B71B97C8D}"/>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526650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BF576-C9A4-617F-2EF9-DB8614D211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5100A7-C6AB-6526-AE27-0F84D6CAC8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64B73E-C1BA-1011-4DDE-5653038781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BF5CCA-E2B7-62BA-20E5-EF442BB67E30}"/>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8314656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71679-0A09-B667-7488-9D8EDC4CB5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981F93-2FA2-D901-3A60-CCDBBB8DDB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E8BD78-FDEA-2FE2-EA40-2509944DCE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5E19FB-AA07-8978-5A5C-46D61CC83E12}"/>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6453128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35140-A9B5-1B56-81BD-75420B9BFD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FF8EF6-EAA7-99AE-33F3-B1812D0187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44EEFD-0306-0399-5D68-811A8C1C9E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E7053F-590C-F241-DC80-AD0B61F08144}"/>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2949268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CD560-AF68-82CA-31B2-BAB838381B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296455-33E4-779A-9ABB-969C49FA46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93DE82-896B-4B82-E665-1DFDBAF388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9C9B09-32E9-868E-AD3C-E2AEE7624E04}"/>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122124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rakeshbit/MIRA-Applied-Agentic-AI-for-TPMs/upload/main"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7.emf"/></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F4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2F4E"/>
          </a:solidFill>
          <a:ln/>
        </p:spPr>
      </p:sp>
      <p:sp>
        <p:nvSpPr>
          <p:cNvPr id="5" name="Text 3"/>
          <p:cNvSpPr/>
          <p:nvPr/>
        </p:nvSpPr>
        <p:spPr>
          <a:xfrm>
            <a:off x="822960" y="1234440"/>
            <a:ext cx="9601200" cy="365760"/>
          </a:xfrm>
          <a:prstGeom prst="rect">
            <a:avLst/>
          </a:prstGeom>
          <a:noFill/>
          <a:ln/>
        </p:spPr>
        <p:txBody>
          <a:bodyPr wrap="square" rtlCol="0" anchor="ctr"/>
          <a:lstStyle/>
          <a:p>
            <a:pPr marL="0" indent="0">
              <a:buNone/>
            </a:pPr>
            <a:r>
              <a:rPr lang="en-US" sz="1300" b="1" kern="0" spc="200" dirty="0">
                <a:solidFill>
                  <a:srgbClr val="D98E2B"/>
                </a:solidFill>
                <a:latin typeface="Calibri" pitchFamily="34" charset="0"/>
                <a:ea typeface="Calibri" pitchFamily="34" charset="-122"/>
                <a:cs typeface="Calibri" pitchFamily="34" charset="-120"/>
              </a:rPr>
              <a:t>APPLIED AGENTIC AI FOR TECHNICAL PROGRAM MANAGERS</a:t>
            </a:r>
            <a:endParaRPr lang="en-US" sz="1300" dirty="0"/>
          </a:p>
        </p:txBody>
      </p:sp>
      <p:sp>
        <p:nvSpPr>
          <p:cNvPr id="6" name="Text 4"/>
          <p:cNvSpPr/>
          <p:nvPr/>
        </p:nvSpPr>
        <p:spPr>
          <a:xfrm>
            <a:off x="777240" y="1600200"/>
            <a:ext cx="8229600" cy="1371600"/>
          </a:xfrm>
          <a:prstGeom prst="rect">
            <a:avLst/>
          </a:prstGeom>
          <a:noFill/>
          <a:ln/>
        </p:spPr>
        <p:txBody>
          <a:bodyPr wrap="square" rtlCol="0" anchor="ctr"/>
          <a:lstStyle/>
          <a:p>
            <a:pPr marL="0" indent="0">
              <a:buNone/>
            </a:pPr>
            <a:r>
              <a:rPr lang="en-US" sz="8800" b="1" dirty="0">
                <a:solidFill>
                  <a:srgbClr val="FFFFFF"/>
                </a:solidFill>
                <a:latin typeface="Cambria" pitchFamily="34" charset="0"/>
                <a:ea typeface="Cambria" pitchFamily="34" charset="-122"/>
                <a:cs typeface="Cambria" pitchFamily="34" charset="-120"/>
              </a:rPr>
              <a:t>MIRA</a:t>
            </a:r>
            <a:endParaRPr lang="en-US" sz="8800" dirty="0"/>
          </a:p>
        </p:txBody>
      </p:sp>
      <p:sp>
        <p:nvSpPr>
          <p:cNvPr id="7" name="Text 5"/>
          <p:cNvSpPr/>
          <p:nvPr/>
        </p:nvSpPr>
        <p:spPr>
          <a:xfrm>
            <a:off x="822960" y="2880360"/>
            <a:ext cx="9875520" cy="548640"/>
          </a:xfrm>
          <a:prstGeom prst="rect">
            <a:avLst/>
          </a:prstGeom>
          <a:noFill/>
          <a:ln/>
        </p:spPr>
        <p:txBody>
          <a:bodyPr wrap="square" rtlCol="0" anchor="ctr"/>
          <a:lstStyle/>
          <a:p>
            <a:pPr marL="0" indent="0">
              <a:buNone/>
            </a:pPr>
            <a:r>
              <a:rPr lang="en-US" sz="2600" i="1" dirty="0">
                <a:solidFill>
                  <a:srgbClr val="CBD9EE"/>
                </a:solidFill>
                <a:latin typeface="Cambria" pitchFamily="34" charset="0"/>
                <a:ea typeface="Cambria" pitchFamily="34" charset="-122"/>
                <a:cs typeface="Cambria" pitchFamily="34" charset="-120"/>
              </a:rPr>
              <a:t>Multi-Agent PMO Orchestrator</a:t>
            </a:r>
            <a:endParaRPr lang="en-US" sz="2600" dirty="0"/>
          </a:p>
        </p:txBody>
      </p:sp>
      <p:sp>
        <p:nvSpPr>
          <p:cNvPr id="8" name="Text 6"/>
          <p:cNvSpPr/>
          <p:nvPr/>
        </p:nvSpPr>
        <p:spPr>
          <a:xfrm>
            <a:off x="822960" y="3456432"/>
            <a:ext cx="7863840" cy="640080"/>
          </a:xfrm>
          <a:prstGeom prst="rect">
            <a:avLst/>
          </a:prstGeom>
          <a:noFill/>
          <a:ln/>
        </p:spPr>
        <p:txBody>
          <a:bodyPr wrap="square" rtlCol="0" anchor="ctr"/>
          <a:lstStyle/>
          <a:p>
            <a:pPr marL="0" indent="0">
              <a:lnSpc>
                <a:spcPct val="125000"/>
              </a:lnSpc>
              <a:buNone/>
            </a:pPr>
            <a:r>
              <a:rPr lang="en-US" sz="1400" dirty="0">
                <a:solidFill>
                  <a:srgbClr val="CBD9EE"/>
                </a:solidFill>
                <a:latin typeface="Calibri" pitchFamily="34" charset="0"/>
                <a:ea typeface="Calibri" pitchFamily="34" charset="-122"/>
                <a:cs typeface="Calibri" pitchFamily="34" charset="-120"/>
              </a:rPr>
              <a:t>Autonomous project-plan synthesis and live Kanban status reporting for a 15-member, cross-functional AI adoption program.</a:t>
            </a:r>
            <a:endParaRPr lang="en-US" sz="1400" dirty="0"/>
          </a:p>
        </p:txBody>
      </p:sp>
      <p:sp>
        <p:nvSpPr>
          <p:cNvPr id="9" name="Shape 7"/>
          <p:cNvSpPr/>
          <p:nvPr/>
        </p:nvSpPr>
        <p:spPr>
          <a:xfrm>
            <a:off x="822960" y="4343400"/>
            <a:ext cx="7863840" cy="18288"/>
          </a:xfrm>
          <a:prstGeom prst="rect">
            <a:avLst/>
          </a:prstGeom>
          <a:solidFill>
            <a:srgbClr val="3C5680"/>
          </a:solidFill>
          <a:ln/>
        </p:spPr>
      </p:sp>
      <p:sp>
        <p:nvSpPr>
          <p:cNvPr id="10" name="Text 8"/>
          <p:cNvSpPr/>
          <p:nvPr/>
        </p:nvSpPr>
        <p:spPr>
          <a:xfrm>
            <a:off x="822960" y="4572000"/>
            <a:ext cx="2377440" cy="274320"/>
          </a:xfrm>
          <a:prstGeom prst="rect">
            <a:avLst/>
          </a:prstGeom>
          <a:noFill/>
          <a:ln/>
        </p:spPr>
        <p:txBody>
          <a:bodyPr wrap="square" rtlCol="0" anchor="ctr"/>
          <a:lstStyle/>
          <a:p>
            <a:pPr marL="0" indent="0">
              <a:buNone/>
            </a:pPr>
            <a:r>
              <a:rPr lang="en-US" sz="950" b="1" kern="0" spc="100" dirty="0">
                <a:solidFill>
                  <a:srgbClr val="D98E2B"/>
                </a:solidFill>
                <a:latin typeface="Calibri" pitchFamily="34" charset="0"/>
                <a:ea typeface="Calibri" pitchFamily="34" charset="-122"/>
                <a:cs typeface="Calibri" pitchFamily="34" charset="-120"/>
              </a:rPr>
              <a:t>AUTHOR</a:t>
            </a:r>
            <a:endParaRPr lang="en-US" sz="950" dirty="0"/>
          </a:p>
        </p:txBody>
      </p:sp>
      <p:sp>
        <p:nvSpPr>
          <p:cNvPr id="11" name="Text 9"/>
          <p:cNvSpPr/>
          <p:nvPr/>
        </p:nvSpPr>
        <p:spPr>
          <a:xfrm>
            <a:off x="3246120" y="4544568"/>
            <a:ext cx="7315200" cy="320040"/>
          </a:xfrm>
          <a:prstGeom prst="rect">
            <a:avLst/>
          </a:prstGeom>
          <a:noFill/>
          <a:ln/>
        </p:spPr>
        <p:txBody>
          <a:bodyPr wrap="square" rtlCol="0" anchor="ctr"/>
          <a:lstStyle/>
          <a:p>
            <a:pPr marL="0" indent="0">
              <a:buNone/>
            </a:pPr>
            <a:r>
              <a:rPr lang="en-US" sz="1250" dirty="0">
                <a:solidFill>
                  <a:schemeClr val="bg1"/>
                </a:solidFill>
                <a:highlight>
                  <a:srgbClr val="808000"/>
                </a:highlight>
                <a:latin typeface="Calibri" pitchFamily="34" charset="0"/>
                <a:ea typeface="Calibri" pitchFamily="34" charset="-122"/>
                <a:cs typeface="Calibri" pitchFamily="34" charset="-120"/>
              </a:rPr>
              <a:t>RAKESH RANJAN YADAV - AI Technical Program Manager</a:t>
            </a:r>
            <a:endParaRPr lang="en-US" sz="1250" dirty="0">
              <a:solidFill>
                <a:schemeClr val="bg1"/>
              </a:solidFill>
              <a:highlight>
                <a:srgbClr val="808000"/>
              </a:highlight>
            </a:endParaRPr>
          </a:p>
        </p:txBody>
      </p:sp>
      <p:sp>
        <p:nvSpPr>
          <p:cNvPr id="12" name="Text 10"/>
          <p:cNvSpPr/>
          <p:nvPr/>
        </p:nvSpPr>
        <p:spPr>
          <a:xfrm>
            <a:off x="822960" y="4956048"/>
            <a:ext cx="2377440" cy="274320"/>
          </a:xfrm>
          <a:prstGeom prst="rect">
            <a:avLst/>
          </a:prstGeom>
          <a:noFill/>
          <a:ln/>
        </p:spPr>
        <p:txBody>
          <a:bodyPr wrap="square" rtlCol="0" anchor="ctr"/>
          <a:lstStyle/>
          <a:p>
            <a:pPr marL="0" indent="0">
              <a:buNone/>
            </a:pPr>
            <a:r>
              <a:rPr lang="en-US" sz="950" b="1" kern="0" spc="100" dirty="0">
                <a:solidFill>
                  <a:srgbClr val="D98E2B"/>
                </a:solidFill>
                <a:latin typeface="Calibri" pitchFamily="34" charset="0"/>
                <a:ea typeface="Calibri" pitchFamily="34" charset="-122"/>
                <a:cs typeface="Calibri" pitchFamily="34" charset="-120"/>
              </a:rPr>
              <a:t>ORGANIZATION</a:t>
            </a:r>
            <a:endParaRPr lang="en-US" sz="950" dirty="0"/>
          </a:p>
        </p:txBody>
      </p:sp>
      <p:sp>
        <p:nvSpPr>
          <p:cNvPr id="13" name="Text 11"/>
          <p:cNvSpPr/>
          <p:nvPr/>
        </p:nvSpPr>
        <p:spPr>
          <a:xfrm>
            <a:off x="3246120" y="4928616"/>
            <a:ext cx="7315200" cy="32004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Nexora Pvt. Ltd. — London, UK</a:t>
            </a:r>
            <a:endParaRPr lang="en-US" sz="1250" dirty="0"/>
          </a:p>
        </p:txBody>
      </p:sp>
      <p:sp>
        <p:nvSpPr>
          <p:cNvPr id="14" name="Text 12"/>
          <p:cNvSpPr/>
          <p:nvPr/>
        </p:nvSpPr>
        <p:spPr>
          <a:xfrm>
            <a:off x="822960" y="5340096"/>
            <a:ext cx="2377440" cy="274320"/>
          </a:xfrm>
          <a:prstGeom prst="rect">
            <a:avLst/>
          </a:prstGeom>
          <a:noFill/>
          <a:ln/>
        </p:spPr>
        <p:txBody>
          <a:bodyPr wrap="square" rtlCol="0" anchor="ctr"/>
          <a:lstStyle/>
          <a:p>
            <a:pPr marL="0" indent="0">
              <a:buNone/>
            </a:pPr>
            <a:r>
              <a:rPr lang="en-US" sz="950" b="1" kern="0" spc="100" dirty="0">
                <a:solidFill>
                  <a:srgbClr val="D98E2B"/>
                </a:solidFill>
                <a:latin typeface="Calibri" pitchFamily="34" charset="0"/>
                <a:ea typeface="Calibri" pitchFamily="34" charset="-122"/>
                <a:cs typeface="Calibri" pitchFamily="34" charset="-120"/>
              </a:rPr>
              <a:t>CLIENT PROGRAM</a:t>
            </a:r>
            <a:endParaRPr lang="en-US" sz="950" dirty="0"/>
          </a:p>
        </p:txBody>
      </p:sp>
      <p:sp>
        <p:nvSpPr>
          <p:cNvPr id="15" name="Text 13"/>
          <p:cNvSpPr/>
          <p:nvPr/>
        </p:nvSpPr>
        <p:spPr>
          <a:xfrm>
            <a:off x="3246120" y="5312664"/>
            <a:ext cx="7315200" cy="32004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AI Adoption Initiative, ABCDE Ltd.</a:t>
            </a:r>
            <a:endParaRPr lang="en-US" sz="1250" dirty="0"/>
          </a:p>
        </p:txBody>
      </p:sp>
      <p:sp>
        <p:nvSpPr>
          <p:cNvPr id="16" name="Text 14"/>
          <p:cNvSpPr/>
          <p:nvPr/>
        </p:nvSpPr>
        <p:spPr>
          <a:xfrm>
            <a:off x="822960" y="5724144"/>
            <a:ext cx="2377440" cy="274320"/>
          </a:xfrm>
          <a:prstGeom prst="rect">
            <a:avLst/>
          </a:prstGeom>
          <a:noFill/>
          <a:ln/>
        </p:spPr>
        <p:txBody>
          <a:bodyPr wrap="square" rtlCol="0" anchor="ctr"/>
          <a:lstStyle/>
          <a:p>
            <a:pPr marL="0" indent="0">
              <a:buNone/>
            </a:pPr>
            <a:r>
              <a:rPr lang="en-US" sz="950" b="1" kern="0" spc="100" dirty="0">
                <a:solidFill>
                  <a:srgbClr val="D98E2B"/>
                </a:solidFill>
                <a:latin typeface="Calibri" pitchFamily="34" charset="0"/>
                <a:ea typeface="Calibri" pitchFamily="34" charset="-122"/>
                <a:cs typeface="Calibri" pitchFamily="34" charset="-120"/>
              </a:rPr>
              <a:t>SUBMISSION</a:t>
            </a:r>
            <a:endParaRPr lang="en-US" sz="950" dirty="0"/>
          </a:p>
        </p:txBody>
      </p:sp>
      <p:sp>
        <p:nvSpPr>
          <p:cNvPr id="17" name="Text 15"/>
          <p:cNvSpPr/>
          <p:nvPr/>
        </p:nvSpPr>
        <p:spPr>
          <a:xfrm>
            <a:off x="3246120" y="5696712"/>
            <a:ext cx="7315200" cy="32004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Capstone Project 1 — System Design &amp; Delivery Documentation</a:t>
            </a:r>
            <a:endParaRPr lang="en-US" sz="1250" dirty="0"/>
          </a:p>
        </p:txBody>
      </p:sp>
      <p:sp>
        <p:nvSpPr>
          <p:cNvPr id="18" name="Text 16"/>
          <p:cNvSpPr/>
          <p:nvPr/>
        </p:nvSpPr>
        <p:spPr>
          <a:xfrm>
            <a:off x="9814255" y="6309360"/>
            <a:ext cx="1828800" cy="320040"/>
          </a:xfrm>
          <a:prstGeom prst="rect">
            <a:avLst/>
          </a:prstGeom>
          <a:noFill/>
          <a:ln/>
        </p:spPr>
        <p:txBody>
          <a:bodyPr wrap="square" rtlCol="0" anchor="ctr"/>
          <a:lstStyle/>
          <a:p>
            <a:pPr marL="0" indent="0" algn="r">
              <a:buNone/>
            </a:pPr>
            <a:r>
              <a:rPr lang="en-US" sz="1050" dirty="0">
                <a:solidFill>
                  <a:srgbClr val="CBD9EE"/>
                </a:solidFill>
                <a:latin typeface="Calibri" pitchFamily="34" charset="0"/>
                <a:ea typeface="Calibri" pitchFamily="34" charset="-122"/>
                <a:cs typeface="Calibri" pitchFamily="34" charset="-120"/>
              </a:rPr>
              <a:t>August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rtlCol="0" anchor="ctr"/>
          <a:lstStyle/>
          <a:p>
            <a:pPr marL="0" indent="0" algn="l">
              <a:buNone/>
            </a:pPr>
            <a:r>
              <a:rPr lang="en-US" sz="1250" b="1" kern="0" spc="200" dirty="0">
                <a:solidFill>
                  <a:srgbClr val="3E6B8A"/>
                </a:solidFill>
                <a:latin typeface="Calibri" pitchFamily="34" charset="0"/>
                <a:ea typeface="Calibri" pitchFamily="34" charset="-122"/>
                <a:cs typeface="Calibri" pitchFamily="34" charset="-120"/>
              </a:rPr>
              <a:t>DOCUMENT ROADMAP</a:t>
            </a:r>
            <a:endParaRPr lang="en-US" sz="1250" dirty="0"/>
          </a:p>
        </p:txBody>
      </p:sp>
      <p:sp>
        <p:nvSpPr>
          <p:cNvPr id="3" name="Text 1"/>
          <p:cNvSpPr/>
          <p:nvPr/>
        </p:nvSpPr>
        <p:spPr>
          <a:xfrm>
            <a:off x="640080" y="658368"/>
            <a:ext cx="10607040" cy="658368"/>
          </a:xfrm>
          <a:prstGeom prst="rect">
            <a:avLst/>
          </a:prstGeom>
          <a:noFill/>
          <a:ln/>
        </p:spPr>
        <p:txBody>
          <a:bodyPr wrap="square" rtlCol="0" anchor="ctr"/>
          <a:lstStyle/>
          <a:p>
            <a:pPr marL="0" indent="0" algn="l">
              <a:buNone/>
            </a:pPr>
            <a:r>
              <a:rPr lang="en-US" sz="3200" b="1" dirty="0">
                <a:solidFill>
                  <a:srgbClr val="1B2F4E"/>
                </a:solidFill>
                <a:latin typeface="Cambria" pitchFamily="34" charset="0"/>
                <a:ea typeface="Cambria" pitchFamily="34" charset="-122"/>
                <a:cs typeface="Cambria" pitchFamily="34" charset="-120"/>
              </a:rPr>
              <a:t>What This Submission Covers</a:t>
            </a:r>
            <a:endParaRPr lang="en-US" sz="3200" dirty="0"/>
          </a:p>
        </p:txBody>
      </p:sp>
      <p:sp>
        <p:nvSpPr>
          <p:cNvPr id="4" name="Text 2"/>
          <p:cNvSpPr/>
          <p:nvPr/>
        </p:nvSpPr>
        <p:spPr>
          <a:xfrm>
            <a:off x="640080" y="1298448"/>
            <a:ext cx="10058400" cy="365760"/>
          </a:xfrm>
          <a:prstGeom prst="rect">
            <a:avLst/>
          </a:prstGeom>
          <a:noFill/>
          <a:ln/>
        </p:spPr>
        <p:txBody>
          <a:bodyPr wrap="square" rtlCol="0" anchor="ctr"/>
          <a:lstStyle/>
          <a:p>
            <a:pPr marL="0" indent="0">
              <a:buNone/>
            </a:pPr>
            <a:r>
              <a:rPr lang="en-US" sz="1300" dirty="0">
                <a:solidFill>
                  <a:srgbClr val="5D6B7A"/>
                </a:solidFill>
                <a:latin typeface="Calibri" pitchFamily="34" charset="0"/>
                <a:ea typeface="Calibri" pitchFamily="34" charset="-122"/>
                <a:cs typeface="Calibri" pitchFamily="34" charset="-120"/>
              </a:rPr>
              <a:t>A single narrative — from the operating problem, through system design, to production evidence and measured impact.</a:t>
            </a:r>
            <a:endParaRPr lang="en-US" sz="1300" dirty="0"/>
          </a:p>
        </p:txBody>
      </p:sp>
      <p:sp>
        <p:nvSpPr>
          <p:cNvPr id="5" name="Shape 3"/>
          <p:cNvSpPr/>
          <p:nvPr/>
        </p:nvSpPr>
        <p:spPr>
          <a:xfrm>
            <a:off x="640080" y="1965960"/>
            <a:ext cx="5074920" cy="1170432"/>
          </a:xfrm>
          <a:prstGeom prst="roundRect">
            <a:avLst>
              <a:gd name="adj" fmla="val 6250"/>
            </a:avLst>
          </a:prstGeom>
          <a:solidFill>
            <a:srgbClr val="F4F6F9"/>
          </a:solidFill>
          <a:ln w="12700">
            <a:solidFill>
              <a:srgbClr val="E1E6ED"/>
            </a:solidFill>
            <a:prstDash val="solid"/>
          </a:ln>
        </p:spPr>
      </p:sp>
      <p:sp>
        <p:nvSpPr>
          <p:cNvPr id="6" name="Text 4"/>
          <p:cNvSpPr/>
          <p:nvPr/>
        </p:nvSpPr>
        <p:spPr>
          <a:xfrm>
            <a:off x="841248" y="2130552"/>
            <a:ext cx="822960" cy="822960"/>
          </a:xfrm>
          <a:prstGeom prst="rect">
            <a:avLst/>
          </a:prstGeom>
          <a:noFill/>
          <a:ln/>
        </p:spPr>
        <p:txBody>
          <a:bodyPr wrap="square" rtlCol="0" anchor="ctr"/>
          <a:lstStyle/>
          <a:p>
            <a:pPr marL="0" indent="0" algn="l">
              <a:buNone/>
            </a:pPr>
            <a:r>
              <a:rPr lang="en-US" sz="3000" b="1" dirty="0">
                <a:solidFill>
                  <a:srgbClr val="3E6B8A"/>
                </a:solidFill>
                <a:latin typeface="Cambria" pitchFamily="34" charset="0"/>
                <a:ea typeface="Cambria" pitchFamily="34" charset="-122"/>
                <a:cs typeface="Cambria" pitchFamily="34" charset="-120"/>
              </a:rPr>
              <a:t>01</a:t>
            </a:r>
            <a:endParaRPr lang="en-US" sz="3000" dirty="0"/>
          </a:p>
        </p:txBody>
      </p:sp>
      <p:sp>
        <p:nvSpPr>
          <p:cNvPr id="7" name="Text 5"/>
          <p:cNvSpPr/>
          <p:nvPr/>
        </p:nvSpPr>
        <p:spPr>
          <a:xfrm>
            <a:off x="1645920" y="2112264"/>
            <a:ext cx="3886200" cy="384048"/>
          </a:xfrm>
          <a:prstGeom prst="rect">
            <a:avLst/>
          </a:prstGeom>
          <a:noFill/>
          <a:ln/>
        </p:spPr>
        <p:txBody>
          <a:bodyPr wrap="square" rtlCol="0" anchor="ctr"/>
          <a:lstStyle/>
          <a:p>
            <a:pPr marL="0" indent="0">
              <a:buNone/>
            </a:pPr>
            <a:r>
              <a:rPr lang="en-US" sz="1450" b="1" dirty="0">
                <a:solidFill>
                  <a:srgbClr val="1B2F4E"/>
                </a:solidFill>
                <a:latin typeface="Calibri" pitchFamily="34" charset="0"/>
                <a:ea typeface="Calibri" pitchFamily="34" charset="-122"/>
                <a:cs typeface="Calibri" pitchFamily="34" charset="-120"/>
              </a:rPr>
              <a:t>The Operating Problem</a:t>
            </a:r>
            <a:endParaRPr lang="en-US" sz="1450" dirty="0"/>
          </a:p>
        </p:txBody>
      </p:sp>
      <p:sp>
        <p:nvSpPr>
          <p:cNvPr id="8" name="Text 6"/>
          <p:cNvSpPr/>
          <p:nvPr/>
        </p:nvSpPr>
        <p:spPr>
          <a:xfrm>
            <a:off x="1645920" y="2496312"/>
            <a:ext cx="3886200" cy="566928"/>
          </a:xfrm>
          <a:prstGeom prst="rect">
            <a:avLst/>
          </a:prstGeom>
          <a:noFill/>
          <a:ln/>
        </p:spPr>
        <p:txBody>
          <a:bodyPr wrap="square" rtlCol="0" anchor="ctr"/>
          <a:lstStyle/>
          <a:p>
            <a:pPr marL="0" indent="0">
              <a:lnSpc>
                <a:spcPct val="115000"/>
              </a:lnSpc>
              <a:buNone/>
            </a:pPr>
            <a:r>
              <a:rPr lang="en-US" sz="1100" dirty="0">
                <a:solidFill>
                  <a:srgbClr val="5D6B7A"/>
                </a:solidFill>
                <a:latin typeface="Calibri" pitchFamily="34" charset="0"/>
                <a:ea typeface="Calibri" pitchFamily="34" charset="-122"/>
                <a:cs typeface="Calibri" pitchFamily="34" charset="-120"/>
              </a:rPr>
              <a:t>Why a TPM juggling 4–6 programs needs an agentic co-pilot</a:t>
            </a:r>
            <a:endParaRPr lang="en-US" sz="1100" dirty="0"/>
          </a:p>
        </p:txBody>
      </p:sp>
      <p:sp>
        <p:nvSpPr>
          <p:cNvPr id="9" name="Shape 7"/>
          <p:cNvSpPr/>
          <p:nvPr/>
        </p:nvSpPr>
        <p:spPr>
          <a:xfrm>
            <a:off x="6035040" y="1965960"/>
            <a:ext cx="5074920" cy="1170432"/>
          </a:xfrm>
          <a:prstGeom prst="roundRect">
            <a:avLst>
              <a:gd name="adj" fmla="val 6250"/>
            </a:avLst>
          </a:prstGeom>
          <a:solidFill>
            <a:srgbClr val="F4F6F9"/>
          </a:solidFill>
          <a:ln w="12700">
            <a:solidFill>
              <a:srgbClr val="E1E6ED"/>
            </a:solidFill>
            <a:prstDash val="solid"/>
          </a:ln>
        </p:spPr>
      </p:sp>
      <p:sp>
        <p:nvSpPr>
          <p:cNvPr id="10" name="Text 8"/>
          <p:cNvSpPr/>
          <p:nvPr/>
        </p:nvSpPr>
        <p:spPr>
          <a:xfrm>
            <a:off x="6236208" y="2130552"/>
            <a:ext cx="822960" cy="822960"/>
          </a:xfrm>
          <a:prstGeom prst="rect">
            <a:avLst/>
          </a:prstGeom>
          <a:noFill/>
          <a:ln/>
        </p:spPr>
        <p:txBody>
          <a:bodyPr wrap="square" rtlCol="0" anchor="ctr"/>
          <a:lstStyle/>
          <a:p>
            <a:pPr marL="0" indent="0" algn="l">
              <a:buNone/>
            </a:pPr>
            <a:r>
              <a:rPr lang="en-US" sz="3000" b="1" dirty="0">
                <a:solidFill>
                  <a:srgbClr val="3E6B8A"/>
                </a:solidFill>
                <a:latin typeface="Cambria" pitchFamily="34" charset="0"/>
                <a:ea typeface="Cambria" pitchFamily="34" charset="-122"/>
                <a:cs typeface="Cambria" pitchFamily="34" charset="-120"/>
              </a:rPr>
              <a:t>02</a:t>
            </a:r>
            <a:endParaRPr lang="en-US" sz="3000" dirty="0"/>
          </a:p>
        </p:txBody>
      </p:sp>
      <p:sp>
        <p:nvSpPr>
          <p:cNvPr id="11" name="Text 9"/>
          <p:cNvSpPr/>
          <p:nvPr/>
        </p:nvSpPr>
        <p:spPr>
          <a:xfrm>
            <a:off x="7040880" y="2112264"/>
            <a:ext cx="3886200" cy="384048"/>
          </a:xfrm>
          <a:prstGeom prst="rect">
            <a:avLst/>
          </a:prstGeom>
          <a:noFill/>
          <a:ln/>
        </p:spPr>
        <p:txBody>
          <a:bodyPr wrap="square" rtlCol="0" anchor="ctr"/>
          <a:lstStyle/>
          <a:p>
            <a:pPr marL="0" indent="0">
              <a:buNone/>
            </a:pPr>
            <a:r>
              <a:rPr lang="en-US" sz="1450" b="1" dirty="0">
                <a:solidFill>
                  <a:srgbClr val="1B2F4E"/>
                </a:solidFill>
                <a:latin typeface="Calibri" pitchFamily="34" charset="0"/>
                <a:ea typeface="Calibri" pitchFamily="34" charset="-122"/>
                <a:cs typeface="Calibri" pitchFamily="34" charset="-120"/>
              </a:rPr>
              <a:t>The Client Program</a:t>
            </a:r>
            <a:endParaRPr lang="en-US" sz="1450" dirty="0"/>
          </a:p>
        </p:txBody>
      </p:sp>
      <p:sp>
        <p:nvSpPr>
          <p:cNvPr id="12" name="Text 10"/>
          <p:cNvSpPr/>
          <p:nvPr/>
        </p:nvSpPr>
        <p:spPr>
          <a:xfrm>
            <a:off x="7040880" y="2496312"/>
            <a:ext cx="3886200" cy="566928"/>
          </a:xfrm>
          <a:prstGeom prst="rect">
            <a:avLst/>
          </a:prstGeom>
          <a:noFill/>
          <a:ln/>
        </p:spPr>
        <p:txBody>
          <a:bodyPr wrap="square" rtlCol="0" anchor="ctr"/>
          <a:lstStyle/>
          <a:p>
            <a:pPr marL="0" indent="0">
              <a:lnSpc>
                <a:spcPct val="115000"/>
              </a:lnSpc>
              <a:buNone/>
            </a:pPr>
            <a:r>
              <a:rPr lang="en-US" sz="1100" dirty="0">
                <a:solidFill>
                  <a:srgbClr val="5D6B7A"/>
                </a:solidFill>
                <a:latin typeface="Calibri" pitchFamily="34" charset="0"/>
                <a:ea typeface="Calibri" pitchFamily="34" charset="-122"/>
                <a:cs typeface="Calibri" pitchFamily="34" charset="-120"/>
              </a:rPr>
              <a:t>ABCDE Ltd.: team, timeline and risk landscape</a:t>
            </a:r>
            <a:endParaRPr lang="en-US" sz="1100" dirty="0"/>
          </a:p>
        </p:txBody>
      </p:sp>
      <p:sp>
        <p:nvSpPr>
          <p:cNvPr id="13" name="Shape 11"/>
          <p:cNvSpPr/>
          <p:nvPr/>
        </p:nvSpPr>
        <p:spPr>
          <a:xfrm>
            <a:off x="640080" y="3429000"/>
            <a:ext cx="5074920" cy="1170432"/>
          </a:xfrm>
          <a:prstGeom prst="roundRect">
            <a:avLst>
              <a:gd name="adj" fmla="val 6250"/>
            </a:avLst>
          </a:prstGeom>
          <a:solidFill>
            <a:srgbClr val="F4F6F9"/>
          </a:solidFill>
          <a:ln w="12700">
            <a:solidFill>
              <a:srgbClr val="E1E6ED"/>
            </a:solidFill>
            <a:prstDash val="solid"/>
          </a:ln>
        </p:spPr>
      </p:sp>
      <p:sp>
        <p:nvSpPr>
          <p:cNvPr id="14" name="Text 12"/>
          <p:cNvSpPr/>
          <p:nvPr/>
        </p:nvSpPr>
        <p:spPr>
          <a:xfrm>
            <a:off x="841248" y="3593592"/>
            <a:ext cx="822960" cy="822960"/>
          </a:xfrm>
          <a:prstGeom prst="rect">
            <a:avLst/>
          </a:prstGeom>
          <a:noFill/>
          <a:ln/>
        </p:spPr>
        <p:txBody>
          <a:bodyPr wrap="square" rtlCol="0" anchor="ctr"/>
          <a:lstStyle/>
          <a:p>
            <a:pPr marL="0" indent="0" algn="l">
              <a:buNone/>
            </a:pPr>
            <a:r>
              <a:rPr lang="en-US" sz="3000" b="1" dirty="0">
                <a:solidFill>
                  <a:srgbClr val="3E6B8A"/>
                </a:solidFill>
                <a:latin typeface="Cambria" pitchFamily="34" charset="0"/>
                <a:ea typeface="Cambria" pitchFamily="34" charset="-122"/>
                <a:cs typeface="Cambria" pitchFamily="34" charset="-120"/>
              </a:rPr>
              <a:t>03</a:t>
            </a:r>
            <a:endParaRPr lang="en-US" sz="3000" dirty="0"/>
          </a:p>
        </p:txBody>
      </p:sp>
      <p:sp>
        <p:nvSpPr>
          <p:cNvPr id="15" name="Text 13"/>
          <p:cNvSpPr/>
          <p:nvPr/>
        </p:nvSpPr>
        <p:spPr>
          <a:xfrm>
            <a:off x="1645920" y="3575304"/>
            <a:ext cx="3886200" cy="384048"/>
          </a:xfrm>
          <a:prstGeom prst="rect">
            <a:avLst/>
          </a:prstGeom>
          <a:noFill/>
          <a:ln/>
        </p:spPr>
        <p:txBody>
          <a:bodyPr wrap="square" rtlCol="0" anchor="ctr"/>
          <a:lstStyle/>
          <a:p>
            <a:pPr marL="0" indent="0">
              <a:buNone/>
            </a:pPr>
            <a:r>
              <a:rPr lang="en-US" sz="1450" b="1" dirty="0">
                <a:solidFill>
                  <a:srgbClr val="1B2F4E"/>
                </a:solidFill>
                <a:latin typeface="Calibri" pitchFamily="34" charset="0"/>
                <a:ea typeface="Calibri" pitchFamily="34" charset="-122"/>
                <a:cs typeface="Calibri" pitchFamily="34" charset="-120"/>
              </a:rPr>
              <a:t>Two Agentic Use Cases</a:t>
            </a:r>
            <a:endParaRPr lang="en-US" sz="1450" dirty="0"/>
          </a:p>
        </p:txBody>
      </p:sp>
      <p:sp>
        <p:nvSpPr>
          <p:cNvPr id="16" name="Text 14"/>
          <p:cNvSpPr/>
          <p:nvPr/>
        </p:nvSpPr>
        <p:spPr>
          <a:xfrm>
            <a:off x="1645920" y="3959352"/>
            <a:ext cx="3886200" cy="566928"/>
          </a:xfrm>
          <a:prstGeom prst="rect">
            <a:avLst/>
          </a:prstGeom>
          <a:noFill/>
          <a:ln/>
        </p:spPr>
        <p:txBody>
          <a:bodyPr wrap="square" rtlCol="0" anchor="ctr"/>
          <a:lstStyle/>
          <a:p>
            <a:pPr marL="0" indent="0">
              <a:lnSpc>
                <a:spcPct val="115000"/>
              </a:lnSpc>
              <a:buNone/>
            </a:pPr>
            <a:r>
              <a:rPr lang="en-US" sz="1100" dirty="0">
                <a:solidFill>
                  <a:srgbClr val="5D6B7A"/>
                </a:solidFill>
                <a:latin typeface="Calibri" pitchFamily="34" charset="0"/>
                <a:ea typeface="Calibri" pitchFamily="34" charset="-122"/>
                <a:cs typeface="Calibri" pitchFamily="34" charset="-120"/>
              </a:rPr>
              <a:t>Plan synthesis and live Kanban reporting, with success metrics</a:t>
            </a:r>
            <a:endParaRPr lang="en-US" sz="1100" dirty="0"/>
          </a:p>
        </p:txBody>
      </p:sp>
      <p:sp>
        <p:nvSpPr>
          <p:cNvPr id="17" name="Shape 15"/>
          <p:cNvSpPr/>
          <p:nvPr/>
        </p:nvSpPr>
        <p:spPr>
          <a:xfrm>
            <a:off x="6035040" y="3429000"/>
            <a:ext cx="5074920" cy="1170432"/>
          </a:xfrm>
          <a:prstGeom prst="roundRect">
            <a:avLst>
              <a:gd name="adj" fmla="val 6250"/>
            </a:avLst>
          </a:prstGeom>
          <a:solidFill>
            <a:srgbClr val="F4F6F9"/>
          </a:solidFill>
          <a:ln w="12700">
            <a:solidFill>
              <a:srgbClr val="E1E6ED"/>
            </a:solidFill>
            <a:prstDash val="solid"/>
          </a:ln>
        </p:spPr>
      </p:sp>
      <p:sp>
        <p:nvSpPr>
          <p:cNvPr id="18" name="Text 16"/>
          <p:cNvSpPr/>
          <p:nvPr/>
        </p:nvSpPr>
        <p:spPr>
          <a:xfrm>
            <a:off x="6236208" y="3593592"/>
            <a:ext cx="822960" cy="822960"/>
          </a:xfrm>
          <a:prstGeom prst="rect">
            <a:avLst/>
          </a:prstGeom>
          <a:noFill/>
          <a:ln/>
        </p:spPr>
        <p:txBody>
          <a:bodyPr wrap="square" rtlCol="0" anchor="ctr"/>
          <a:lstStyle/>
          <a:p>
            <a:pPr marL="0" indent="0" algn="l">
              <a:buNone/>
            </a:pPr>
            <a:r>
              <a:rPr lang="en-US" sz="3000" b="1" dirty="0">
                <a:solidFill>
                  <a:srgbClr val="3E6B8A"/>
                </a:solidFill>
                <a:latin typeface="Cambria" pitchFamily="34" charset="0"/>
                <a:ea typeface="Cambria" pitchFamily="34" charset="-122"/>
                <a:cs typeface="Cambria" pitchFamily="34" charset="-120"/>
              </a:rPr>
              <a:t>04</a:t>
            </a:r>
            <a:endParaRPr lang="en-US" sz="3000" dirty="0"/>
          </a:p>
        </p:txBody>
      </p:sp>
      <p:sp>
        <p:nvSpPr>
          <p:cNvPr id="19" name="Text 17"/>
          <p:cNvSpPr/>
          <p:nvPr/>
        </p:nvSpPr>
        <p:spPr>
          <a:xfrm>
            <a:off x="7040880" y="3575304"/>
            <a:ext cx="3886200" cy="384048"/>
          </a:xfrm>
          <a:prstGeom prst="rect">
            <a:avLst/>
          </a:prstGeom>
          <a:noFill/>
          <a:ln/>
        </p:spPr>
        <p:txBody>
          <a:bodyPr wrap="square" rtlCol="0" anchor="ctr"/>
          <a:lstStyle/>
          <a:p>
            <a:pPr marL="0" indent="0">
              <a:buNone/>
            </a:pPr>
            <a:r>
              <a:rPr lang="en-US" sz="1450" b="1" dirty="0">
                <a:solidFill>
                  <a:srgbClr val="1B2F4E"/>
                </a:solidFill>
                <a:latin typeface="Calibri" pitchFamily="34" charset="0"/>
                <a:ea typeface="Calibri" pitchFamily="34" charset="-122"/>
                <a:cs typeface="Calibri" pitchFamily="34" charset="-120"/>
              </a:rPr>
              <a:t>System &amp; Workflow Design</a:t>
            </a:r>
            <a:endParaRPr lang="en-US" sz="1450" dirty="0"/>
          </a:p>
        </p:txBody>
      </p:sp>
      <p:sp>
        <p:nvSpPr>
          <p:cNvPr id="20" name="Text 18"/>
          <p:cNvSpPr/>
          <p:nvPr/>
        </p:nvSpPr>
        <p:spPr>
          <a:xfrm>
            <a:off x="7040880" y="3959352"/>
            <a:ext cx="3886200" cy="566928"/>
          </a:xfrm>
          <a:prstGeom prst="rect">
            <a:avLst/>
          </a:prstGeom>
          <a:noFill/>
          <a:ln/>
        </p:spPr>
        <p:txBody>
          <a:bodyPr wrap="square" rtlCol="0" anchor="ctr"/>
          <a:lstStyle/>
          <a:p>
            <a:pPr marL="0" indent="0">
              <a:lnSpc>
                <a:spcPct val="115000"/>
              </a:lnSpc>
              <a:buNone/>
            </a:pPr>
            <a:r>
              <a:rPr lang="en-US" sz="1100" dirty="0">
                <a:solidFill>
                  <a:srgbClr val="5D6B7A"/>
                </a:solidFill>
                <a:latin typeface="Calibri" pitchFamily="34" charset="0"/>
                <a:ea typeface="Calibri" pitchFamily="34" charset="-122"/>
                <a:cs typeface="Calibri" pitchFamily="34" charset="-120"/>
              </a:rPr>
              <a:t>The 4-layer architecture and the two n8n pipelines behind it</a:t>
            </a:r>
            <a:endParaRPr lang="en-US" sz="1100" dirty="0"/>
          </a:p>
        </p:txBody>
      </p:sp>
      <p:sp>
        <p:nvSpPr>
          <p:cNvPr id="21" name="Shape 19"/>
          <p:cNvSpPr/>
          <p:nvPr/>
        </p:nvSpPr>
        <p:spPr>
          <a:xfrm>
            <a:off x="640080" y="4892040"/>
            <a:ext cx="5074920" cy="1170432"/>
          </a:xfrm>
          <a:prstGeom prst="roundRect">
            <a:avLst>
              <a:gd name="adj" fmla="val 6250"/>
            </a:avLst>
          </a:prstGeom>
          <a:solidFill>
            <a:srgbClr val="F4F6F9"/>
          </a:solidFill>
          <a:ln w="12700">
            <a:solidFill>
              <a:srgbClr val="E1E6ED"/>
            </a:solidFill>
            <a:prstDash val="solid"/>
          </a:ln>
        </p:spPr>
      </p:sp>
      <p:sp>
        <p:nvSpPr>
          <p:cNvPr id="22" name="Text 20"/>
          <p:cNvSpPr/>
          <p:nvPr/>
        </p:nvSpPr>
        <p:spPr>
          <a:xfrm>
            <a:off x="841248" y="5056632"/>
            <a:ext cx="822960" cy="822960"/>
          </a:xfrm>
          <a:prstGeom prst="rect">
            <a:avLst/>
          </a:prstGeom>
          <a:noFill/>
          <a:ln/>
        </p:spPr>
        <p:txBody>
          <a:bodyPr wrap="square" rtlCol="0" anchor="ctr"/>
          <a:lstStyle/>
          <a:p>
            <a:pPr marL="0" indent="0" algn="l">
              <a:buNone/>
            </a:pPr>
            <a:r>
              <a:rPr lang="en-US" sz="3000" b="1" dirty="0">
                <a:solidFill>
                  <a:srgbClr val="3E6B8A"/>
                </a:solidFill>
                <a:latin typeface="Cambria" pitchFamily="34" charset="0"/>
                <a:ea typeface="Cambria" pitchFamily="34" charset="-122"/>
                <a:cs typeface="Cambria" pitchFamily="34" charset="-120"/>
              </a:rPr>
              <a:t>05</a:t>
            </a:r>
            <a:endParaRPr lang="en-US" sz="3000" dirty="0"/>
          </a:p>
        </p:txBody>
      </p:sp>
      <p:sp>
        <p:nvSpPr>
          <p:cNvPr id="23" name="Text 21"/>
          <p:cNvSpPr/>
          <p:nvPr/>
        </p:nvSpPr>
        <p:spPr>
          <a:xfrm>
            <a:off x="1645920" y="5038344"/>
            <a:ext cx="3886200" cy="384048"/>
          </a:xfrm>
          <a:prstGeom prst="rect">
            <a:avLst/>
          </a:prstGeom>
          <a:noFill/>
          <a:ln/>
        </p:spPr>
        <p:txBody>
          <a:bodyPr wrap="square" rtlCol="0" anchor="ctr"/>
          <a:lstStyle/>
          <a:p>
            <a:pPr marL="0" indent="0">
              <a:buNone/>
            </a:pPr>
            <a:r>
              <a:rPr lang="en-US" sz="1450" b="1" dirty="0">
                <a:solidFill>
                  <a:srgbClr val="1B2F4E"/>
                </a:solidFill>
                <a:latin typeface="Calibri" pitchFamily="34" charset="0"/>
                <a:ea typeface="Calibri" pitchFamily="34" charset="-122"/>
                <a:cs typeface="Calibri" pitchFamily="34" charset="-120"/>
              </a:rPr>
              <a:t>Engineering Under Fire</a:t>
            </a:r>
            <a:endParaRPr lang="en-US" sz="1450" dirty="0"/>
          </a:p>
        </p:txBody>
      </p:sp>
      <p:sp>
        <p:nvSpPr>
          <p:cNvPr id="24" name="Text 22"/>
          <p:cNvSpPr/>
          <p:nvPr/>
        </p:nvSpPr>
        <p:spPr>
          <a:xfrm>
            <a:off x="1645920" y="5422392"/>
            <a:ext cx="3886200" cy="566928"/>
          </a:xfrm>
          <a:prstGeom prst="rect">
            <a:avLst/>
          </a:prstGeom>
          <a:noFill/>
          <a:ln/>
        </p:spPr>
        <p:txBody>
          <a:bodyPr wrap="square" rtlCol="0" anchor="ctr"/>
          <a:lstStyle/>
          <a:p>
            <a:pPr marL="0" indent="0">
              <a:lnSpc>
                <a:spcPct val="115000"/>
              </a:lnSpc>
              <a:buNone/>
            </a:pPr>
            <a:r>
              <a:rPr lang="en-US" sz="1100" dirty="0">
                <a:solidFill>
                  <a:srgbClr val="5D6B7A"/>
                </a:solidFill>
                <a:latin typeface="Calibri" pitchFamily="34" charset="0"/>
                <a:ea typeface="Calibri" pitchFamily="34" charset="-122"/>
                <a:cs typeface="Calibri" pitchFamily="34" charset="-120"/>
              </a:rPr>
              <a:t>Three real production bugs Mira surfaced — and how they were fixed</a:t>
            </a:r>
            <a:endParaRPr lang="en-US" sz="1100" dirty="0"/>
          </a:p>
        </p:txBody>
      </p:sp>
      <p:sp>
        <p:nvSpPr>
          <p:cNvPr id="25" name="Shape 23"/>
          <p:cNvSpPr/>
          <p:nvPr/>
        </p:nvSpPr>
        <p:spPr>
          <a:xfrm>
            <a:off x="6035040" y="4892040"/>
            <a:ext cx="5074920" cy="1170432"/>
          </a:xfrm>
          <a:prstGeom prst="roundRect">
            <a:avLst>
              <a:gd name="adj" fmla="val 6250"/>
            </a:avLst>
          </a:prstGeom>
          <a:solidFill>
            <a:srgbClr val="F4F6F9"/>
          </a:solidFill>
          <a:ln w="12700">
            <a:solidFill>
              <a:srgbClr val="E1E6ED"/>
            </a:solidFill>
            <a:prstDash val="solid"/>
          </a:ln>
        </p:spPr>
      </p:sp>
      <p:sp>
        <p:nvSpPr>
          <p:cNvPr id="26" name="Text 24"/>
          <p:cNvSpPr/>
          <p:nvPr/>
        </p:nvSpPr>
        <p:spPr>
          <a:xfrm>
            <a:off x="6236208" y="5056632"/>
            <a:ext cx="822960" cy="822960"/>
          </a:xfrm>
          <a:prstGeom prst="rect">
            <a:avLst/>
          </a:prstGeom>
          <a:noFill/>
          <a:ln/>
        </p:spPr>
        <p:txBody>
          <a:bodyPr wrap="square" rtlCol="0" anchor="ctr"/>
          <a:lstStyle/>
          <a:p>
            <a:pPr marL="0" indent="0" algn="l">
              <a:buNone/>
            </a:pPr>
            <a:r>
              <a:rPr lang="en-US" sz="3000" b="1" dirty="0">
                <a:solidFill>
                  <a:srgbClr val="3E6B8A"/>
                </a:solidFill>
                <a:latin typeface="Cambria" pitchFamily="34" charset="0"/>
                <a:ea typeface="Cambria" pitchFamily="34" charset="-122"/>
                <a:cs typeface="Cambria" pitchFamily="34" charset="-120"/>
              </a:rPr>
              <a:t>06</a:t>
            </a:r>
            <a:endParaRPr lang="en-US" sz="3000" dirty="0"/>
          </a:p>
        </p:txBody>
      </p:sp>
      <p:sp>
        <p:nvSpPr>
          <p:cNvPr id="27" name="Text 25"/>
          <p:cNvSpPr/>
          <p:nvPr/>
        </p:nvSpPr>
        <p:spPr>
          <a:xfrm>
            <a:off x="7040880" y="5038344"/>
            <a:ext cx="3886200" cy="384048"/>
          </a:xfrm>
          <a:prstGeom prst="rect">
            <a:avLst/>
          </a:prstGeom>
          <a:noFill/>
          <a:ln/>
        </p:spPr>
        <p:txBody>
          <a:bodyPr wrap="square" rtlCol="0" anchor="ctr"/>
          <a:lstStyle/>
          <a:p>
            <a:pPr marL="0" indent="0">
              <a:buNone/>
            </a:pPr>
            <a:r>
              <a:rPr lang="en-US" sz="1450" b="1" dirty="0">
                <a:solidFill>
                  <a:srgbClr val="1B2F4E"/>
                </a:solidFill>
                <a:latin typeface="Calibri" pitchFamily="34" charset="0"/>
                <a:ea typeface="Calibri" pitchFamily="34" charset="-122"/>
                <a:cs typeface="Calibri" pitchFamily="34" charset="-120"/>
              </a:rPr>
              <a:t>Evidence &amp; Impact</a:t>
            </a:r>
            <a:endParaRPr lang="en-US" sz="1450" dirty="0"/>
          </a:p>
        </p:txBody>
      </p:sp>
      <p:sp>
        <p:nvSpPr>
          <p:cNvPr id="28" name="Text 26"/>
          <p:cNvSpPr/>
          <p:nvPr/>
        </p:nvSpPr>
        <p:spPr>
          <a:xfrm>
            <a:off x="7040880" y="5422392"/>
            <a:ext cx="3886200" cy="566928"/>
          </a:xfrm>
          <a:prstGeom prst="rect">
            <a:avLst/>
          </a:prstGeom>
          <a:noFill/>
          <a:ln/>
        </p:spPr>
        <p:txBody>
          <a:bodyPr wrap="square" rtlCol="0" anchor="ctr"/>
          <a:lstStyle/>
          <a:p>
            <a:pPr marL="0" indent="0">
              <a:lnSpc>
                <a:spcPct val="115000"/>
              </a:lnSpc>
              <a:buNone/>
            </a:pPr>
            <a:r>
              <a:rPr lang="en-US" sz="1100" dirty="0">
                <a:solidFill>
                  <a:srgbClr val="5D6B7A"/>
                </a:solidFill>
                <a:latin typeface="Calibri" pitchFamily="34" charset="0"/>
                <a:ea typeface="Calibri" pitchFamily="34" charset="-122"/>
                <a:cs typeface="Calibri" pitchFamily="34" charset="-120"/>
              </a:rPr>
              <a:t>Generated artifacts, ROI, and what's next</a:t>
            </a:r>
            <a:endParaRPr lang="en-US" sz="1100" dirty="0"/>
          </a:p>
        </p:txBody>
      </p:sp>
      <p:sp>
        <p:nvSpPr>
          <p:cNvPr id="29" name="Text 27"/>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MIRA — Multi-Agent PMO Orchestrator</a:t>
            </a:r>
            <a:endParaRPr lang="en-US" sz="900" dirty="0"/>
          </a:p>
        </p:txBody>
      </p:sp>
      <p:sp>
        <p:nvSpPr>
          <p:cNvPr id="30" name="Text 28"/>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D6B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rtlCol="0" anchor="ctr"/>
          <a:lstStyle/>
          <a:p>
            <a:pPr marL="0" indent="0" algn="l">
              <a:buNone/>
            </a:pPr>
            <a:r>
              <a:rPr lang="en-US" sz="1250" b="1" kern="0" spc="200" dirty="0">
                <a:solidFill>
                  <a:srgbClr val="3E6B8A"/>
                </a:solidFill>
                <a:latin typeface="Calibri" pitchFamily="34" charset="0"/>
                <a:ea typeface="Calibri" pitchFamily="34" charset="-122"/>
                <a:cs typeface="Calibri" pitchFamily="34" charset="-120"/>
              </a:rPr>
              <a:t>ORGANIZATIONAL LANDSCAPE</a:t>
            </a:r>
            <a:endParaRPr lang="en-US" sz="1250" dirty="0"/>
          </a:p>
        </p:txBody>
      </p:sp>
      <p:sp>
        <p:nvSpPr>
          <p:cNvPr id="3" name="Text 1"/>
          <p:cNvSpPr/>
          <p:nvPr/>
        </p:nvSpPr>
        <p:spPr>
          <a:xfrm>
            <a:off x="640080" y="658368"/>
            <a:ext cx="10607040" cy="658368"/>
          </a:xfrm>
          <a:prstGeom prst="rect">
            <a:avLst/>
          </a:prstGeom>
          <a:noFill/>
          <a:ln/>
        </p:spPr>
        <p:txBody>
          <a:bodyPr wrap="square" rtlCol="0" anchor="ctr"/>
          <a:lstStyle/>
          <a:p>
            <a:pPr marL="0" indent="0" algn="l">
              <a:buNone/>
            </a:pPr>
            <a:r>
              <a:rPr lang="en-US" sz="3200" b="1" dirty="0">
                <a:solidFill>
                  <a:srgbClr val="1B2F4E"/>
                </a:solidFill>
                <a:latin typeface="Cambria" pitchFamily="34" charset="0"/>
                <a:ea typeface="Cambria" pitchFamily="34" charset="-122"/>
                <a:cs typeface="Cambria" pitchFamily="34" charset="-120"/>
              </a:rPr>
              <a:t>Nexora Pvt. Ltd. &amp; the AI TPM Mandate</a:t>
            </a:r>
            <a:endParaRPr lang="en-US" sz="3200" dirty="0"/>
          </a:p>
        </p:txBody>
      </p:sp>
      <p:sp>
        <p:nvSpPr>
          <p:cNvPr id="4" name="Shape 2"/>
          <p:cNvSpPr/>
          <p:nvPr/>
        </p:nvSpPr>
        <p:spPr>
          <a:xfrm>
            <a:off x="640080" y="1417320"/>
            <a:ext cx="5212080" cy="4846320"/>
          </a:xfrm>
          <a:prstGeom prst="roundRect">
            <a:avLst>
              <a:gd name="adj" fmla="val 1509"/>
            </a:avLst>
          </a:prstGeom>
          <a:solidFill>
            <a:srgbClr val="1B2F4E"/>
          </a:solidFill>
          <a:ln/>
        </p:spPr>
      </p:sp>
      <p:sp>
        <p:nvSpPr>
          <p:cNvPr id="5" name="Text 3"/>
          <p:cNvSpPr/>
          <p:nvPr/>
        </p:nvSpPr>
        <p:spPr>
          <a:xfrm>
            <a:off x="960120" y="1691640"/>
            <a:ext cx="4572000" cy="320040"/>
          </a:xfrm>
          <a:prstGeom prst="rect">
            <a:avLst/>
          </a:prstGeom>
          <a:noFill/>
          <a:ln/>
        </p:spPr>
        <p:txBody>
          <a:bodyPr wrap="square" rtlCol="0" anchor="ctr"/>
          <a:lstStyle/>
          <a:p>
            <a:pPr marL="0" indent="0">
              <a:buNone/>
            </a:pPr>
            <a:r>
              <a:rPr lang="en-US" sz="1200" b="1" kern="0" spc="150" dirty="0">
                <a:solidFill>
                  <a:srgbClr val="D98E2B"/>
                </a:solidFill>
                <a:latin typeface="Calibri" pitchFamily="34" charset="0"/>
                <a:ea typeface="Calibri" pitchFamily="34" charset="-122"/>
                <a:cs typeface="Calibri" pitchFamily="34" charset="-120"/>
              </a:rPr>
              <a:t>COMPANY PROFILE</a:t>
            </a:r>
            <a:endParaRPr lang="en-US" sz="1200" dirty="0"/>
          </a:p>
        </p:txBody>
      </p:sp>
      <p:sp>
        <p:nvSpPr>
          <p:cNvPr id="6" name="Text 4"/>
          <p:cNvSpPr/>
          <p:nvPr/>
        </p:nvSpPr>
        <p:spPr>
          <a:xfrm>
            <a:off x="960120" y="2194560"/>
            <a:ext cx="4572000" cy="256032"/>
          </a:xfrm>
          <a:prstGeom prst="rect">
            <a:avLst/>
          </a:prstGeom>
          <a:noFill/>
          <a:ln/>
        </p:spPr>
        <p:txBody>
          <a:bodyPr wrap="square" rtlCol="0" anchor="ctr"/>
          <a:lstStyle/>
          <a:p>
            <a:pPr marL="0" indent="0">
              <a:buNone/>
            </a:pPr>
            <a:r>
              <a:rPr lang="en-US" sz="1150" b="1" dirty="0">
                <a:solidFill>
                  <a:srgbClr val="CBD9EE"/>
                </a:solidFill>
                <a:latin typeface="Calibri" pitchFamily="34" charset="0"/>
                <a:ea typeface="Calibri" pitchFamily="34" charset="-122"/>
                <a:cs typeface="Calibri" pitchFamily="34" charset="-120"/>
              </a:rPr>
              <a:t>Headquarters</a:t>
            </a:r>
            <a:endParaRPr lang="en-US" sz="1150" dirty="0"/>
          </a:p>
        </p:txBody>
      </p:sp>
      <p:sp>
        <p:nvSpPr>
          <p:cNvPr id="7" name="Text 5"/>
          <p:cNvSpPr/>
          <p:nvPr/>
        </p:nvSpPr>
        <p:spPr>
          <a:xfrm>
            <a:off x="960120" y="2432304"/>
            <a:ext cx="4572000" cy="457200"/>
          </a:xfrm>
          <a:prstGeom prst="rect">
            <a:avLst/>
          </a:prstGeom>
          <a:noFill/>
          <a:ln/>
        </p:spPr>
        <p:txBody>
          <a:bodyPr wrap="square" rtlCol="0" anchor="ctr"/>
          <a:lstStyle/>
          <a:p>
            <a:pPr marL="0" indent="0">
              <a:lnSpc>
                <a:spcPct val="112000"/>
              </a:lnSpc>
              <a:buNone/>
            </a:pPr>
            <a:r>
              <a:rPr lang="en-US" sz="1250" dirty="0">
                <a:solidFill>
                  <a:srgbClr val="FFFFFF"/>
                </a:solidFill>
                <a:latin typeface="Calibri" pitchFamily="34" charset="0"/>
                <a:ea typeface="Calibri" pitchFamily="34" charset="-122"/>
                <a:cs typeface="Calibri" pitchFamily="34" charset="-120"/>
              </a:rPr>
              <a:t>London, United Kingdom · Est. 2018</a:t>
            </a:r>
            <a:endParaRPr lang="en-US" sz="1250" dirty="0"/>
          </a:p>
        </p:txBody>
      </p:sp>
      <p:sp>
        <p:nvSpPr>
          <p:cNvPr id="8" name="Text 6"/>
          <p:cNvSpPr/>
          <p:nvPr/>
        </p:nvSpPr>
        <p:spPr>
          <a:xfrm>
            <a:off x="960120" y="2953512"/>
            <a:ext cx="4572000" cy="256032"/>
          </a:xfrm>
          <a:prstGeom prst="rect">
            <a:avLst/>
          </a:prstGeom>
          <a:noFill/>
          <a:ln/>
        </p:spPr>
        <p:txBody>
          <a:bodyPr wrap="square" rtlCol="0" anchor="ctr"/>
          <a:lstStyle/>
          <a:p>
            <a:pPr marL="0" indent="0">
              <a:buNone/>
            </a:pPr>
            <a:r>
              <a:rPr lang="en-US" sz="1150" b="1" dirty="0">
                <a:solidFill>
                  <a:srgbClr val="CBD9EE"/>
                </a:solidFill>
                <a:latin typeface="Calibri" pitchFamily="34" charset="0"/>
                <a:ea typeface="Calibri" pitchFamily="34" charset="-122"/>
                <a:cs typeface="Calibri" pitchFamily="34" charset="-120"/>
              </a:rPr>
              <a:t>Scale</a:t>
            </a:r>
            <a:endParaRPr lang="en-US" sz="1150" dirty="0"/>
          </a:p>
        </p:txBody>
      </p:sp>
      <p:sp>
        <p:nvSpPr>
          <p:cNvPr id="9" name="Text 7"/>
          <p:cNvSpPr/>
          <p:nvPr/>
        </p:nvSpPr>
        <p:spPr>
          <a:xfrm>
            <a:off x="960120" y="3191256"/>
            <a:ext cx="4572000" cy="457200"/>
          </a:xfrm>
          <a:prstGeom prst="rect">
            <a:avLst/>
          </a:prstGeom>
          <a:noFill/>
          <a:ln/>
        </p:spPr>
        <p:txBody>
          <a:bodyPr wrap="square" rtlCol="0" anchor="ctr"/>
          <a:lstStyle/>
          <a:p>
            <a:pPr marL="0" indent="0">
              <a:lnSpc>
                <a:spcPct val="112000"/>
              </a:lnSpc>
              <a:buNone/>
            </a:pPr>
            <a:r>
              <a:rPr lang="en-US" sz="1250" dirty="0">
                <a:solidFill>
                  <a:srgbClr val="FFFFFF"/>
                </a:solidFill>
                <a:latin typeface="Calibri" pitchFamily="34" charset="0"/>
                <a:ea typeface="Calibri" pitchFamily="34" charset="-122"/>
                <a:cs typeface="Calibri" pitchFamily="34" charset="-120"/>
              </a:rPr>
              <a:t>250+ engineers, data scientists &amp; technologists</a:t>
            </a:r>
            <a:endParaRPr lang="en-US" sz="1250" dirty="0"/>
          </a:p>
        </p:txBody>
      </p:sp>
      <p:sp>
        <p:nvSpPr>
          <p:cNvPr id="10" name="Text 8"/>
          <p:cNvSpPr/>
          <p:nvPr/>
        </p:nvSpPr>
        <p:spPr>
          <a:xfrm>
            <a:off x="960120" y="3712464"/>
            <a:ext cx="4572000" cy="256032"/>
          </a:xfrm>
          <a:prstGeom prst="rect">
            <a:avLst/>
          </a:prstGeom>
          <a:noFill/>
          <a:ln/>
        </p:spPr>
        <p:txBody>
          <a:bodyPr wrap="square" rtlCol="0" anchor="ctr"/>
          <a:lstStyle/>
          <a:p>
            <a:pPr marL="0" indent="0">
              <a:buNone/>
            </a:pPr>
            <a:r>
              <a:rPr lang="en-US" sz="1150" b="1" dirty="0">
                <a:solidFill>
                  <a:srgbClr val="CBD9EE"/>
                </a:solidFill>
                <a:latin typeface="Calibri" pitchFamily="34" charset="0"/>
                <a:ea typeface="Calibri" pitchFamily="34" charset="-122"/>
                <a:cs typeface="Calibri" pitchFamily="34" charset="-120"/>
              </a:rPr>
              <a:t>Core offerings</a:t>
            </a:r>
            <a:endParaRPr lang="en-US" sz="1150" dirty="0"/>
          </a:p>
        </p:txBody>
      </p:sp>
      <p:sp>
        <p:nvSpPr>
          <p:cNvPr id="11" name="Text 9"/>
          <p:cNvSpPr/>
          <p:nvPr/>
        </p:nvSpPr>
        <p:spPr>
          <a:xfrm>
            <a:off x="960120" y="3950208"/>
            <a:ext cx="4572000" cy="457200"/>
          </a:xfrm>
          <a:prstGeom prst="rect">
            <a:avLst/>
          </a:prstGeom>
          <a:noFill/>
          <a:ln/>
        </p:spPr>
        <p:txBody>
          <a:bodyPr wrap="square" rtlCol="0" anchor="ctr"/>
          <a:lstStyle/>
          <a:p>
            <a:pPr marL="0" indent="0">
              <a:lnSpc>
                <a:spcPct val="112000"/>
              </a:lnSpc>
              <a:buNone/>
            </a:pPr>
            <a:r>
              <a:rPr lang="en-US" sz="1250" dirty="0">
                <a:solidFill>
                  <a:srgbClr val="FFFFFF"/>
                </a:solidFill>
                <a:latin typeface="Calibri" pitchFamily="34" charset="0"/>
                <a:ea typeface="Calibri" pitchFamily="34" charset="-122"/>
                <a:cs typeface="Calibri" pitchFamily="34" charset="-120"/>
              </a:rPr>
              <a:t>Custom software, cloud infrastructure, AI analytics, cybersecurity</a:t>
            </a:r>
            <a:endParaRPr lang="en-US" sz="1250" dirty="0"/>
          </a:p>
        </p:txBody>
      </p:sp>
      <p:sp>
        <p:nvSpPr>
          <p:cNvPr id="12" name="Text 10"/>
          <p:cNvSpPr/>
          <p:nvPr/>
        </p:nvSpPr>
        <p:spPr>
          <a:xfrm>
            <a:off x="960120" y="4471416"/>
            <a:ext cx="4572000" cy="256032"/>
          </a:xfrm>
          <a:prstGeom prst="rect">
            <a:avLst/>
          </a:prstGeom>
          <a:noFill/>
          <a:ln/>
        </p:spPr>
        <p:txBody>
          <a:bodyPr wrap="square" rtlCol="0" anchor="ctr"/>
          <a:lstStyle/>
          <a:p>
            <a:pPr marL="0" indent="0">
              <a:buNone/>
            </a:pPr>
            <a:r>
              <a:rPr lang="en-US" sz="1150" b="1" dirty="0">
                <a:solidFill>
                  <a:srgbClr val="CBD9EE"/>
                </a:solidFill>
                <a:latin typeface="Calibri" pitchFamily="34" charset="0"/>
                <a:ea typeface="Calibri" pitchFamily="34" charset="-122"/>
                <a:cs typeface="Calibri" pitchFamily="34" charset="-120"/>
              </a:rPr>
              <a:t>Clientele</a:t>
            </a:r>
            <a:endParaRPr lang="en-US" sz="1150" dirty="0"/>
          </a:p>
        </p:txBody>
      </p:sp>
      <p:sp>
        <p:nvSpPr>
          <p:cNvPr id="13" name="Text 11"/>
          <p:cNvSpPr/>
          <p:nvPr/>
        </p:nvSpPr>
        <p:spPr>
          <a:xfrm>
            <a:off x="960120" y="4709160"/>
            <a:ext cx="4572000" cy="457200"/>
          </a:xfrm>
          <a:prstGeom prst="rect">
            <a:avLst/>
          </a:prstGeom>
          <a:noFill/>
          <a:ln/>
        </p:spPr>
        <p:txBody>
          <a:bodyPr wrap="square" rtlCol="0" anchor="ctr"/>
          <a:lstStyle/>
          <a:p>
            <a:pPr marL="0" indent="0">
              <a:lnSpc>
                <a:spcPct val="112000"/>
              </a:lnSpc>
              <a:buNone/>
            </a:pPr>
            <a:r>
              <a:rPr lang="en-US" sz="1250" dirty="0">
                <a:solidFill>
                  <a:srgbClr val="FFFFFF"/>
                </a:solidFill>
                <a:latin typeface="Calibri" pitchFamily="34" charset="0"/>
                <a:ea typeface="Calibri" pitchFamily="34" charset="-122"/>
                <a:cs typeface="Calibri" pitchFamily="34" charset="-120"/>
              </a:rPr>
              <a:t>Fast-growing startups through global enterprises</a:t>
            </a:r>
            <a:endParaRPr lang="en-US" sz="1250" dirty="0"/>
          </a:p>
        </p:txBody>
      </p:sp>
      <p:sp>
        <p:nvSpPr>
          <p:cNvPr id="14" name="Text 12"/>
          <p:cNvSpPr/>
          <p:nvPr/>
        </p:nvSpPr>
        <p:spPr>
          <a:xfrm>
            <a:off x="960120" y="5230368"/>
            <a:ext cx="4572000" cy="256032"/>
          </a:xfrm>
          <a:prstGeom prst="rect">
            <a:avLst/>
          </a:prstGeom>
          <a:noFill/>
          <a:ln/>
        </p:spPr>
        <p:txBody>
          <a:bodyPr wrap="square" rtlCol="0" anchor="ctr"/>
          <a:lstStyle/>
          <a:p>
            <a:pPr marL="0" indent="0">
              <a:buNone/>
            </a:pPr>
            <a:r>
              <a:rPr lang="en-US" sz="1150" b="1" dirty="0">
                <a:solidFill>
                  <a:srgbClr val="CBD9EE"/>
                </a:solidFill>
                <a:latin typeface="Calibri" pitchFamily="34" charset="0"/>
                <a:ea typeface="Calibri" pitchFamily="34" charset="-122"/>
                <a:cs typeface="Calibri" pitchFamily="34" charset="-120"/>
              </a:rPr>
              <a:t>Strategic focus</a:t>
            </a:r>
            <a:endParaRPr lang="en-US" sz="1150" dirty="0"/>
          </a:p>
        </p:txBody>
      </p:sp>
      <p:sp>
        <p:nvSpPr>
          <p:cNvPr id="15" name="Text 13"/>
          <p:cNvSpPr/>
          <p:nvPr/>
        </p:nvSpPr>
        <p:spPr>
          <a:xfrm>
            <a:off x="960120" y="5468112"/>
            <a:ext cx="4572000" cy="457200"/>
          </a:xfrm>
          <a:prstGeom prst="rect">
            <a:avLst/>
          </a:prstGeom>
          <a:noFill/>
          <a:ln/>
        </p:spPr>
        <p:txBody>
          <a:bodyPr wrap="square" rtlCol="0" anchor="ctr"/>
          <a:lstStyle/>
          <a:p>
            <a:pPr marL="0" indent="0">
              <a:lnSpc>
                <a:spcPct val="112000"/>
              </a:lnSpc>
              <a:buNone/>
            </a:pPr>
            <a:r>
              <a:rPr lang="en-US" sz="1250" dirty="0">
                <a:solidFill>
                  <a:srgbClr val="FFFFFF"/>
                </a:solidFill>
                <a:latin typeface="Calibri" pitchFamily="34" charset="0"/>
                <a:ea typeface="Calibri" pitchFamily="34" charset="-122"/>
                <a:cs typeface="Calibri" pitchFamily="34" charset="-120"/>
              </a:rPr>
              <a:t>Enterprise digital transformation via autonomous automation</a:t>
            </a:r>
            <a:endParaRPr lang="en-US" sz="1250" dirty="0"/>
          </a:p>
        </p:txBody>
      </p:sp>
      <p:sp>
        <p:nvSpPr>
          <p:cNvPr id="16" name="Text 14"/>
          <p:cNvSpPr/>
          <p:nvPr/>
        </p:nvSpPr>
        <p:spPr>
          <a:xfrm>
            <a:off x="6080760" y="1417320"/>
            <a:ext cx="5440680" cy="320040"/>
          </a:xfrm>
          <a:prstGeom prst="rect">
            <a:avLst/>
          </a:prstGeom>
          <a:noFill/>
          <a:ln/>
        </p:spPr>
        <p:txBody>
          <a:bodyPr wrap="square" rtlCol="0" anchor="ctr"/>
          <a:lstStyle/>
          <a:p>
            <a:pPr marL="0" indent="0">
              <a:buNone/>
            </a:pPr>
            <a:r>
              <a:rPr lang="en-US" sz="1200" b="1" kern="0" spc="100" dirty="0">
                <a:solidFill>
                  <a:srgbClr val="3E6B8A"/>
                </a:solidFill>
                <a:latin typeface="Calibri" pitchFamily="34" charset="0"/>
                <a:ea typeface="Calibri" pitchFamily="34" charset="-122"/>
                <a:cs typeface="Calibri" pitchFamily="34" charset="-120"/>
              </a:rPr>
              <a:t>MY ROLE — AI TECHNICAL PROGRAM MANAGER</a:t>
            </a:r>
            <a:endParaRPr lang="en-US" sz="1200" dirty="0"/>
          </a:p>
        </p:txBody>
      </p:sp>
      <p:sp>
        <p:nvSpPr>
          <p:cNvPr id="17" name="Shape 15"/>
          <p:cNvSpPr/>
          <p:nvPr/>
        </p:nvSpPr>
        <p:spPr>
          <a:xfrm>
            <a:off x="6080760" y="1920240"/>
            <a:ext cx="420624" cy="420624"/>
          </a:xfrm>
          <a:prstGeom prst="ellipse">
            <a:avLst/>
          </a:prstGeom>
          <a:solidFill>
            <a:srgbClr val="F4F6F9"/>
          </a:solidFill>
          <a:ln w="12700">
            <a:solidFill>
              <a:srgbClr val="F4F6F9"/>
            </a:solidFill>
            <a:prstDash val="solid"/>
          </a:ln>
        </p:spPr>
      </p:sp>
      <p:sp>
        <p:nvSpPr>
          <p:cNvPr id="18" name="Text 16"/>
          <p:cNvSpPr/>
          <p:nvPr/>
        </p:nvSpPr>
        <p:spPr>
          <a:xfrm>
            <a:off x="6080760" y="1920240"/>
            <a:ext cx="420624" cy="420624"/>
          </a:xfrm>
          <a:prstGeom prst="rect">
            <a:avLst/>
          </a:prstGeom>
          <a:noFill/>
          <a:ln/>
        </p:spPr>
        <p:txBody>
          <a:bodyPr wrap="square" rtlCol="0" anchor="ctr"/>
          <a:lstStyle/>
          <a:p>
            <a:pPr marL="0" indent="0" algn="ctr">
              <a:buNone/>
            </a:pPr>
            <a:r>
              <a:rPr lang="en-US" sz="1500" b="1" dirty="0">
                <a:solidFill>
                  <a:srgbClr val="1B2F4E"/>
                </a:solidFill>
                <a:latin typeface="Cambria" pitchFamily="34" charset="0"/>
                <a:ea typeface="Cambria" pitchFamily="34" charset="-122"/>
                <a:cs typeface="Cambria" pitchFamily="34" charset="-120"/>
              </a:rPr>
              <a:t>1</a:t>
            </a:r>
            <a:endParaRPr lang="en-US" sz="1500" dirty="0"/>
          </a:p>
        </p:txBody>
      </p:sp>
      <p:sp>
        <p:nvSpPr>
          <p:cNvPr id="19" name="Text 17"/>
          <p:cNvSpPr/>
          <p:nvPr/>
        </p:nvSpPr>
        <p:spPr>
          <a:xfrm>
            <a:off x="6675120" y="1892808"/>
            <a:ext cx="4846320" cy="292608"/>
          </a:xfrm>
          <a:prstGeom prst="rect">
            <a:avLst/>
          </a:prstGeom>
          <a:noFill/>
          <a:ln/>
        </p:spPr>
        <p:txBody>
          <a:bodyPr wrap="square" rtlCol="0" anchor="ctr"/>
          <a:lstStyle/>
          <a:p>
            <a:pPr marL="0" indent="0">
              <a:buNone/>
            </a:pPr>
            <a:r>
              <a:rPr lang="en-US" sz="1350" b="1" dirty="0">
                <a:solidFill>
                  <a:srgbClr val="1B2F4E"/>
                </a:solidFill>
                <a:latin typeface="Calibri" pitchFamily="34" charset="0"/>
                <a:ea typeface="Calibri" pitchFamily="34" charset="-122"/>
                <a:cs typeface="Calibri" pitchFamily="34" charset="-120"/>
              </a:rPr>
              <a:t>Cross-functional delivery</a:t>
            </a:r>
            <a:endParaRPr lang="en-US" sz="1350" dirty="0"/>
          </a:p>
        </p:txBody>
      </p:sp>
      <p:sp>
        <p:nvSpPr>
          <p:cNvPr id="20" name="Text 18"/>
          <p:cNvSpPr/>
          <p:nvPr/>
        </p:nvSpPr>
        <p:spPr>
          <a:xfrm>
            <a:off x="6675120" y="2176272"/>
            <a:ext cx="4846320" cy="566928"/>
          </a:xfrm>
          <a:prstGeom prst="rect">
            <a:avLst/>
          </a:prstGeom>
          <a:noFill/>
          <a:ln/>
        </p:spPr>
        <p:txBody>
          <a:bodyPr wrap="square" rtlCol="0" anchor="ctr"/>
          <a:lstStyle/>
          <a:p>
            <a:pPr marL="0" indent="0">
              <a:lnSpc>
                <a:spcPct val="118000"/>
              </a:lnSpc>
              <a:buNone/>
            </a:pPr>
            <a:r>
              <a:rPr lang="en-US" sz="1150" dirty="0">
                <a:solidFill>
                  <a:srgbClr val="5D6B7A"/>
                </a:solidFill>
                <a:latin typeface="Calibri" pitchFamily="34" charset="0"/>
                <a:ea typeface="Calibri" pitchFamily="34" charset="-122"/>
                <a:cs typeface="Calibri" pitchFamily="34" charset="-120"/>
              </a:rPr>
              <a:t>Aligning data science, ML engineering, product and dev stakeholders on one delivery cadence.</a:t>
            </a:r>
            <a:endParaRPr lang="en-US" sz="1150" dirty="0"/>
          </a:p>
        </p:txBody>
      </p:sp>
      <p:sp>
        <p:nvSpPr>
          <p:cNvPr id="21" name="Shape 19"/>
          <p:cNvSpPr/>
          <p:nvPr/>
        </p:nvSpPr>
        <p:spPr>
          <a:xfrm>
            <a:off x="6080760" y="2953512"/>
            <a:ext cx="420624" cy="420624"/>
          </a:xfrm>
          <a:prstGeom prst="ellipse">
            <a:avLst/>
          </a:prstGeom>
          <a:solidFill>
            <a:srgbClr val="F4F6F9"/>
          </a:solidFill>
          <a:ln w="12700">
            <a:solidFill>
              <a:srgbClr val="F4F6F9"/>
            </a:solidFill>
            <a:prstDash val="solid"/>
          </a:ln>
        </p:spPr>
      </p:sp>
      <p:sp>
        <p:nvSpPr>
          <p:cNvPr id="22" name="Text 20"/>
          <p:cNvSpPr/>
          <p:nvPr/>
        </p:nvSpPr>
        <p:spPr>
          <a:xfrm>
            <a:off x="6080760" y="2953512"/>
            <a:ext cx="420624" cy="420624"/>
          </a:xfrm>
          <a:prstGeom prst="rect">
            <a:avLst/>
          </a:prstGeom>
          <a:noFill/>
          <a:ln/>
        </p:spPr>
        <p:txBody>
          <a:bodyPr wrap="square" rtlCol="0" anchor="ctr"/>
          <a:lstStyle/>
          <a:p>
            <a:pPr marL="0" indent="0" algn="ctr">
              <a:buNone/>
            </a:pPr>
            <a:r>
              <a:rPr lang="en-US" sz="1500" b="1" dirty="0">
                <a:solidFill>
                  <a:srgbClr val="1B2F4E"/>
                </a:solidFill>
                <a:latin typeface="Cambria" pitchFamily="34" charset="0"/>
                <a:ea typeface="Cambria" pitchFamily="34" charset="-122"/>
                <a:cs typeface="Cambria" pitchFamily="34" charset="-120"/>
              </a:rPr>
              <a:t>2</a:t>
            </a:r>
            <a:endParaRPr lang="en-US" sz="1500" dirty="0"/>
          </a:p>
        </p:txBody>
      </p:sp>
      <p:sp>
        <p:nvSpPr>
          <p:cNvPr id="23" name="Text 21"/>
          <p:cNvSpPr/>
          <p:nvPr/>
        </p:nvSpPr>
        <p:spPr>
          <a:xfrm>
            <a:off x="6675120" y="2926080"/>
            <a:ext cx="4846320" cy="292608"/>
          </a:xfrm>
          <a:prstGeom prst="rect">
            <a:avLst/>
          </a:prstGeom>
          <a:noFill/>
          <a:ln/>
        </p:spPr>
        <p:txBody>
          <a:bodyPr wrap="square" rtlCol="0" anchor="ctr"/>
          <a:lstStyle/>
          <a:p>
            <a:pPr marL="0" indent="0">
              <a:buNone/>
            </a:pPr>
            <a:r>
              <a:rPr lang="en-US" sz="1350" b="1" dirty="0">
                <a:solidFill>
                  <a:srgbClr val="1B2F4E"/>
                </a:solidFill>
                <a:latin typeface="Calibri" pitchFamily="34" charset="0"/>
                <a:ea typeface="Calibri" pitchFamily="34" charset="-122"/>
                <a:cs typeface="Calibri" pitchFamily="34" charset="-120"/>
              </a:rPr>
              <a:t>Milestone ownership</a:t>
            </a:r>
            <a:endParaRPr lang="en-US" sz="1350" dirty="0"/>
          </a:p>
        </p:txBody>
      </p:sp>
      <p:sp>
        <p:nvSpPr>
          <p:cNvPr id="24" name="Text 22"/>
          <p:cNvSpPr/>
          <p:nvPr/>
        </p:nvSpPr>
        <p:spPr>
          <a:xfrm>
            <a:off x="6675120" y="3209544"/>
            <a:ext cx="4846320" cy="566928"/>
          </a:xfrm>
          <a:prstGeom prst="rect">
            <a:avLst/>
          </a:prstGeom>
          <a:noFill/>
          <a:ln/>
        </p:spPr>
        <p:txBody>
          <a:bodyPr wrap="square" rtlCol="0" anchor="ctr"/>
          <a:lstStyle/>
          <a:p>
            <a:pPr marL="0" indent="0">
              <a:lnSpc>
                <a:spcPct val="118000"/>
              </a:lnSpc>
              <a:buNone/>
            </a:pPr>
            <a:r>
              <a:rPr lang="en-US" sz="1150" dirty="0">
                <a:solidFill>
                  <a:srgbClr val="5D6B7A"/>
                </a:solidFill>
                <a:latin typeface="Calibri" pitchFamily="34" charset="0"/>
                <a:ea typeface="Calibri" pitchFamily="34" charset="-122"/>
                <a:cs typeface="Calibri" pitchFamily="34" charset="-120"/>
              </a:rPr>
              <a:t>Translating high-level business goals into explicit sprint plans and deliverables.</a:t>
            </a:r>
            <a:endParaRPr lang="en-US" sz="1150" dirty="0"/>
          </a:p>
        </p:txBody>
      </p:sp>
      <p:sp>
        <p:nvSpPr>
          <p:cNvPr id="25" name="Shape 23"/>
          <p:cNvSpPr/>
          <p:nvPr/>
        </p:nvSpPr>
        <p:spPr>
          <a:xfrm>
            <a:off x="6080760" y="3986784"/>
            <a:ext cx="420624" cy="420624"/>
          </a:xfrm>
          <a:prstGeom prst="ellipse">
            <a:avLst/>
          </a:prstGeom>
          <a:solidFill>
            <a:srgbClr val="F4F6F9"/>
          </a:solidFill>
          <a:ln w="12700">
            <a:solidFill>
              <a:srgbClr val="F4F6F9"/>
            </a:solidFill>
            <a:prstDash val="solid"/>
          </a:ln>
        </p:spPr>
      </p:sp>
      <p:sp>
        <p:nvSpPr>
          <p:cNvPr id="26" name="Text 24"/>
          <p:cNvSpPr/>
          <p:nvPr/>
        </p:nvSpPr>
        <p:spPr>
          <a:xfrm>
            <a:off x="6080760" y="3986784"/>
            <a:ext cx="420624" cy="420624"/>
          </a:xfrm>
          <a:prstGeom prst="rect">
            <a:avLst/>
          </a:prstGeom>
          <a:noFill/>
          <a:ln/>
        </p:spPr>
        <p:txBody>
          <a:bodyPr wrap="square" rtlCol="0" anchor="ctr"/>
          <a:lstStyle/>
          <a:p>
            <a:pPr marL="0" indent="0" algn="ctr">
              <a:buNone/>
            </a:pPr>
            <a:r>
              <a:rPr lang="en-US" sz="1500" b="1" dirty="0">
                <a:solidFill>
                  <a:srgbClr val="1B2F4E"/>
                </a:solidFill>
                <a:latin typeface="Cambria" pitchFamily="34" charset="0"/>
                <a:ea typeface="Cambria" pitchFamily="34" charset="-122"/>
                <a:cs typeface="Cambria" pitchFamily="34" charset="-120"/>
              </a:rPr>
              <a:t>3</a:t>
            </a:r>
            <a:endParaRPr lang="en-US" sz="1500" dirty="0"/>
          </a:p>
        </p:txBody>
      </p:sp>
      <p:sp>
        <p:nvSpPr>
          <p:cNvPr id="27" name="Text 25"/>
          <p:cNvSpPr/>
          <p:nvPr/>
        </p:nvSpPr>
        <p:spPr>
          <a:xfrm>
            <a:off x="6675120" y="3959352"/>
            <a:ext cx="4846320" cy="292608"/>
          </a:xfrm>
          <a:prstGeom prst="rect">
            <a:avLst/>
          </a:prstGeom>
          <a:noFill/>
          <a:ln/>
        </p:spPr>
        <p:txBody>
          <a:bodyPr wrap="square" rtlCol="0" anchor="ctr"/>
          <a:lstStyle/>
          <a:p>
            <a:pPr marL="0" indent="0">
              <a:buNone/>
            </a:pPr>
            <a:r>
              <a:rPr lang="en-US" sz="1350" b="1" dirty="0">
                <a:solidFill>
                  <a:srgbClr val="1B2F4E"/>
                </a:solidFill>
                <a:latin typeface="Calibri" pitchFamily="34" charset="0"/>
                <a:ea typeface="Calibri" pitchFamily="34" charset="-122"/>
                <a:cs typeface="Calibri" pitchFamily="34" charset="-120"/>
              </a:rPr>
              <a:t>Risk &amp; governance</a:t>
            </a:r>
            <a:endParaRPr lang="en-US" sz="1350" dirty="0"/>
          </a:p>
        </p:txBody>
      </p:sp>
      <p:sp>
        <p:nvSpPr>
          <p:cNvPr id="28" name="Text 26"/>
          <p:cNvSpPr/>
          <p:nvPr/>
        </p:nvSpPr>
        <p:spPr>
          <a:xfrm>
            <a:off x="6675120" y="4242816"/>
            <a:ext cx="4846320" cy="566928"/>
          </a:xfrm>
          <a:prstGeom prst="rect">
            <a:avLst/>
          </a:prstGeom>
          <a:noFill/>
          <a:ln/>
        </p:spPr>
        <p:txBody>
          <a:bodyPr wrap="square" rtlCol="0" anchor="ctr"/>
          <a:lstStyle/>
          <a:p>
            <a:pPr marL="0" indent="0">
              <a:lnSpc>
                <a:spcPct val="118000"/>
              </a:lnSpc>
              <a:buNone/>
            </a:pPr>
            <a:r>
              <a:rPr lang="en-US" sz="1150" dirty="0">
                <a:solidFill>
                  <a:srgbClr val="5D6B7A"/>
                </a:solidFill>
                <a:latin typeface="Calibri" pitchFamily="34" charset="0"/>
                <a:ea typeface="Calibri" pitchFamily="34" charset="-122"/>
                <a:cs typeface="Calibri" pitchFamily="34" charset="-120"/>
              </a:rPr>
              <a:t>Catching data-pipeline bottlenecks, model drift and SLA constraints early.</a:t>
            </a:r>
            <a:endParaRPr lang="en-US" sz="1150" dirty="0"/>
          </a:p>
        </p:txBody>
      </p:sp>
      <p:sp>
        <p:nvSpPr>
          <p:cNvPr id="29" name="Shape 27"/>
          <p:cNvSpPr/>
          <p:nvPr/>
        </p:nvSpPr>
        <p:spPr>
          <a:xfrm>
            <a:off x="6080760" y="5020056"/>
            <a:ext cx="420624" cy="420624"/>
          </a:xfrm>
          <a:prstGeom prst="ellipse">
            <a:avLst/>
          </a:prstGeom>
          <a:solidFill>
            <a:srgbClr val="F4F6F9"/>
          </a:solidFill>
          <a:ln w="12700">
            <a:solidFill>
              <a:srgbClr val="F4F6F9"/>
            </a:solidFill>
            <a:prstDash val="solid"/>
          </a:ln>
        </p:spPr>
      </p:sp>
      <p:sp>
        <p:nvSpPr>
          <p:cNvPr id="30" name="Text 28"/>
          <p:cNvSpPr/>
          <p:nvPr/>
        </p:nvSpPr>
        <p:spPr>
          <a:xfrm>
            <a:off x="6080760" y="5020056"/>
            <a:ext cx="420624" cy="420624"/>
          </a:xfrm>
          <a:prstGeom prst="rect">
            <a:avLst/>
          </a:prstGeom>
          <a:noFill/>
          <a:ln/>
        </p:spPr>
        <p:txBody>
          <a:bodyPr wrap="square" rtlCol="0" anchor="ctr"/>
          <a:lstStyle/>
          <a:p>
            <a:pPr marL="0" indent="0" algn="ctr">
              <a:buNone/>
            </a:pPr>
            <a:r>
              <a:rPr lang="en-US" sz="1500" b="1" dirty="0">
                <a:solidFill>
                  <a:srgbClr val="1B2F4E"/>
                </a:solidFill>
                <a:latin typeface="Cambria" pitchFamily="34" charset="0"/>
                <a:ea typeface="Cambria" pitchFamily="34" charset="-122"/>
                <a:cs typeface="Cambria" pitchFamily="34" charset="-120"/>
              </a:rPr>
              <a:t>4</a:t>
            </a:r>
            <a:endParaRPr lang="en-US" sz="1500" dirty="0"/>
          </a:p>
        </p:txBody>
      </p:sp>
      <p:sp>
        <p:nvSpPr>
          <p:cNvPr id="31" name="Text 29"/>
          <p:cNvSpPr/>
          <p:nvPr/>
        </p:nvSpPr>
        <p:spPr>
          <a:xfrm>
            <a:off x="6675120" y="4992624"/>
            <a:ext cx="4846320" cy="292608"/>
          </a:xfrm>
          <a:prstGeom prst="rect">
            <a:avLst/>
          </a:prstGeom>
          <a:noFill/>
          <a:ln/>
        </p:spPr>
        <p:txBody>
          <a:bodyPr wrap="square" rtlCol="0" anchor="ctr"/>
          <a:lstStyle/>
          <a:p>
            <a:pPr marL="0" indent="0">
              <a:buNone/>
            </a:pPr>
            <a:r>
              <a:rPr lang="en-US" sz="1350" b="1" dirty="0">
                <a:solidFill>
                  <a:srgbClr val="1B2F4E"/>
                </a:solidFill>
                <a:latin typeface="Calibri" pitchFamily="34" charset="0"/>
                <a:ea typeface="Calibri" pitchFamily="34" charset="-122"/>
                <a:cs typeface="Calibri" pitchFamily="34" charset="-120"/>
              </a:rPr>
              <a:t>Operational friction</a:t>
            </a:r>
            <a:endParaRPr lang="en-US" sz="1350" dirty="0"/>
          </a:p>
        </p:txBody>
      </p:sp>
      <p:sp>
        <p:nvSpPr>
          <p:cNvPr id="32" name="Text 30"/>
          <p:cNvSpPr/>
          <p:nvPr/>
        </p:nvSpPr>
        <p:spPr>
          <a:xfrm>
            <a:off x="6675120" y="5276088"/>
            <a:ext cx="4846320" cy="566928"/>
          </a:xfrm>
          <a:prstGeom prst="rect">
            <a:avLst/>
          </a:prstGeom>
          <a:noFill/>
          <a:ln/>
        </p:spPr>
        <p:txBody>
          <a:bodyPr wrap="square" rtlCol="0" anchor="ctr"/>
          <a:lstStyle/>
          <a:p>
            <a:pPr marL="0" indent="0">
              <a:lnSpc>
                <a:spcPct val="118000"/>
              </a:lnSpc>
              <a:buNone/>
            </a:pPr>
            <a:r>
              <a:rPr lang="en-US" sz="1150" dirty="0">
                <a:solidFill>
                  <a:srgbClr val="5D6B7A"/>
                </a:solidFill>
                <a:latin typeface="Calibri" pitchFamily="34" charset="0"/>
                <a:ea typeface="Calibri" pitchFamily="34" charset="-122"/>
                <a:cs typeface="Calibri" pitchFamily="34" charset="-120"/>
              </a:rPr>
              <a:t>Running 4–6 concurrent client programs with restricted PM bandwidth — the exact gap Mira was built to close.</a:t>
            </a:r>
            <a:endParaRPr lang="en-US" sz="1150" dirty="0"/>
          </a:p>
        </p:txBody>
      </p:sp>
      <p:sp>
        <p:nvSpPr>
          <p:cNvPr id="33" name="Text 31"/>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MIRA — Multi-Agent PMO Orchestrator</a:t>
            </a:r>
            <a:endParaRPr lang="en-US" sz="900" dirty="0"/>
          </a:p>
        </p:txBody>
      </p:sp>
      <p:sp>
        <p:nvSpPr>
          <p:cNvPr id="34" name="Text 32"/>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D6B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rtlCol="0" anchor="ctr"/>
          <a:lstStyle/>
          <a:p>
            <a:pPr marL="0" indent="0" algn="l">
              <a:buNone/>
            </a:pPr>
            <a:r>
              <a:rPr lang="en-US" sz="1250" b="1" kern="0" spc="200" dirty="0">
                <a:solidFill>
                  <a:srgbClr val="3E6B8A"/>
                </a:solidFill>
                <a:latin typeface="Calibri" pitchFamily="34" charset="0"/>
                <a:ea typeface="Calibri" pitchFamily="34" charset="-122"/>
                <a:cs typeface="Calibri" pitchFamily="34" charset="-120"/>
              </a:rPr>
              <a:t>PROBLEM STATEMENT</a:t>
            </a:r>
            <a:endParaRPr lang="en-US" sz="1250" dirty="0"/>
          </a:p>
        </p:txBody>
      </p:sp>
      <p:sp>
        <p:nvSpPr>
          <p:cNvPr id="3" name="Text 1"/>
          <p:cNvSpPr/>
          <p:nvPr/>
        </p:nvSpPr>
        <p:spPr>
          <a:xfrm>
            <a:off x="640080" y="658368"/>
            <a:ext cx="10607040" cy="658368"/>
          </a:xfrm>
          <a:prstGeom prst="rect">
            <a:avLst/>
          </a:prstGeom>
          <a:noFill/>
          <a:ln/>
        </p:spPr>
        <p:txBody>
          <a:bodyPr wrap="square" rtlCol="0" anchor="ctr"/>
          <a:lstStyle/>
          <a:p>
            <a:pPr marL="0" indent="0" algn="l">
              <a:buNone/>
            </a:pPr>
            <a:r>
              <a:rPr lang="en-US" sz="3200" b="1" dirty="0">
                <a:solidFill>
                  <a:srgbClr val="1B2F4E"/>
                </a:solidFill>
                <a:latin typeface="Cambria" pitchFamily="34" charset="0"/>
                <a:ea typeface="Cambria" pitchFamily="34" charset="-122"/>
                <a:cs typeface="Cambria" pitchFamily="34" charset="-120"/>
              </a:rPr>
              <a:t>PMO Overhead Is Slowing Every Program Down</a:t>
            </a:r>
            <a:endParaRPr lang="en-US" sz="3200" dirty="0"/>
          </a:p>
        </p:txBody>
      </p:sp>
      <p:sp>
        <p:nvSpPr>
          <p:cNvPr id="4" name="Text 2"/>
          <p:cNvSpPr/>
          <p:nvPr/>
        </p:nvSpPr>
        <p:spPr>
          <a:xfrm>
            <a:off x="640080" y="1298448"/>
            <a:ext cx="10424160" cy="365760"/>
          </a:xfrm>
          <a:prstGeom prst="rect">
            <a:avLst/>
          </a:prstGeom>
          <a:noFill/>
          <a:ln/>
        </p:spPr>
        <p:txBody>
          <a:bodyPr wrap="square" rtlCol="0" anchor="ctr"/>
          <a:lstStyle/>
          <a:p>
            <a:pPr marL="0" indent="0">
              <a:buNone/>
            </a:pPr>
            <a:r>
              <a:rPr lang="en-US" sz="1300" dirty="0">
                <a:solidFill>
                  <a:srgbClr val="5D6B7A"/>
                </a:solidFill>
                <a:latin typeface="Calibri" pitchFamily="34" charset="0"/>
                <a:ea typeface="Calibri" pitchFamily="34" charset="-122"/>
                <a:cs typeface="Calibri" pitchFamily="34" charset="-120"/>
              </a:rPr>
              <a:t>Nexora is a startup at heart — most people wear multiple hats. That reality creates four compounding drags on delivery.</a:t>
            </a:r>
            <a:endParaRPr lang="en-US" sz="1300" dirty="0"/>
          </a:p>
        </p:txBody>
      </p:sp>
      <p:sp>
        <p:nvSpPr>
          <p:cNvPr id="5" name="Shape 3"/>
          <p:cNvSpPr/>
          <p:nvPr/>
        </p:nvSpPr>
        <p:spPr>
          <a:xfrm>
            <a:off x="640080" y="1965960"/>
            <a:ext cx="5074920" cy="2103120"/>
          </a:xfrm>
          <a:prstGeom prst="roundRect">
            <a:avLst>
              <a:gd name="adj" fmla="val 3478"/>
            </a:avLst>
          </a:prstGeom>
          <a:solidFill>
            <a:srgbClr val="F4F6F9"/>
          </a:solidFill>
          <a:ln w="12700">
            <a:solidFill>
              <a:srgbClr val="E1E6ED"/>
            </a:solidFill>
            <a:prstDash val="solid"/>
          </a:ln>
        </p:spPr>
      </p:sp>
      <p:sp>
        <p:nvSpPr>
          <p:cNvPr id="6" name="Shape 4"/>
          <p:cNvSpPr/>
          <p:nvPr/>
        </p:nvSpPr>
        <p:spPr>
          <a:xfrm>
            <a:off x="896112" y="2203704"/>
            <a:ext cx="1554480" cy="566928"/>
          </a:xfrm>
          <a:prstGeom prst="roundRect">
            <a:avLst>
              <a:gd name="adj" fmla="val 9677"/>
            </a:avLst>
          </a:prstGeom>
          <a:solidFill>
            <a:srgbClr val="D98E2B"/>
          </a:solidFill>
          <a:ln/>
        </p:spPr>
      </p:sp>
      <p:sp>
        <p:nvSpPr>
          <p:cNvPr id="7" name="Text 5"/>
          <p:cNvSpPr/>
          <p:nvPr/>
        </p:nvSpPr>
        <p:spPr>
          <a:xfrm>
            <a:off x="896112" y="2203704"/>
            <a:ext cx="1554480" cy="566928"/>
          </a:xfrm>
          <a:prstGeom prst="rect">
            <a:avLst/>
          </a:prstGeom>
          <a:noFill/>
          <a:ln/>
        </p:spPr>
        <p:txBody>
          <a:bodyPr wrap="square" rtlCol="0" anchor="ctr"/>
          <a:lstStyle/>
          <a:p>
            <a:pPr marL="0" indent="0" algn="ctr">
              <a:buNone/>
            </a:pPr>
            <a:r>
              <a:rPr lang="en-US" sz="1550" b="1" dirty="0">
                <a:solidFill>
                  <a:srgbClr val="FFFFFF"/>
                </a:solidFill>
                <a:latin typeface="Cambria" pitchFamily="34" charset="0"/>
                <a:ea typeface="Cambria" pitchFamily="34" charset="-122"/>
                <a:cs typeface="Cambria" pitchFamily="34" charset="-120"/>
              </a:rPr>
              <a:t>2.5 hrs/day</a:t>
            </a:r>
            <a:endParaRPr lang="en-US" sz="1550" dirty="0"/>
          </a:p>
        </p:txBody>
      </p:sp>
      <p:sp>
        <p:nvSpPr>
          <p:cNvPr id="8" name="Text 6"/>
          <p:cNvSpPr/>
          <p:nvPr/>
        </p:nvSpPr>
        <p:spPr>
          <a:xfrm>
            <a:off x="2606040" y="2185416"/>
            <a:ext cx="2880360" cy="548640"/>
          </a:xfrm>
          <a:prstGeom prst="rect">
            <a:avLst/>
          </a:prstGeom>
          <a:noFill/>
          <a:ln/>
        </p:spPr>
        <p:txBody>
          <a:bodyPr wrap="square" rtlCol="0" anchor="t"/>
          <a:lstStyle/>
          <a:p>
            <a:pPr marL="0" indent="0">
              <a:buNone/>
            </a:pPr>
            <a:r>
              <a:rPr lang="en-US" sz="1400" b="1" dirty="0">
                <a:solidFill>
                  <a:srgbClr val="1B2F4E"/>
                </a:solidFill>
                <a:latin typeface="Calibri" pitchFamily="34" charset="0"/>
                <a:ea typeface="Calibri" pitchFamily="34" charset="-122"/>
                <a:cs typeface="Calibri" pitchFamily="34" charset="-120"/>
              </a:rPr>
              <a:t>Resource Overload &amp; Multi-Hat Wear</a:t>
            </a:r>
            <a:endParaRPr lang="en-US" sz="1400" dirty="0"/>
          </a:p>
        </p:txBody>
      </p:sp>
      <p:sp>
        <p:nvSpPr>
          <p:cNvPr id="9" name="Text 7"/>
          <p:cNvSpPr/>
          <p:nvPr/>
        </p:nvSpPr>
        <p:spPr>
          <a:xfrm>
            <a:off x="896112" y="2898648"/>
            <a:ext cx="4562856" cy="1051560"/>
          </a:xfrm>
          <a:prstGeom prst="rect">
            <a:avLst/>
          </a:prstGeom>
          <a:noFill/>
          <a:ln/>
        </p:spPr>
        <p:txBody>
          <a:bodyPr wrap="square" rtlCol="0" anchor="ctr"/>
          <a:lstStyle/>
          <a:p>
            <a:pPr marL="0" indent="0">
              <a:lnSpc>
                <a:spcPct val="120000"/>
              </a:lnSpc>
              <a:buNone/>
            </a:pPr>
            <a:r>
              <a:rPr lang="en-US" sz="1150" dirty="0">
                <a:solidFill>
                  <a:srgbClr val="5D6B7A"/>
                </a:solidFill>
                <a:latin typeface="Calibri" pitchFamily="34" charset="0"/>
                <a:ea typeface="Calibri" pitchFamily="34" charset="-122"/>
                <a:cs typeface="Calibri" pitchFamily="34" charset="-120"/>
              </a:rPr>
              <a:t>High client volume forces TPMs to manage 4–6 programs concurrently, causing operational fatigue.</a:t>
            </a:r>
            <a:endParaRPr lang="en-US" sz="1150" dirty="0"/>
          </a:p>
        </p:txBody>
      </p:sp>
      <p:sp>
        <p:nvSpPr>
          <p:cNvPr id="10" name="Shape 8"/>
          <p:cNvSpPr/>
          <p:nvPr/>
        </p:nvSpPr>
        <p:spPr>
          <a:xfrm>
            <a:off x="6035040" y="1965960"/>
            <a:ext cx="5074920" cy="2103120"/>
          </a:xfrm>
          <a:prstGeom prst="roundRect">
            <a:avLst>
              <a:gd name="adj" fmla="val 3478"/>
            </a:avLst>
          </a:prstGeom>
          <a:solidFill>
            <a:srgbClr val="F4F6F9"/>
          </a:solidFill>
          <a:ln w="12700">
            <a:solidFill>
              <a:srgbClr val="E1E6ED"/>
            </a:solidFill>
            <a:prstDash val="solid"/>
          </a:ln>
        </p:spPr>
      </p:sp>
      <p:sp>
        <p:nvSpPr>
          <p:cNvPr id="11" name="Shape 9"/>
          <p:cNvSpPr/>
          <p:nvPr/>
        </p:nvSpPr>
        <p:spPr>
          <a:xfrm>
            <a:off x="6291072" y="2203704"/>
            <a:ext cx="1554480" cy="566928"/>
          </a:xfrm>
          <a:prstGeom prst="roundRect">
            <a:avLst>
              <a:gd name="adj" fmla="val 9677"/>
            </a:avLst>
          </a:prstGeom>
          <a:solidFill>
            <a:srgbClr val="3E6B8A"/>
          </a:solidFill>
          <a:ln/>
        </p:spPr>
      </p:sp>
      <p:sp>
        <p:nvSpPr>
          <p:cNvPr id="12" name="Text 10"/>
          <p:cNvSpPr/>
          <p:nvPr/>
        </p:nvSpPr>
        <p:spPr>
          <a:xfrm>
            <a:off x="6291072" y="2203704"/>
            <a:ext cx="1554480" cy="566928"/>
          </a:xfrm>
          <a:prstGeom prst="rect">
            <a:avLst/>
          </a:prstGeom>
          <a:noFill/>
          <a:ln/>
        </p:spPr>
        <p:txBody>
          <a:bodyPr wrap="square" rtlCol="0" anchor="ctr"/>
          <a:lstStyle/>
          <a:p>
            <a:pPr marL="0" indent="0" algn="ctr">
              <a:buNone/>
            </a:pPr>
            <a:r>
              <a:rPr lang="en-US" sz="1550" b="1" dirty="0">
                <a:solidFill>
                  <a:srgbClr val="FFFFFF"/>
                </a:solidFill>
                <a:latin typeface="Cambria" pitchFamily="34" charset="0"/>
                <a:ea typeface="Cambria" pitchFamily="34" charset="-122"/>
                <a:cs typeface="Cambria" pitchFamily="34" charset="-120"/>
              </a:rPr>
              <a:t>6–8 hrs</a:t>
            </a:r>
            <a:endParaRPr lang="en-US" sz="1550" dirty="0"/>
          </a:p>
        </p:txBody>
      </p:sp>
      <p:sp>
        <p:nvSpPr>
          <p:cNvPr id="13" name="Text 11"/>
          <p:cNvSpPr/>
          <p:nvPr/>
        </p:nvSpPr>
        <p:spPr>
          <a:xfrm>
            <a:off x="8001000" y="2185416"/>
            <a:ext cx="2880360" cy="548640"/>
          </a:xfrm>
          <a:prstGeom prst="rect">
            <a:avLst/>
          </a:prstGeom>
          <a:noFill/>
          <a:ln/>
        </p:spPr>
        <p:txBody>
          <a:bodyPr wrap="square" rtlCol="0" anchor="t"/>
          <a:lstStyle/>
          <a:p>
            <a:pPr marL="0" indent="0">
              <a:buNone/>
            </a:pPr>
            <a:r>
              <a:rPr lang="en-US" sz="1400" b="1" dirty="0">
                <a:solidFill>
                  <a:srgbClr val="1B2F4E"/>
                </a:solidFill>
                <a:latin typeface="Calibri" pitchFamily="34" charset="0"/>
                <a:ea typeface="Calibri" pitchFamily="34" charset="-122"/>
                <a:cs typeface="Calibri" pitchFamily="34" charset="-120"/>
              </a:rPr>
              <a:t>Unstandardized Project Planning</a:t>
            </a:r>
            <a:endParaRPr lang="en-US" sz="1400" dirty="0"/>
          </a:p>
        </p:txBody>
      </p:sp>
      <p:sp>
        <p:nvSpPr>
          <p:cNvPr id="14" name="Text 12"/>
          <p:cNvSpPr/>
          <p:nvPr/>
        </p:nvSpPr>
        <p:spPr>
          <a:xfrm>
            <a:off x="6291072" y="2898648"/>
            <a:ext cx="4562856" cy="1051560"/>
          </a:xfrm>
          <a:prstGeom prst="rect">
            <a:avLst/>
          </a:prstGeom>
          <a:noFill/>
          <a:ln/>
        </p:spPr>
        <p:txBody>
          <a:bodyPr wrap="square" rtlCol="0" anchor="ctr"/>
          <a:lstStyle/>
          <a:p>
            <a:pPr marL="0" indent="0">
              <a:lnSpc>
                <a:spcPct val="120000"/>
              </a:lnSpc>
              <a:buNone/>
            </a:pPr>
            <a:r>
              <a:rPr lang="en-US" sz="1150" dirty="0">
                <a:solidFill>
                  <a:srgbClr val="5D6B7A"/>
                </a:solidFill>
                <a:latin typeface="Calibri" pitchFamily="34" charset="0"/>
                <a:ea typeface="Calibri" pitchFamily="34" charset="-122"/>
                <a:cs typeface="Calibri" pitchFamily="34" charset="-120"/>
              </a:rPr>
              <a:t>Documenting plans from unstructured notes (XLSX, PDF, RTF) per client onboarding cycle — with 68% variation in plan completeness.</a:t>
            </a:r>
            <a:endParaRPr lang="en-US" sz="1150" dirty="0"/>
          </a:p>
        </p:txBody>
      </p:sp>
      <p:sp>
        <p:nvSpPr>
          <p:cNvPr id="15" name="Shape 13"/>
          <p:cNvSpPr/>
          <p:nvPr/>
        </p:nvSpPr>
        <p:spPr>
          <a:xfrm>
            <a:off x="640080" y="4343400"/>
            <a:ext cx="5074920" cy="2103120"/>
          </a:xfrm>
          <a:prstGeom prst="roundRect">
            <a:avLst>
              <a:gd name="adj" fmla="val 3478"/>
            </a:avLst>
          </a:prstGeom>
          <a:solidFill>
            <a:srgbClr val="F4F6F9"/>
          </a:solidFill>
          <a:ln w="12700">
            <a:solidFill>
              <a:srgbClr val="E1E6ED"/>
            </a:solidFill>
            <a:prstDash val="solid"/>
          </a:ln>
        </p:spPr>
      </p:sp>
      <p:sp>
        <p:nvSpPr>
          <p:cNvPr id="16" name="Shape 14"/>
          <p:cNvSpPr/>
          <p:nvPr/>
        </p:nvSpPr>
        <p:spPr>
          <a:xfrm>
            <a:off x="896112" y="4581144"/>
            <a:ext cx="1554480" cy="566928"/>
          </a:xfrm>
          <a:prstGeom prst="roundRect">
            <a:avLst>
              <a:gd name="adj" fmla="val 9677"/>
            </a:avLst>
          </a:prstGeom>
          <a:solidFill>
            <a:srgbClr val="1B2F4E"/>
          </a:solidFill>
          <a:ln/>
        </p:spPr>
      </p:sp>
      <p:sp>
        <p:nvSpPr>
          <p:cNvPr id="17" name="Text 15"/>
          <p:cNvSpPr/>
          <p:nvPr/>
        </p:nvSpPr>
        <p:spPr>
          <a:xfrm>
            <a:off x="896112" y="4581144"/>
            <a:ext cx="1554480" cy="566928"/>
          </a:xfrm>
          <a:prstGeom prst="rect">
            <a:avLst/>
          </a:prstGeom>
          <a:noFill/>
          <a:ln/>
        </p:spPr>
        <p:txBody>
          <a:bodyPr wrap="square" rtlCol="0" anchor="ctr"/>
          <a:lstStyle/>
          <a:p>
            <a:pPr marL="0" indent="0" algn="ctr">
              <a:buNone/>
            </a:pPr>
            <a:r>
              <a:rPr lang="en-US" sz="1550" b="1" dirty="0">
                <a:solidFill>
                  <a:srgbClr val="FFFFFF"/>
                </a:solidFill>
                <a:latin typeface="Cambria" pitchFamily="34" charset="0"/>
                <a:ea typeface="Cambria" pitchFamily="34" charset="-122"/>
                <a:cs typeface="Cambria" pitchFamily="34" charset="-120"/>
              </a:rPr>
              <a:t>12+ hrs/wk</a:t>
            </a:r>
            <a:endParaRPr lang="en-US" sz="1550" dirty="0"/>
          </a:p>
        </p:txBody>
      </p:sp>
      <p:sp>
        <p:nvSpPr>
          <p:cNvPr id="18" name="Text 16"/>
          <p:cNvSpPr/>
          <p:nvPr/>
        </p:nvSpPr>
        <p:spPr>
          <a:xfrm>
            <a:off x="2606040" y="4562856"/>
            <a:ext cx="2880360" cy="548640"/>
          </a:xfrm>
          <a:prstGeom prst="rect">
            <a:avLst/>
          </a:prstGeom>
          <a:noFill/>
          <a:ln/>
        </p:spPr>
        <p:txBody>
          <a:bodyPr wrap="square" rtlCol="0" anchor="t"/>
          <a:lstStyle/>
          <a:p>
            <a:pPr marL="0" indent="0">
              <a:buNone/>
            </a:pPr>
            <a:r>
              <a:rPr lang="en-US" sz="1400" b="1" dirty="0">
                <a:solidFill>
                  <a:srgbClr val="1B2F4E"/>
                </a:solidFill>
                <a:latin typeface="Calibri" pitchFamily="34" charset="0"/>
                <a:ea typeface="Calibri" pitchFamily="34" charset="-122"/>
                <a:cs typeface="Calibri" pitchFamily="34" charset="-120"/>
              </a:rPr>
              <a:t>Manual Status Reporting</a:t>
            </a:r>
            <a:endParaRPr lang="en-US" sz="1400" dirty="0"/>
          </a:p>
        </p:txBody>
      </p:sp>
      <p:sp>
        <p:nvSpPr>
          <p:cNvPr id="19" name="Text 17"/>
          <p:cNvSpPr/>
          <p:nvPr/>
        </p:nvSpPr>
        <p:spPr>
          <a:xfrm>
            <a:off x="896112" y="5276088"/>
            <a:ext cx="4562856" cy="1051560"/>
          </a:xfrm>
          <a:prstGeom prst="rect">
            <a:avLst/>
          </a:prstGeom>
          <a:noFill/>
          <a:ln/>
        </p:spPr>
        <p:txBody>
          <a:bodyPr wrap="square" rtlCol="0" anchor="ctr"/>
          <a:lstStyle/>
          <a:p>
            <a:pPr marL="0" indent="0">
              <a:lnSpc>
                <a:spcPct val="120000"/>
              </a:lnSpc>
              <a:buNone/>
            </a:pPr>
            <a:r>
              <a:rPr lang="en-US" sz="1150" dirty="0">
                <a:solidFill>
                  <a:srgbClr val="5D6B7A"/>
                </a:solidFill>
                <a:latin typeface="Calibri" pitchFamily="34" charset="0"/>
                <a:ea typeface="Calibri" pitchFamily="34" charset="-122"/>
                <a:cs typeface="Calibri" pitchFamily="34" charset="-120"/>
              </a:rPr>
              <a:t>Weekly reporting requires manual extraction from Trello boards into formatted emails, inviting copy-paste errors.</a:t>
            </a:r>
            <a:endParaRPr lang="en-US" sz="1150" dirty="0"/>
          </a:p>
        </p:txBody>
      </p:sp>
      <p:sp>
        <p:nvSpPr>
          <p:cNvPr id="20" name="Shape 18"/>
          <p:cNvSpPr/>
          <p:nvPr/>
        </p:nvSpPr>
        <p:spPr>
          <a:xfrm>
            <a:off x="6035040" y="4343400"/>
            <a:ext cx="5074920" cy="2103120"/>
          </a:xfrm>
          <a:prstGeom prst="roundRect">
            <a:avLst>
              <a:gd name="adj" fmla="val 3478"/>
            </a:avLst>
          </a:prstGeom>
          <a:solidFill>
            <a:srgbClr val="F4F6F9"/>
          </a:solidFill>
          <a:ln w="12700">
            <a:solidFill>
              <a:srgbClr val="E1E6ED"/>
            </a:solidFill>
            <a:prstDash val="solid"/>
          </a:ln>
        </p:spPr>
      </p:sp>
      <p:sp>
        <p:nvSpPr>
          <p:cNvPr id="21" name="Shape 19"/>
          <p:cNvSpPr/>
          <p:nvPr/>
        </p:nvSpPr>
        <p:spPr>
          <a:xfrm>
            <a:off x="6291072" y="4581144"/>
            <a:ext cx="1554480" cy="566928"/>
          </a:xfrm>
          <a:prstGeom prst="roundRect">
            <a:avLst>
              <a:gd name="adj" fmla="val 9677"/>
            </a:avLst>
          </a:prstGeom>
          <a:solidFill>
            <a:srgbClr val="B84A3E"/>
          </a:solidFill>
          <a:ln/>
        </p:spPr>
      </p:sp>
      <p:sp>
        <p:nvSpPr>
          <p:cNvPr id="22" name="Text 20"/>
          <p:cNvSpPr/>
          <p:nvPr/>
        </p:nvSpPr>
        <p:spPr>
          <a:xfrm>
            <a:off x="6291072" y="4581144"/>
            <a:ext cx="1554480" cy="566928"/>
          </a:xfrm>
          <a:prstGeom prst="rect">
            <a:avLst/>
          </a:prstGeom>
          <a:noFill/>
          <a:ln/>
        </p:spPr>
        <p:txBody>
          <a:bodyPr wrap="square" rtlCol="0" anchor="ctr"/>
          <a:lstStyle/>
          <a:p>
            <a:pPr marL="0" indent="0" algn="ctr">
              <a:buNone/>
            </a:pPr>
            <a:r>
              <a:rPr lang="en-US" sz="1550" b="1" dirty="0">
                <a:solidFill>
                  <a:srgbClr val="FFFFFF"/>
                </a:solidFill>
                <a:latin typeface="Cambria" pitchFamily="34" charset="0"/>
                <a:ea typeface="Cambria" pitchFamily="34" charset="-122"/>
                <a:cs typeface="Cambria" pitchFamily="34" charset="-120"/>
              </a:rPr>
              <a:t>23% higher</a:t>
            </a:r>
            <a:endParaRPr lang="en-US" sz="1550" dirty="0"/>
          </a:p>
        </p:txBody>
      </p:sp>
      <p:sp>
        <p:nvSpPr>
          <p:cNvPr id="23" name="Text 21"/>
          <p:cNvSpPr/>
          <p:nvPr/>
        </p:nvSpPr>
        <p:spPr>
          <a:xfrm>
            <a:off x="8001000" y="4562856"/>
            <a:ext cx="2880360" cy="548640"/>
          </a:xfrm>
          <a:prstGeom prst="rect">
            <a:avLst/>
          </a:prstGeom>
          <a:noFill/>
          <a:ln/>
        </p:spPr>
        <p:txBody>
          <a:bodyPr wrap="square" rtlCol="0" anchor="t"/>
          <a:lstStyle/>
          <a:p>
            <a:pPr marL="0" indent="0">
              <a:buNone/>
            </a:pPr>
            <a:r>
              <a:rPr lang="en-US" sz="1400" b="1" dirty="0">
                <a:solidFill>
                  <a:srgbClr val="1B2F4E"/>
                </a:solidFill>
                <a:latin typeface="Calibri" pitchFamily="34" charset="0"/>
                <a:ea typeface="Calibri" pitchFamily="34" charset="-122"/>
                <a:cs typeface="Calibri" pitchFamily="34" charset="-120"/>
              </a:rPr>
              <a:t>Proactive Risk Blindspots</a:t>
            </a:r>
            <a:endParaRPr lang="en-US" sz="1400" dirty="0"/>
          </a:p>
        </p:txBody>
      </p:sp>
      <p:sp>
        <p:nvSpPr>
          <p:cNvPr id="24" name="Text 22"/>
          <p:cNvSpPr/>
          <p:nvPr/>
        </p:nvSpPr>
        <p:spPr>
          <a:xfrm>
            <a:off x="6291072" y="5276088"/>
            <a:ext cx="4562856" cy="1051560"/>
          </a:xfrm>
          <a:prstGeom prst="rect">
            <a:avLst/>
          </a:prstGeom>
          <a:noFill/>
          <a:ln/>
        </p:spPr>
        <p:txBody>
          <a:bodyPr wrap="square" rtlCol="0" anchor="ctr"/>
          <a:lstStyle/>
          <a:p>
            <a:pPr marL="0" indent="0">
              <a:lnSpc>
                <a:spcPct val="120000"/>
              </a:lnSpc>
              <a:buNone/>
            </a:pPr>
            <a:r>
              <a:rPr lang="en-US" sz="1150" dirty="0">
                <a:solidFill>
                  <a:srgbClr val="5D6B7A"/>
                </a:solidFill>
                <a:latin typeface="Calibri" pitchFamily="34" charset="0"/>
                <a:ea typeface="Calibri" pitchFamily="34" charset="-122"/>
                <a:cs typeface="Calibri" pitchFamily="34" charset="-120"/>
              </a:rPr>
              <a:t>Delayed tracking of blocked Kanban tasks causes missed client SLAs and ballooning delivery overhead.</a:t>
            </a:r>
            <a:endParaRPr lang="en-US" sz="1150" dirty="0"/>
          </a:p>
        </p:txBody>
      </p:sp>
      <p:sp>
        <p:nvSpPr>
          <p:cNvPr id="25" name="Text 23"/>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MIRA — Multi-Agent PMO Orchestrator</a:t>
            </a:r>
            <a:endParaRPr lang="en-US" sz="900" dirty="0"/>
          </a:p>
        </p:txBody>
      </p:sp>
      <p:sp>
        <p:nvSpPr>
          <p:cNvPr id="26" name="Text 24"/>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D6B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rtlCol="0" anchor="ctr"/>
          <a:lstStyle/>
          <a:p>
            <a:pPr marL="0" indent="0" algn="l">
              <a:buNone/>
            </a:pPr>
            <a:r>
              <a:rPr lang="en-US" sz="1250" b="1" kern="0" spc="200" dirty="0">
                <a:solidFill>
                  <a:srgbClr val="3E6B8A"/>
                </a:solidFill>
                <a:latin typeface="Calibri" pitchFamily="34" charset="0"/>
                <a:ea typeface="Calibri" pitchFamily="34" charset="-122"/>
                <a:cs typeface="Calibri" pitchFamily="34" charset="-120"/>
              </a:rPr>
              <a:t>THE CLIENT ENGAGEMENT</a:t>
            </a:r>
            <a:endParaRPr lang="en-US" sz="1250" dirty="0"/>
          </a:p>
        </p:txBody>
      </p:sp>
      <p:sp>
        <p:nvSpPr>
          <p:cNvPr id="3" name="Text 1"/>
          <p:cNvSpPr/>
          <p:nvPr/>
        </p:nvSpPr>
        <p:spPr>
          <a:xfrm>
            <a:off x="640080" y="658368"/>
            <a:ext cx="10607040" cy="658368"/>
          </a:xfrm>
          <a:prstGeom prst="rect">
            <a:avLst/>
          </a:prstGeom>
          <a:noFill/>
          <a:ln/>
        </p:spPr>
        <p:txBody>
          <a:bodyPr wrap="square" rtlCol="0" anchor="ctr"/>
          <a:lstStyle/>
          <a:p>
            <a:pPr marL="0" indent="0" algn="l">
              <a:buNone/>
            </a:pPr>
            <a:r>
              <a:rPr lang="en-US" sz="3200" b="1" dirty="0">
                <a:solidFill>
                  <a:srgbClr val="1B2F4E"/>
                </a:solidFill>
                <a:latin typeface="Cambria" pitchFamily="34" charset="0"/>
                <a:ea typeface="Cambria" pitchFamily="34" charset="-122"/>
                <a:cs typeface="Cambria" pitchFamily="34" charset="-120"/>
              </a:rPr>
              <a:t>AI Adoption at ABCDE Ltd.</a:t>
            </a:r>
            <a:endParaRPr lang="en-US" sz="3200" dirty="0"/>
          </a:p>
        </p:txBody>
      </p:sp>
      <p:sp>
        <p:nvSpPr>
          <p:cNvPr id="4" name="Text 2"/>
          <p:cNvSpPr/>
          <p:nvPr/>
        </p:nvSpPr>
        <p:spPr>
          <a:xfrm>
            <a:off x="640080" y="1325880"/>
            <a:ext cx="6492240" cy="1417320"/>
          </a:xfrm>
          <a:prstGeom prst="rect">
            <a:avLst/>
          </a:prstGeom>
          <a:noFill/>
          <a:ln/>
        </p:spPr>
        <p:txBody>
          <a:bodyPr wrap="square" rtlCol="0" anchor="ctr"/>
          <a:lstStyle/>
          <a:p>
            <a:pPr marL="0" indent="0">
              <a:lnSpc>
                <a:spcPct val="135000"/>
              </a:lnSpc>
              <a:buNone/>
            </a:pPr>
            <a:r>
              <a:rPr lang="en-US" sz="1350" dirty="0">
                <a:solidFill>
                  <a:srgbClr val="1C2733"/>
                </a:solidFill>
                <a:latin typeface="Calibri" pitchFamily="34" charset="0"/>
                <a:ea typeface="Calibri" pitchFamily="34" charset="-122"/>
                <a:cs typeface="Calibri" pitchFamily="34" charset="-120"/>
              </a:rPr>
              <a:t>ABCDE Ltd., a mid-sized logistics and supply-chain enterprise, is integrating AI into demand forecasting, route optimization, inventory management and customer support — aiming to cut manual overhead and surface data-driven insight across the business.</a:t>
            </a:r>
            <a:endParaRPr lang="en-US" sz="1350" dirty="0"/>
          </a:p>
        </p:txBody>
      </p:sp>
      <p:sp>
        <p:nvSpPr>
          <p:cNvPr id="5" name="Text 3"/>
          <p:cNvSpPr/>
          <p:nvPr/>
        </p:nvSpPr>
        <p:spPr>
          <a:xfrm>
            <a:off x="640080" y="2880360"/>
            <a:ext cx="6492240" cy="914400"/>
          </a:xfrm>
          <a:prstGeom prst="rect">
            <a:avLst/>
          </a:prstGeom>
          <a:noFill/>
          <a:ln/>
        </p:spPr>
        <p:txBody>
          <a:bodyPr wrap="square" rtlCol="0" anchor="ctr"/>
          <a:lstStyle/>
          <a:p>
            <a:pPr marL="0" indent="0">
              <a:lnSpc>
                <a:spcPct val="135000"/>
              </a:lnSpc>
              <a:buNone/>
            </a:pPr>
            <a:r>
              <a:rPr lang="en-US" sz="1350" dirty="0">
                <a:solidFill>
                  <a:srgbClr val="1C2733"/>
                </a:solidFill>
                <a:latin typeface="Calibri" pitchFamily="34" charset="0"/>
                <a:ea typeface="Calibri" pitchFamily="34" charset="-122"/>
                <a:cs typeface="Calibri" pitchFamily="34" charset="-120"/>
              </a:rPr>
              <a:t>A cross-functional task force of data scientists, IT professionals and business stakeholders oversees deployment — with Mira acting as the always-on PMO layer underneath them.</a:t>
            </a:r>
            <a:endParaRPr lang="en-US" sz="1350" dirty="0"/>
          </a:p>
        </p:txBody>
      </p:sp>
      <p:sp>
        <p:nvSpPr>
          <p:cNvPr id="6" name="Shape 4"/>
          <p:cNvSpPr/>
          <p:nvPr/>
        </p:nvSpPr>
        <p:spPr>
          <a:xfrm>
            <a:off x="640080" y="3977640"/>
            <a:ext cx="1051560" cy="1051560"/>
          </a:xfrm>
          <a:prstGeom prst="ellipse">
            <a:avLst/>
          </a:prstGeom>
          <a:solidFill>
            <a:srgbClr val="1B2F4E"/>
          </a:solidFill>
          <a:ln w="12700">
            <a:solidFill>
              <a:srgbClr val="1B2F4E"/>
            </a:solidFill>
            <a:prstDash val="solid"/>
          </a:ln>
        </p:spPr>
      </p:sp>
      <p:sp>
        <p:nvSpPr>
          <p:cNvPr id="7" name="Text 5"/>
          <p:cNvSpPr/>
          <p:nvPr/>
        </p:nvSpPr>
        <p:spPr>
          <a:xfrm>
            <a:off x="640080" y="3977640"/>
            <a:ext cx="1051560" cy="1051560"/>
          </a:xfrm>
          <a:prstGeom prst="rect">
            <a:avLst/>
          </a:prstGeom>
          <a:noFill/>
          <a:ln/>
        </p:spPr>
        <p:txBody>
          <a:bodyPr wrap="square"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15%</a:t>
            </a:r>
            <a:endParaRPr lang="en-US" sz="2100" dirty="0"/>
          </a:p>
        </p:txBody>
      </p:sp>
      <p:sp>
        <p:nvSpPr>
          <p:cNvPr id="8" name="Text 6"/>
          <p:cNvSpPr/>
          <p:nvPr/>
        </p:nvSpPr>
        <p:spPr>
          <a:xfrm>
            <a:off x="1828800" y="4233672"/>
            <a:ext cx="5120640" cy="548640"/>
          </a:xfrm>
          <a:prstGeom prst="rect">
            <a:avLst/>
          </a:prstGeom>
          <a:noFill/>
          <a:ln/>
        </p:spPr>
        <p:txBody>
          <a:bodyPr wrap="square" rtlCol="0" anchor="ctr"/>
          <a:lstStyle/>
          <a:p>
            <a:pPr marL="0" indent="0">
              <a:buNone/>
            </a:pPr>
            <a:r>
              <a:rPr lang="en-US" sz="1350" b="1" dirty="0">
                <a:solidFill>
                  <a:srgbClr val="1B2F4E"/>
                </a:solidFill>
                <a:latin typeface="Calibri" pitchFamily="34" charset="0"/>
                <a:ea typeface="Calibri" pitchFamily="34" charset="-122"/>
                <a:cs typeface="Calibri" pitchFamily="34" charset="-120"/>
              </a:rPr>
              <a:t>Reduction in delivery delays</a:t>
            </a:r>
            <a:endParaRPr lang="en-US" sz="1350" dirty="0"/>
          </a:p>
        </p:txBody>
      </p:sp>
      <p:sp>
        <p:nvSpPr>
          <p:cNvPr id="9" name="Shape 7"/>
          <p:cNvSpPr/>
          <p:nvPr/>
        </p:nvSpPr>
        <p:spPr>
          <a:xfrm>
            <a:off x="640080" y="5212080"/>
            <a:ext cx="1051560" cy="1051560"/>
          </a:xfrm>
          <a:prstGeom prst="ellipse">
            <a:avLst/>
          </a:prstGeom>
          <a:solidFill>
            <a:srgbClr val="1B2F4E"/>
          </a:solidFill>
          <a:ln w="12700">
            <a:solidFill>
              <a:srgbClr val="1B2F4E"/>
            </a:solidFill>
            <a:prstDash val="solid"/>
          </a:ln>
        </p:spPr>
      </p:sp>
      <p:sp>
        <p:nvSpPr>
          <p:cNvPr id="10" name="Text 8"/>
          <p:cNvSpPr/>
          <p:nvPr/>
        </p:nvSpPr>
        <p:spPr>
          <a:xfrm>
            <a:off x="640080" y="5212080"/>
            <a:ext cx="1051560" cy="1051560"/>
          </a:xfrm>
          <a:prstGeom prst="rect">
            <a:avLst/>
          </a:prstGeom>
          <a:noFill/>
          <a:ln/>
        </p:spPr>
        <p:txBody>
          <a:bodyPr wrap="square"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10%</a:t>
            </a:r>
            <a:endParaRPr lang="en-US" sz="2100" dirty="0"/>
          </a:p>
        </p:txBody>
      </p:sp>
      <p:sp>
        <p:nvSpPr>
          <p:cNvPr id="11" name="Text 9"/>
          <p:cNvSpPr/>
          <p:nvPr/>
        </p:nvSpPr>
        <p:spPr>
          <a:xfrm>
            <a:off x="1828800" y="5468112"/>
            <a:ext cx="5120640" cy="548640"/>
          </a:xfrm>
          <a:prstGeom prst="rect">
            <a:avLst/>
          </a:prstGeom>
          <a:noFill/>
          <a:ln/>
        </p:spPr>
        <p:txBody>
          <a:bodyPr wrap="square" rtlCol="0" anchor="ctr"/>
          <a:lstStyle/>
          <a:p>
            <a:pPr marL="0" indent="0">
              <a:buNone/>
            </a:pPr>
            <a:r>
              <a:rPr lang="en-US" sz="1350" b="1" dirty="0">
                <a:solidFill>
                  <a:srgbClr val="1B2F4E"/>
                </a:solidFill>
                <a:latin typeface="Calibri" pitchFamily="34" charset="0"/>
                <a:ea typeface="Calibri" pitchFamily="34" charset="-122"/>
                <a:cs typeface="Calibri" pitchFamily="34" charset="-120"/>
              </a:rPr>
              <a:t>Lower operational cost</a:t>
            </a:r>
            <a:endParaRPr lang="en-US" sz="1350" dirty="0"/>
          </a:p>
        </p:txBody>
      </p:sp>
      <p:sp>
        <p:nvSpPr>
          <p:cNvPr id="12" name="Shape 10"/>
          <p:cNvSpPr/>
          <p:nvPr/>
        </p:nvSpPr>
        <p:spPr>
          <a:xfrm>
            <a:off x="7452360" y="1325880"/>
            <a:ext cx="4114800" cy="4846320"/>
          </a:xfrm>
          <a:prstGeom prst="roundRect">
            <a:avLst>
              <a:gd name="adj" fmla="val 1778"/>
            </a:avLst>
          </a:prstGeom>
          <a:solidFill>
            <a:srgbClr val="F4F6F9"/>
          </a:solidFill>
          <a:ln w="12700">
            <a:solidFill>
              <a:srgbClr val="E1E6ED"/>
            </a:solidFill>
            <a:prstDash val="solid"/>
          </a:ln>
        </p:spPr>
      </p:sp>
      <p:sp>
        <p:nvSpPr>
          <p:cNvPr id="13" name="Text 11"/>
          <p:cNvSpPr/>
          <p:nvPr/>
        </p:nvSpPr>
        <p:spPr>
          <a:xfrm>
            <a:off x="7744968" y="1581912"/>
            <a:ext cx="3566160" cy="292608"/>
          </a:xfrm>
          <a:prstGeom prst="rect">
            <a:avLst/>
          </a:prstGeom>
          <a:noFill/>
          <a:ln/>
        </p:spPr>
        <p:txBody>
          <a:bodyPr wrap="square" rtlCol="0" anchor="ctr"/>
          <a:lstStyle/>
          <a:p>
            <a:pPr marL="0" indent="0">
              <a:buNone/>
            </a:pPr>
            <a:r>
              <a:rPr lang="en-US" sz="1200" b="1" kern="0" spc="100" dirty="0">
                <a:solidFill>
                  <a:srgbClr val="3E6B8A"/>
                </a:solidFill>
                <a:latin typeface="Calibri" pitchFamily="34" charset="0"/>
                <a:ea typeface="Calibri" pitchFamily="34" charset="-122"/>
                <a:cs typeface="Calibri" pitchFamily="34" charset="-120"/>
              </a:rPr>
              <a:t>PROGRAM SNAPSHOT</a:t>
            </a:r>
            <a:endParaRPr lang="en-US" sz="1200" dirty="0"/>
          </a:p>
        </p:txBody>
      </p:sp>
      <p:sp>
        <p:nvSpPr>
          <p:cNvPr id="14" name="Text 12"/>
          <p:cNvSpPr/>
          <p:nvPr/>
        </p:nvSpPr>
        <p:spPr>
          <a:xfrm>
            <a:off x="7744968" y="2103120"/>
            <a:ext cx="1051560" cy="685800"/>
          </a:xfrm>
          <a:prstGeom prst="rect">
            <a:avLst/>
          </a:prstGeom>
          <a:noFill/>
          <a:ln/>
        </p:spPr>
        <p:txBody>
          <a:bodyPr wrap="square" rtlCol="0" anchor="ctr"/>
          <a:lstStyle/>
          <a:p>
            <a:pPr marL="0" indent="0">
              <a:buNone/>
            </a:pPr>
            <a:r>
              <a:rPr lang="en-US" sz="3300" b="1" dirty="0">
                <a:solidFill>
                  <a:srgbClr val="1B2F4E"/>
                </a:solidFill>
                <a:latin typeface="Cambria" pitchFamily="34" charset="0"/>
                <a:ea typeface="Cambria" pitchFamily="34" charset="-122"/>
                <a:cs typeface="Cambria" pitchFamily="34" charset="-120"/>
              </a:rPr>
              <a:t>15</a:t>
            </a:r>
            <a:endParaRPr lang="en-US" sz="3300" dirty="0"/>
          </a:p>
        </p:txBody>
      </p:sp>
      <p:sp>
        <p:nvSpPr>
          <p:cNvPr id="15" name="Text 13"/>
          <p:cNvSpPr/>
          <p:nvPr/>
        </p:nvSpPr>
        <p:spPr>
          <a:xfrm>
            <a:off x="8823960" y="2103120"/>
            <a:ext cx="2423160" cy="685800"/>
          </a:xfrm>
          <a:prstGeom prst="rect">
            <a:avLst/>
          </a:prstGeom>
          <a:noFill/>
          <a:ln/>
        </p:spPr>
        <p:txBody>
          <a:bodyPr wrap="square" rtlCol="0" anchor="ctr"/>
          <a:lstStyle/>
          <a:p>
            <a:pPr marL="0" indent="0">
              <a:lnSpc>
                <a:spcPct val="110000"/>
              </a:lnSpc>
              <a:buNone/>
            </a:pPr>
            <a:r>
              <a:rPr lang="en-US" sz="1200" dirty="0">
                <a:solidFill>
                  <a:srgbClr val="5D6B7A"/>
                </a:solidFill>
                <a:latin typeface="Calibri" pitchFamily="34" charset="0"/>
                <a:ea typeface="Calibri" pitchFamily="34" charset="-122"/>
                <a:cs typeface="Calibri" pitchFamily="34" charset="-120"/>
              </a:rPr>
              <a:t>team members across 12 functions</a:t>
            </a:r>
            <a:endParaRPr lang="en-US" sz="1200" dirty="0"/>
          </a:p>
        </p:txBody>
      </p:sp>
      <p:sp>
        <p:nvSpPr>
          <p:cNvPr id="16" name="Text 14"/>
          <p:cNvSpPr/>
          <p:nvPr/>
        </p:nvSpPr>
        <p:spPr>
          <a:xfrm>
            <a:off x="7744968" y="2926080"/>
            <a:ext cx="1051560" cy="685800"/>
          </a:xfrm>
          <a:prstGeom prst="rect">
            <a:avLst/>
          </a:prstGeom>
          <a:noFill/>
          <a:ln/>
        </p:spPr>
        <p:txBody>
          <a:bodyPr wrap="square" rtlCol="0" anchor="ctr"/>
          <a:lstStyle/>
          <a:p>
            <a:pPr marL="0" indent="0">
              <a:buNone/>
            </a:pPr>
            <a:r>
              <a:rPr lang="en-US" sz="3300" b="1" dirty="0">
                <a:solidFill>
                  <a:srgbClr val="1B2F4E"/>
                </a:solidFill>
                <a:latin typeface="Cambria" pitchFamily="34" charset="0"/>
                <a:ea typeface="Cambria" pitchFamily="34" charset="-122"/>
                <a:cs typeface="Cambria" pitchFamily="34" charset="-120"/>
              </a:rPr>
              <a:t>8</a:t>
            </a:r>
            <a:endParaRPr lang="en-US" sz="3300" dirty="0"/>
          </a:p>
        </p:txBody>
      </p:sp>
      <p:sp>
        <p:nvSpPr>
          <p:cNvPr id="17" name="Text 15"/>
          <p:cNvSpPr/>
          <p:nvPr/>
        </p:nvSpPr>
        <p:spPr>
          <a:xfrm>
            <a:off x="8823960" y="2926080"/>
            <a:ext cx="2423160" cy="685800"/>
          </a:xfrm>
          <a:prstGeom prst="rect">
            <a:avLst/>
          </a:prstGeom>
          <a:noFill/>
          <a:ln/>
        </p:spPr>
        <p:txBody>
          <a:bodyPr wrap="square" rtlCol="0" anchor="ctr"/>
          <a:lstStyle/>
          <a:p>
            <a:pPr marL="0" indent="0">
              <a:lnSpc>
                <a:spcPct val="110000"/>
              </a:lnSpc>
              <a:buNone/>
            </a:pPr>
            <a:r>
              <a:rPr lang="en-US" sz="1200" dirty="0">
                <a:solidFill>
                  <a:srgbClr val="5D6B7A"/>
                </a:solidFill>
                <a:latin typeface="Calibri" pitchFamily="34" charset="0"/>
                <a:ea typeface="Calibri" pitchFamily="34" charset="-122"/>
                <a:cs typeface="Calibri" pitchFamily="34" charset="-120"/>
              </a:rPr>
              <a:t>delivery phases</a:t>
            </a:r>
            <a:endParaRPr lang="en-US" sz="1200" dirty="0"/>
          </a:p>
        </p:txBody>
      </p:sp>
      <p:sp>
        <p:nvSpPr>
          <p:cNvPr id="18" name="Text 16"/>
          <p:cNvSpPr/>
          <p:nvPr/>
        </p:nvSpPr>
        <p:spPr>
          <a:xfrm>
            <a:off x="7744968" y="3749040"/>
            <a:ext cx="1051560" cy="685800"/>
          </a:xfrm>
          <a:prstGeom prst="rect">
            <a:avLst/>
          </a:prstGeom>
          <a:noFill/>
          <a:ln/>
        </p:spPr>
        <p:txBody>
          <a:bodyPr wrap="square" rtlCol="0" anchor="ctr"/>
          <a:lstStyle/>
          <a:p>
            <a:pPr marL="0" indent="0">
              <a:buNone/>
            </a:pPr>
            <a:r>
              <a:rPr lang="en-US" sz="3300" b="1" dirty="0">
                <a:solidFill>
                  <a:srgbClr val="1B2F4E"/>
                </a:solidFill>
                <a:latin typeface="Cambria" pitchFamily="34" charset="0"/>
                <a:ea typeface="Cambria" pitchFamily="34" charset="-122"/>
                <a:cs typeface="Cambria" pitchFamily="34" charset="-120"/>
              </a:rPr>
              <a:t>24</a:t>
            </a:r>
            <a:endParaRPr lang="en-US" sz="3300" dirty="0"/>
          </a:p>
        </p:txBody>
      </p:sp>
      <p:sp>
        <p:nvSpPr>
          <p:cNvPr id="19" name="Text 17"/>
          <p:cNvSpPr/>
          <p:nvPr/>
        </p:nvSpPr>
        <p:spPr>
          <a:xfrm>
            <a:off x="8823960" y="3749040"/>
            <a:ext cx="2423160" cy="685800"/>
          </a:xfrm>
          <a:prstGeom prst="rect">
            <a:avLst/>
          </a:prstGeom>
          <a:noFill/>
          <a:ln/>
        </p:spPr>
        <p:txBody>
          <a:bodyPr wrap="square" rtlCol="0" anchor="ctr"/>
          <a:lstStyle/>
          <a:p>
            <a:pPr marL="0" indent="0">
              <a:lnSpc>
                <a:spcPct val="110000"/>
              </a:lnSpc>
              <a:buNone/>
            </a:pPr>
            <a:r>
              <a:rPr lang="en-US" sz="1200" dirty="0">
                <a:solidFill>
                  <a:srgbClr val="5D6B7A"/>
                </a:solidFill>
                <a:latin typeface="Calibri" pitchFamily="34" charset="0"/>
                <a:ea typeface="Calibri" pitchFamily="34" charset="-122"/>
                <a:cs typeface="Calibri" pitchFamily="34" charset="-120"/>
              </a:rPr>
              <a:t>week program duration</a:t>
            </a:r>
            <a:endParaRPr lang="en-US" sz="1200" dirty="0"/>
          </a:p>
        </p:txBody>
      </p:sp>
      <p:sp>
        <p:nvSpPr>
          <p:cNvPr id="20" name="Text 18"/>
          <p:cNvSpPr/>
          <p:nvPr/>
        </p:nvSpPr>
        <p:spPr>
          <a:xfrm>
            <a:off x="7744968" y="4572000"/>
            <a:ext cx="1051560" cy="685800"/>
          </a:xfrm>
          <a:prstGeom prst="rect">
            <a:avLst/>
          </a:prstGeom>
          <a:noFill/>
          <a:ln/>
        </p:spPr>
        <p:txBody>
          <a:bodyPr wrap="square" rtlCol="0" anchor="ctr"/>
          <a:lstStyle/>
          <a:p>
            <a:pPr marL="0" indent="0">
              <a:buNone/>
            </a:pPr>
            <a:r>
              <a:rPr lang="en-US" sz="3300" b="1" dirty="0">
                <a:solidFill>
                  <a:srgbClr val="1B2F4E"/>
                </a:solidFill>
                <a:latin typeface="Cambria" pitchFamily="34" charset="0"/>
                <a:ea typeface="Cambria" pitchFamily="34" charset="-122"/>
                <a:cs typeface="Cambria" pitchFamily="34" charset="-120"/>
              </a:rPr>
              <a:t>10</a:t>
            </a:r>
            <a:endParaRPr lang="en-US" sz="3300" dirty="0"/>
          </a:p>
        </p:txBody>
      </p:sp>
      <p:sp>
        <p:nvSpPr>
          <p:cNvPr id="21" name="Text 19"/>
          <p:cNvSpPr/>
          <p:nvPr/>
        </p:nvSpPr>
        <p:spPr>
          <a:xfrm>
            <a:off x="8823960" y="4572000"/>
            <a:ext cx="2423160" cy="685800"/>
          </a:xfrm>
          <a:prstGeom prst="rect">
            <a:avLst/>
          </a:prstGeom>
          <a:noFill/>
          <a:ln/>
        </p:spPr>
        <p:txBody>
          <a:bodyPr wrap="square" rtlCol="0" anchor="ctr"/>
          <a:lstStyle/>
          <a:p>
            <a:pPr marL="0" indent="0">
              <a:lnSpc>
                <a:spcPct val="110000"/>
              </a:lnSpc>
              <a:buNone/>
            </a:pPr>
            <a:r>
              <a:rPr lang="en-US" sz="1200" dirty="0">
                <a:solidFill>
                  <a:srgbClr val="5D6B7A"/>
                </a:solidFill>
                <a:latin typeface="Calibri" pitchFamily="34" charset="0"/>
                <a:ea typeface="Calibri" pitchFamily="34" charset="-122"/>
                <a:cs typeface="Calibri" pitchFamily="34" charset="-120"/>
              </a:rPr>
              <a:t>risk categories tracked</a:t>
            </a:r>
            <a:endParaRPr lang="en-US" sz="1200" dirty="0"/>
          </a:p>
        </p:txBody>
      </p:sp>
      <p:sp>
        <p:nvSpPr>
          <p:cNvPr id="22" name="Text 20"/>
          <p:cNvSpPr/>
          <p:nvPr/>
        </p:nvSpPr>
        <p:spPr>
          <a:xfrm>
            <a:off x="7744968" y="5394960"/>
            <a:ext cx="1051560" cy="685800"/>
          </a:xfrm>
          <a:prstGeom prst="rect">
            <a:avLst/>
          </a:prstGeom>
          <a:noFill/>
          <a:ln/>
        </p:spPr>
        <p:txBody>
          <a:bodyPr wrap="square" rtlCol="0" anchor="ctr"/>
          <a:lstStyle/>
          <a:p>
            <a:pPr marL="0" indent="0">
              <a:buNone/>
            </a:pPr>
            <a:r>
              <a:rPr lang="en-US" sz="3300" b="1" dirty="0">
                <a:solidFill>
                  <a:srgbClr val="1B2F4E"/>
                </a:solidFill>
                <a:latin typeface="Cambria" pitchFamily="34" charset="0"/>
                <a:ea typeface="Cambria" pitchFamily="34" charset="-122"/>
                <a:cs typeface="Cambria" pitchFamily="34" charset="-120"/>
              </a:rPr>
              <a:t>4</a:t>
            </a:r>
            <a:endParaRPr lang="en-US" sz="3300" dirty="0"/>
          </a:p>
        </p:txBody>
      </p:sp>
      <p:sp>
        <p:nvSpPr>
          <p:cNvPr id="23" name="Text 21"/>
          <p:cNvSpPr/>
          <p:nvPr/>
        </p:nvSpPr>
        <p:spPr>
          <a:xfrm>
            <a:off x="8823960" y="5394960"/>
            <a:ext cx="2423160" cy="685800"/>
          </a:xfrm>
          <a:prstGeom prst="rect">
            <a:avLst/>
          </a:prstGeom>
          <a:noFill/>
          <a:ln/>
        </p:spPr>
        <p:txBody>
          <a:bodyPr wrap="square" rtlCol="0" anchor="ctr"/>
          <a:lstStyle/>
          <a:p>
            <a:pPr marL="0" indent="0">
              <a:lnSpc>
                <a:spcPct val="110000"/>
              </a:lnSpc>
              <a:buNone/>
            </a:pPr>
            <a:r>
              <a:rPr lang="en-US" sz="1200" dirty="0">
                <a:solidFill>
                  <a:srgbClr val="5D6B7A"/>
                </a:solidFill>
                <a:latin typeface="Calibri" pitchFamily="34" charset="0"/>
                <a:ea typeface="Calibri" pitchFamily="34" charset="-122"/>
                <a:cs typeface="Calibri" pitchFamily="34" charset="-120"/>
              </a:rPr>
              <a:t>source file formats ingested</a:t>
            </a:r>
            <a:endParaRPr lang="en-US" sz="1200" dirty="0"/>
          </a:p>
        </p:txBody>
      </p:sp>
      <p:sp>
        <p:nvSpPr>
          <p:cNvPr id="24" name="Text 22"/>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MIRA — Multi-Agent PMO Orchestrator</a:t>
            </a:r>
            <a:endParaRPr lang="en-US" sz="900" dirty="0"/>
          </a:p>
        </p:txBody>
      </p:sp>
      <p:sp>
        <p:nvSpPr>
          <p:cNvPr id="25" name="Text 23"/>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D6B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rtlCol="0" anchor="ctr"/>
          <a:lstStyle/>
          <a:p>
            <a:pPr marL="0" indent="0" algn="l">
              <a:buNone/>
            </a:pPr>
            <a:r>
              <a:rPr lang="en-US" sz="1250" b="1" kern="0" spc="200" dirty="0">
                <a:solidFill>
                  <a:srgbClr val="3E6B8A"/>
                </a:solidFill>
                <a:latin typeface="Calibri" pitchFamily="34" charset="0"/>
                <a:ea typeface="Calibri" pitchFamily="34" charset="-122"/>
                <a:cs typeface="Calibri" pitchFamily="34" charset="-120"/>
              </a:rPr>
              <a:t>THE DELIVERY TEAM</a:t>
            </a:r>
            <a:endParaRPr lang="en-US" sz="1250" dirty="0"/>
          </a:p>
        </p:txBody>
      </p:sp>
      <p:sp>
        <p:nvSpPr>
          <p:cNvPr id="3" name="Text 1"/>
          <p:cNvSpPr/>
          <p:nvPr/>
        </p:nvSpPr>
        <p:spPr>
          <a:xfrm>
            <a:off x="640080" y="658368"/>
            <a:ext cx="10607040" cy="658368"/>
          </a:xfrm>
          <a:prstGeom prst="rect">
            <a:avLst/>
          </a:prstGeom>
          <a:noFill/>
          <a:ln/>
        </p:spPr>
        <p:txBody>
          <a:bodyPr wrap="square" rtlCol="0" anchor="ctr"/>
          <a:lstStyle/>
          <a:p>
            <a:pPr marL="0" indent="0" algn="l">
              <a:buNone/>
            </a:pPr>
            <a:r>
              <a:rPr lang="en-US" sz="3200" b="1" dirty="0">
                <a:solidFill>
                  <a:srgbClr val="1B2F4E"/>
                </a:solidFill>
                <a:latin typeface="Cambria" pitchFamily="34" charset="0"/>
                <a:ea typeface="Cambria" pitchFamily="34" charset="-122"/>
                <a:cs typeface="Cambria" pitchFamily="34" charset="-120"/>
              </a:rPr>
              <a:t>15 Specialists, 5 Functional Pods</a:t>
            </a:r>
            <a:endParaRPr lang="en-US" sz="3200" dirty="0"/>
          </a:p>
        </p:txBody>
      </p:sp>
      <p:sp>
        <p:nvSpPr>
          <p:cNvPr id="4" name="Text 2"/>
          <p:cNvSpPr/>
          <p:nvPr/>
        </p:nvSpPr>
        <p:spPr>
          <a:xfrm>
            <a:off x="640080" y="1298448"/>
            <a:ext cx="10424160" cy="365760"/>
          </a:xfrm>
          <a:prstGeom prst="rect">
            <a:avLst/>
          </a:prstGeom>
          <a:noFill/>
          <a:ln/>
        </p:spPr>
        <p:txBody>
          <a:bodyPr wrap="square" rtlCol="0" anchor="ctr"/>
          <a:lstStyle/>
          <a:p>
            <a:pPr marL="0" indent="0">
              <a:buNone/>
            </a:pPr>
            <a:r>
              <a:rPr lang="en-US" sz="1300" dirty="0">
                <a:solidFill>
                  <a:srgbClr val="5D6B7A"/>
                </a:solidFill>
                <a:latin typeface="Calibri" pitchFamily="34" charset="0"/>
                <a:ea typeface="Calibri" pitchFamily="34" charset="-122"/>
                <a:cs typeface="Calibri" pitchFamily="34" charset="-120"/>
              </a:rPr>
              <a:t>The AI Adoption task force spans delivery, engineering, governance and enablement — the exact structure Mira's plan generator has to reason over.</a:t>
            </a:r>
            <a:endParaRPr lang="en-US" sz="1300" dirty="0"/>
          </a:p>
        </p:txBody>
      </p:sp>
      <p:sp>
        <p:nvSpPr>
          <p:cNvPr id="5" name="Shape 3"/>
          <p:cNvSpPr/>
          <p:nvPr/>
        </p:nvSpPr>
        <p:spPr>
          <a:xfrm>
            <a:off x="640080" y="1874520"/>
            <a:ext cx="2084832" cy="4434840"/>
          </a:xfrm>
          <a:prstGeom prst="roundRect">
            <a:avLst>
              <a:gd name="adj" fmla="val 3070"/>
            </a:avLst>
          </a:prstGeom>
          <a:solidFill>
            <a:srgbClr val="F4F6F9"/>
          </a:solidFill>
          <a:ln w="12700">
            <a:solidFill>
              <a:srgbClr val="E1E6ED"/>
            </a:solidFill>
            <a:prstDash val="solid"/>
          </a:ln>
        </p:spPr>
      </p:sp>
      <p:sp>
        <p:nvSpPr>
          <p:cNvPr id="6" name="Shape 4"/>
          <p:cNvSpPr/>
          <p:nvPr/>
        </p:nvSpPr>
        <p:spPr>
          <a:xfrm>
            <a:off x="640080" y="1874520"/>
            <a:ext cx="2084832" cy="566928"/>
          </a:xfrm>
          <a:prstGeom prst="roundRect">
            <a:avLst>
              <a:gd name="adj" fmla="val 11290"/>
            </a:avLst>
          </a:prstGeom>
          <a:solidFill>
            <a:srgbClr val="1B2F4E"/>
          </a:solidFill>
          <a:ln/>
        </p:spPr>
      </p:sp>
      <p:sp>
        <p:nvSpPr>
          <p:cNvPr id="7" name="Shape 5"/>
          <p:cNvSpPr/>
          <p:nvPr/>
        </p:nvSpPr>
        <p:spPr>
          <a:xfrm>
            <a:off x="640080" y="2167128"/>
            <a:ext cx="2084832" cy="274320"/>
          </a:xfrm>
          <a:prstGeom prst="rect">
            <a:avLst/>
          </a:prstGeom>
          <a:solidFill>
            <a:srgbClr val="1B2F4E"/>
          </a:solidFill>
          <a:ln/>
        </p:spPr>
      </p:sp>
      <p:sp>
        <p:nvSpPr>
          <p:cNvPr id="8" name="Text 6"/>
          <p:cNvSpPr/>
          <p:nvPr/>
        </p:nvSpPr>
        <p:spPr>
          <a:xfrm>
            <a:off x="749808" y="1874520"/>
            <a:ext cx="1865376" cy="566928"/>
          </a:xfrm>
          <a:prstGeom prst="rect">
            <a:avLst/>
          </a:prstGeom>
          <a:noFill/>
          <a:ln/>
        </p:spPr>
        <p:txBody>
          <a:bodyPr wrap="square" rtlCol="0" anchor="ctr"/>
          <a:lstStyle/>
          <a:p>
            <a:pPr marL="0" indent="0" algn="ctr">
              <a:lnSpc>
                <a:spcPct val="95000"/>
              </a:lnSpc>
              <a:buNone/>
            </a:pPr>
            <a:r>
              <a:rPr lang="en-US" sz="1200" b="1" dirty="0">
                <a:solidFill>
                  <a:srgbClr val="FFFFFF"/>
                </a:solidFill>
                <a:latin typeface="Calibri" pitchFamily="34" charset="0"/>
                <a:ea typeface="Calibri" pitchFamily="34" charset="-122"/>
                <a:cs typeface="Calibri" pitchFamily="34" charset="-120"/>
              </a:rPr>
              <a:t>Program Leadership</a:t>
            </a:r>
            <a:endParaRPr lang="en-US" sz="1200" dirty="0"/>
          </a:p>
        </p:txBody>
      </p:sp>
      <p:sp>
        <p:nvSpPr>
          <p:cNvPr id="9" name="Text 7"/>
          <p:cNvSpPr/>
          <p:nvPr/>
        </p:nvSpPr>
        <p:spPr>
          <a:xfrm>
            <a:off x="768096" y="2624328"/>
            <a:ext cx="1828800" cy="274320"/>
          </a:xfrm>
          <a:prstGeom prst="rect">
            <a:avLst/>
          </a:prstGeom>
          <a:noFill/>
          <a:ln/>
        </p:spPr>
        <p:txBody>
          <a:bodyPr wrap="square" rtlCol="0" anchor="ctr"/>
          <a:lstStyle/>
          <a:p>
            <a:pPr marL="0" indent="0">
              <a:buNone/>
            </a:pPr>
            <a:r>
              <a:rPr lang="en-US" sz="1100" b="1" dirty="0">
                <a:solidFill>
                  <a:srgbClr val="1B2F4E"/>
                </a:solidFill>
                <a:latin typeface="Calibri" pitchFamily="34" charset="0"/>
                <a:ea typeface="Calibri" pitchFamily="34" charset="-122"/>
                <a:cs typeface="Calibri" pitchFamily="34" charset="-120"/>
              </a:rPr>
              <a:t>Priya Sharma</a:t>
            </a:r>
            <a:endParaRPr lang="en-US" sz="1100" dirty="0"/>
          </a:p>
        </p:txBody>
      </p:sp>
      <p:sp>
        <p:nvSpPr>
          <p:cNvPr id="10" name="Text 8"/>
          <p:cNvSpPr/>
          <p:nvPr/>
        </p:nvSpPr>
        <p:spPr>
          <a:xfrm>
            <a:off x="768096" y="2862072"/>
            <a:ext cx="1828800" cy="457200"/>
          </a:xfrm>
          <a:prstGeom prst="rect">
            <a:avLst/>
          </a:prstGeom>
          <a:noFill/>
          <a:ln/>
        </p:spPr>
        <p:txBody>
          <a:bodyPr wrap="square" rtlCol="0" anchor="ctr"/>
          <a:lstStyle/>
          <a:p>
            <a:pPr marL="0" indent="0">
              <a:lnSpc>
                <a:spcPct val="105000"/>
              </a:lnSpc>
              <a:buNone/>
            </a:pPr>
            <a:r>
              <a:rPr lang="en-US" sz="950" dirty="0">
                <a:solidFill>
                  <a:srgbClr val="5D6B7A"/>
                </a:solidFill>
                <a:latin typeface="Calibri" pitchFamily="34" charset="0"/>
                <a:ea typeface="Calibri" pitchFamily="34" charset="-122"/>
                <a:cs typeface="Calibri" pitchFamily="34" charset="-120"/>
              </a:rPr>
              <a:t>Project Manager</a:t>
            </a:r>
            <a:endParaRPr lang="en-US" sz="950" dirty="0"/>
          </a:p>
        </p:txBody>
      </p:sp>
      <p:sp>
        <p:nvSpPr>
          <p:cNvPr id="11" name="Shape 9"/>
          <p:cNvSpPr/>
          <p:nvPr/>
        </p:nvSpPr>
        <p:spPr>
          <a:xfrm>
            <a:off x="2852928" y="1874520"/>
            <a:ext cx="2084832" cy="4434840"/>
          </a:xfrm>
          <a:prstGeom prst="roundRect">
            <a:avLst>
              <a:gd name="adj" fmla="val 3070"/>
            </a:avLst>
          </a:prstGeom>
          <a:solidFill>
            <a:srgbClr val="F4F6F9"/>
          </a:solidFill>
          <a:ln w="12700">
            <a:solidFill>
              <a:srgbClr val="E1E6ED"/>
            </a:solidFill>
            <a:prstDash val="solid"/>
          </a:ln>
        </p:spPr>
      </p:sp>
      <p:sp>
        <p:nvSpPr>
          <p:cNvPr id="12" name="Shape 10"/>
          <p:cNvSpPr/>
          <p:nvPr/>
        </p:nvSpPr>
        <p:spPr>
          <a:xfrm>
            <a:off x="2852928" y="1874520"/>
            <a:ext cx="2084832" cy="566928"/>
          </a:xfrm>
          <a:prstGeom prst="roundRect">
            <a:avLst>
              <a:gd name="adj" fmla="val 11290"/>
            </a:avLst>
          </a:prstGeom>
          <a:solidFill>
            <a:srgbClr val="3E6B8A"/>
          </a:solidFill>
          <a:ln/>
        </p:spPr>
      </p:sp>
      <p:sp>
        <p:nvSpPr>
          <p:cNvPr id="13" name="Shape 11"/>
          <p:cNvSpPr/>
          <p:nvPr/>
        </p:nvSpPr>
        <p:spPr>
          <a:xfrm>
            <a:off x="2852928" y="2167128"/>
            <a:ext cx="2084832" cy="274320"/>
          </a:xfrm>
          <a:prstGeom prst="rect">
            <a:avLst/>
          </a:prstGeom>
          <a:solidFill>
            <a:srgbClr val="3E6B8A"/>
          </a:solidFill>
          <a:ln/>
        </p:spPr>
      </p:sp>
      <p:sp>
        <p:nvSpPr>
          <p:cNvPr id="14" name="Text 12"/>
          <p:cNvSpPr/>
          <p:nvPr/>
        </p:nvSpPr>
        <p:spPr>
          <a:xfrm>
            <a:off x="2962656" y="1874520"/>
            <a:ext cx="1865376" cy="566928"/>
          </a:xfrm>
          <a:prstGeom prst="rect">
            <a:avLst/>
          </a:prstGeom>
          <a:noFill/>
          <a:ln/>
        </p:spPr>
        <p:txBody>
          <a:bodyPr wrap="square" rtlCol="0" anchor="ctr"/>
          <a:lstStyle/>
          <a:p>
            <a:pPr marL="0" indent="0" algn="ctr">
              <a:lnSpc>
                <a:spcPct val="95000"/>
              </a:lnSpc>
              <a:buNone/>
            </a:pPr>
            <a:r>
              <a:rPr lang="en-US" sz="1200" b="1" dirty="0">
                <a:solidFill>
                  <a:srgbClr val="FFFFFF"/>
                </a:solidFill>
                <a:latin typeface="Calibri" pitchFamily="34" charset="0"/>
                <a:ea typeface="Calibri" pitchFamily="34" charset="-122"/>
                <a:cs typeface="Calibri" pitchFamily="34" charset="-120"/>
              </a:rPr>
              <a:t>Data &amp; AI Engineering</a:t>
            </a:r>
            <a:endParaRPr lang="en-US" sz="1200" dirty="0"/>
          </a:p>
        </p:txBody>
      </p:sp>
      <p:sp>
        <p:nvSpPr>
          <p:cNvPr id="15" name="Text 13"/>
          <p:cNvSpPr/>
          <p:nvPr/>
        </p:nvSpPr>
        <p:spPr>
          <a:xfrm>
            <a:off x="2980944" y="2624328"/>
            <a:ext cx="1828800" cy="274320"/>
          </a:xfrm>
          <a:prstGeom prst="rect">
            <a:avLst/>
          </a:prstGeom>
          <a:noFill/>
          <a:ln/>
        </p:spPr>
        <p:txBody>
          <a:bodyPr wrap="square" rtlCol="0" anchor="ctr"/>
          <a:lstStyle/>
          <a:p>
            <a:pPr marL="0" indent="0">
              <a:buNone/>
            </a:pPr>
            <a:r>
              <a:rPr lang="en-US" sz="1100" b="1" dirty="0">
                <a:solidFill>
                  <a:srgbClr val="1B2F4E"/>
                </a:solidFill>
                <a:latin typeface="Calibri" pitchFamily="34" charset="0"/>
                <a:ea typeface="Calibri" pitchFamily="34" charset="-122"/>
                <a:cs typeface="Calibri" pitchFamily="34" charset="-120"/>
              </a:rPr>
              <a:t>Ravi Mehta</a:t>
            </a:r>
            <a:endParaRPr lang="en-US" sz="1100" dirty="0"/>
          </a:p>
        </p:txBody>
      </p:sp>
      <p:sp>
        <p:nvSpPr>
          <p:cNvPr id="16" name="Text 14"/>
          <p:cNvSpPr/>
          <p:nvPr/>
        </p:nvSpPr>
        <p:spPr>
          <a:xfrm>
            <a:off x="2980944" y="2862072"/>
            <a:ext cx="1828800" cy="457200"/>
          </a:xfrm>
          <a:prstGeom prst="rect">
            <a:avLst/>
          </a:prstGeom>
          <a:noFill/>
          <a:ln/>
        </p:spPr>
        <p:txBody>
          <a:bodyPr wrap="square" rtlCol="0" anchor="ctr"/>
          <a:lstStyle/>
          <a:p>
            <a:pPr marL="0" indent="0">
              <a:lnSpc>
                <a:spcPct val="105000"/>
              </a:lnSpc>
              <a:buNone/>
            </a:pPr>
            <a:r>
              <a:rPr lang="en-US" sz="950" dirty="0">
                <a:solidFill>
                  <a:srgbClr val="5D6B7A"/>
                </a:solidFill>
                <a:latin typeface="Calibri" pitchFamily="34" charset="0"/>
                <a:ea typeface="Calibri" pitchFamily="34" charset="-122"/>
                <a:cs typeface="Calibri" pitchFamily="34" charset="-120"/>
              </a:rPr>
              <a:t>AI/ML Lead</a:t>
            </a:r>
            <a:endParaRPr lang="en-US" sz="950" dirty="0"/>
          </a:p>
        </p:txBody>
      </p:sp>
      <p:sp>
        <p:nvSpPr>
          <p:cNvPr id="17" name="Text 15"/>
          <p:cNvSpPr/>
          <p:nvPr/>
        </p:nvSpPr>
        <p:spPr>
          <a:xfrm>
            <a:off x="2980944" y="3374136"/>
            <a:ext cx="1828800" cy="274320"/>
          </a:xfrm>
          <a:prstGeom prst="rect">
            <a:avLst/>
          </a:prstGeom>
          <a:noFill/>
          <a:ln/>
        </p:spPr>
        <p:txBody>
          <a:bodyPr wrap="square" rtlCol="0" anchor="ctr"/>
          <a:lstStyle/>
          <a:p>
            <a:pPr marL="0" indent="0">
              <a:buNone/>
            </a:pPr>
            <a:r>
              <a:rPr lang="en-US" sz="1100" b="1" dirty="0">
                <a:solidFill>
                  <a:srgbClr val="1B2F4E"/>
                </a:solidFill>
                <a:latin typeface="Calibri" pitchFamily="34" charset="0"/>
                <a:ea typeface="Calibri" pitchFamily="34" charset="-122"/>
                <a:cs typeface="Calibri" pitchFamily="34" charset="-120"/>
              </a:rPr>
              <a:t>Anjali Desai</a:t>
            </a:r>
            <a:endParaRPr lang="en-US" sz="1100" dirty="0"/>
          </a:p>
        </p:txBody>
      </p:sp>
      <p:sp>
        <p:nvSpPr>
          <p:cNvPr id="18" name="Text 16"/>
          <p:cNvSpPr/>
          <p:nvPr/>
        </p:nvSpPr>
        <p:spPr>
          <a:xfrm>
            <a:off x="2980944" y="3611880"/>
            <a:ext cx="1828800" cy="457200"/>
          </a:xfrm>
          <a:prstGeom prst="rect">
            <a:avLst/>
          </a:prstGeom>
          <a:noFill/>
          <a:ln/>
        </p:spPr>
        <p:txBody>
          <a:bodyPr wrap="square" rtlCol="0" anchor="ctr"/>
          <a:lstStyle/>
          <a:p>
            <a:pPr marL="0" indent="0">
              <a:lnSpc>
                <a:spcPct val="105000"/>
              </a:lnSpc>
              <a:buNone/>
            </a:pPr>
            <a:r>
              <a:rPr lang="en-US" sz="950" dirty="0">
                <a:solidFill>
                  <a:srgbClr val="5D6B7A"/>
                </a:solidFill>
                <a:latin typeface="Calibri" pitchFamily="34" charset="0"/>
                <a:ea typeface="Calibri" pitchFamily="34" charset="-122"/>
                <a:cs typeface="Calibri" pitchFamily="34" charset="-120"/>
              </a:rPr>
              <a:t>Data Scientist</a:t>
            </a:r>
            <a:endParaRPr lang="en-US" sz="950" dirty="0"/>
          </a:p>
        </p:txBody>
      </p:sp>
      <p:sp>
        <p:nvSpPr>
          <p:cNvPr id="19" name="Text 17"/>
          <p:cNvSpPr/>
          <p:nvPr/>
        </p:nvSpPr>
        <p:spPr>
          <a:xfrm>
            <a:off x="2980944" y="4123944"/>
            <a:ext cx="1828800" cy="274320"/>
          </a:xfrm>
          <a:prstGeom prst="rect">
            <a:avLst/>
          </a:prstGeom>
          <a:noFill/>
          <a:ln/>
        </p:spPr>
        <p:txBody>
          <a:bodyPr wrap="square" rtlCol="0" anchor="ctr"/>
          <a:lstStyle/>
          <a:p>
            <a:pPr marL="0" indent="0">
              <a:buNone/>
            </a:pPr>
            <a:r>
              <a:rPr lang="en-US" sz="1100" b="1" dirty="0">
                <a:solidFill>
                  <a:srgbClr val="1B2F4E"/>
                </a:solidFill>
                <a:latin typeface="Calibri" pitchFamily="34" charset="0"/>
                <a:ea typeface="Calibri" pitchFamily="34" charset="-122"/>
                <a:cs typeface="Calibri" pitchFamily="34" charset="-120"/>
              </a:rPr>
              <a:t>Mohan Iyer</a:t>
            </a:r>
            <a:endParaRPr lang="en-US" sz="1100" dirty="0"/>
          </a:p>
        </p:txBody>
      </p:sp>
      <p:sp>
        <p:nvSpPr>
          <p:cNvPr id="20" name="Text 18"/>
          <p:cNvSpPr/>
          <p:nvPr/>
        </p:nvSpPr>
        <p:spPr>
          <a:xfrm>
            <a:off x="2980944" y="4361688"/>
            <a:ext cx="1828800" cy="457200"/>
          </a:xfrm>
          <a:prstGeom prst="rect">
            <a:avLst/>
          </a:prstGeom>
          <a:noFill/>
          <a:ln/>
        </p:spPr>
        <p:txBody>
          <a:bodyPr wrap="square" rtlCol="0" anchor="ctr"/>
          <a:lstStyle/>
          <a:p>
            <a:pPr marL="0" indent="0">
              <a:lnSpc>
                <a:spcPct val="105000"/>
              </a:lnSpc>
              <a:buNone/>
            </a:pPr>
            <a:r>
              <a:rPr lang="en-US" sz="950" dirty="0">
                <a:solidFill>
                  <a:srgbClr val="5D6B7A"/>
                </a:solidFill>
                <a:latin typeface="Calibri" pitchFamily="34" charset="0"/>
                <a:ea typeface="Calibri" pitchFamily="34" charset="-122"/>
                <a:cs typeface="Calibri" pitchFamily="34" charset="-120"/>
              </a:rPr>
              <a:t>Data Engineer</a:t>
            </a:r>
            <a:endParaRPr lang="en-US" sz="950" dirty="0"/>
          </a:p>
        </p:txBody>
      </p:sp>
      <p:sp>
        <p:nvSpPr>
          <p:cNvPr id="21" name="Text 19"/>
          <p:cNvSpPr/>
          <p:nvPr/>
        </p:nvSpPr>
        <p:spPr>
          <a:xfrm>
            <a:off x="2980944" y="4873752"/>
            <a:ext cx="1828800" cy="274320"/>
          </a:xfrm>
          <a:prstGeom prst="rect">
            <a:avLst/>
          </a:prstGeom>
          <a:noFill/>
          <a:ln/>
        </p:spPr>
        <p:txBody>
          <a:bodyPr wrap="square" rtlCol="0" anchor="ctr"/>
          <a:lstStyle/>
          <a:p>
            <a:pPr marL="0" indent="0">
              <a:buNone/>
            </a:pPr>
            <a:r>
              <a:rPr lang="en-US" sz="1100" b="1" dirty="0">
                <a:solidFill>
                  <a:srgbClr val="1B2F4E"/>
                </a:solidFill>
                <a:latin typeface="Calibri" pitchFamily="34" charset="0"/>
                <a:ea typeface="Calibri" pitchFamily="34" charset="-122"/>
                <a:cs typeface="Calibri" pitchFamily="34" charset="-120"/>
              </a:rPr>
              <a:t>Akash Verma</a:t>
            </a:r>
            <a:endParaRPr lang="en-US" sz="1100" dirty="0"/>
          </a:p>
        </p:txBody>
      </p:sp>
      <p:sp>
        <p:nvSpPr>
          <p:cNvPr id="22" name="Text 20"/>
          <p:cNvSpPr/>
          <p:nvPr/>
        </p:nvSpPr>
        <p:spPr>
          <a:xfrm>
            <a:off x="2980944" y="5111496"/>
            <a:ext cx="1828800" cy="457200"/>
          </a:xfrm>
          <a:prstGeom prst="rect">
            <a:avLst/>
          </a:prstGeom>
          <a:noFill/>
          <a:ln/>
        </p:spPr>
        <p:txBody>
          <a:bodyPr wrap="square" rtlCol="0" anchor="ctr"/>
          <a:lstStyle/>
          <a:p>
            <a:pPr marL="0" indent="0">
              <a:lnSpc>
                <a:spcPct val="105000"/>
              </a:lnSpc>
              <a:buNone/>
            </a:pPr>
            <a:r>
              <a:rPr lang="en-US" sz="950" dirty="0">
                <a:solidFill>
                  <a:srgbClr val="5D6B7A"/>
                </a:solidFill>
                <a:latin typeface="Calibri" pitchFamily="34" charset="0"/>
                <a:ea typeface="Calibri" pitchFamily="34" charset="-122"/>
                <a:cs typeface="Calibri" pitchFamily="34" charset="-120"/>
              </a:rPr>
              <a:t>DevOps Engineer</a:t>
            </a:r>
            <a:endParaRPr lang="en-US" sz="950" dirty="0"/>
          </a:p>
        </p:txBody>
      </p:sp>
      <p:sp>
        <p:nvSpPr>
          <p:cNvPr id="23" name="Shape 21"/>
          <p:cNvSpPr/>
          <p:nvPr/>
        </p:nvSpPr>
        <p:spPr>
          <a:xfrm>
            <a:off x="5065776" y="1874520"/>
            <a:ext cx="2084832" cy="4434840"/>
          </a:xfrm>
          <a:prstGeom prst="roundRect">
            <a:avLst>
              <a:gd name="adj" fmla="val 3070"/>
            </a:avLst>
          </a:prstGeom>
          <a:solidFill>
            <a:srgbClr val="F4F6F9"/>
          </a:solidFill>
          <a:ln w="12700">
            <a:solidFill>
              <a:srgbClr val="E1E6ED"/>
            </a:solidFill>
            <a:prstDash val="solid"/>
          </a:ln>
        </p:spPr>
      </p:sp>
      <p:sp>
        <p:nvSpPr>
          <p:cNvPr id="24" name="Shape 22"/>
          <p:cNvSpPr/>
          <p:nvPr/>
        </p:nvSpPr>
        <p:spPr>
          <a:xfrm>
            <a:off x="5065776" y="1874520"/>
            <a:ext cx="2084832" cy="566928"/>
          </a:xfrm>
          <a:prstGeom prst="roundRect">
            <a:avLst>
              <a:gd name="adj" fmla="val 11290"/>
            </a:avLst>
          </a:prstGeom>
          <a:solidFill>
            <a:srgbClr val="D98E2B"/>
          </a:solidFill>
          <a:ln/>
        </p:spPr>
      </p:sp>
      <p:sp>
        <p:nvSpPr>
          <p:cNvPr id="25" name="Shape 23"/>
          <p:cNvSpPr/>
          <p:nvPr/>
        </p:nvSpPr>
        <p:spPr>
          <a:xfrm>
            <a:off x="5065776" y="2167128"/>
            <a:ext cx="2084832" cy="274320"/>
          </a:xfrm>
          <a:prstGeom prst="rect">
            <a:avLst/>
          </a:prstGeom>
          <a:solidFill>
            <a:srgbClr val="D98E2B"/>
          </a:solidFill>
          <a:ln/>
        </p:spPr>
      </p:sp>
      <p:sp>
        <p:nvSpPr>
          <p:cNvPr id="26" name="Text 24"/>
          <p:cNvSpPr/>
          <p:nvPr/>
        </p:nvSpPr>
        <p:spPr>
          <a:xfrm>
            <a:off x="5175504" y="1874520"/>
            <a:ext cx="1865376" cy="566928"/>
          </a:xfrm>
          <a:prstGeom prst="rect">
            <a:avLst/>
          </a:prstGeom>
          <a:noFill/>
          <a:ln/>
        </p:spPr>
        <p:txBody>
          <a:bodyPr wrap="square" rtlCol="0" anchor="ctr"/>
          <a:lstStyle/>
          <a:p>
            <a:pPr marL="0" indent="0" algn="ctr">
              <a:lnSpc>
                <a:spcPct val="95000"/>
              </a:lnSpc>
              <a:buNone/>
            </a:pPr>
            <a:r>
              <a:rPr lang="en-US" sz="1200" b="1" dirty="0">
                <a:solidFill>
                  <a:srgbClr val="FFFFFF"/>
                </a:solidFill>
                <a:latin typeface="Calibri" pitchFamily="34" charset="0"/>
                <a:ea typeface="Calibri" pitchFamily="34" charset="-122"/>
                <a:cs typeface="Calibri" pitchFamily="34" charset="-120"/>
              </a:rPr>
              <a:t>Business &amp; Experience</a:t>
            </a:r>
            <a:endParaRPr lang="en-US" sz="1200" dirty="0"/>
          </a:p>
        </p:txBody>
      </p:sp>
      <p:sp>
        <p:nvSpPr>
          <p:cNvPr id="27" name="Text 25"/>
          <p:cNvSpPr/>
          <p:nvPr/>
        </p:nvSpPr>
        <p:spPr>
          <a:xfrm>
            <a:off x="5193792" y="2624328"/>
            <a:ext cx="1828800" cy="274320"/>
          </a:xfrm>
          <a:prstGeom prst="rect">
            <a:avLst/>
          </a:prstGeom>
          <a:noFill/>
          <a:ln/>
        </p:spPr>
        <p:txBody>
          <a:bodyPr wrap="square" rtlCol="0" anchor="ctr"/>
          <a:lstStyle/>
          <a:p>
            <a:pPr marL="0" indent="0">
              <a:buNone/>
            </a:pPr>
            <a:r>
              <a:rPr lang="en-US" sz="1100" b="1" dirty="0">
                <a:solidFill>
                  <a:srgbClr val="1B2F4E"/>
                </a:solidFill>
                <a:latin typeface="Calibri" pitchFamily="34" charset="0"/>
                <a:ea typeface="Calibri" pitchFamily="34" charset="-122"/>
                <a:cs typeface="Calibri" pitchFamily="34" charset="-120"/>
              </a:rPr>
              <a:t>Shalini Rao</a:t>
            </a:r>
            <a:endParaRPr lang="en-US" sz="1100" dirty="0"/>
          </a:p>
        </p:txBody>
      </p:sp>
      <p:sp>
        <p:nvSpPr>
          <p:cNvPr id="28" name="Text 26"/>
          <p:cNvSpPr/>
          <p:nvPr/>
        </p:nvSpPr>
        <p:spPr>
          <a:xfrm>
            <a:off x="5193792" y="2862072"/>
            <a:ext cx="1828800" cy="457200"/>
          </a:xfrm>
          <a:prstGeom prst="rect">
            <a:avLst/>
          </a:prstGeom>
          <a:noFill/>
          <a:ln/>
        </p:spPr>
        <p:txBody>
          <a:bodyPr wrap="square" rtlCol="0" anchor="ctr"/>
          <a:lstStyle/>
          <a:p>
            <a:pPr marL="0" indent="0">
              <a:lnSpc>
                <a:spcPct val="105000"/>
              </a:lnSpc>
              <a:buNone/>
            </a:pPr>
            <a:r>
              <a:rPr lang="en-US" sz="950" dirty="0">
                <a:solidFill>
                  <a:srgbClr val="5D6B7A"/>
                </a:solidFill>
                <a:latin typeface="Calibri" pitchFamily="34" charset="0"/>
                <a:ea typeface="Calibri" pitchFamily="34" charset="-122"/>
                <a:cs typeface="Calibri" pitchFamily="34" charset="-120"/>
              </a:rPr>
              <a:t>Business Analyst</a:t>
            </a:r>
            <a:endParaRPr lang="en-US" sz="950" dirty="0"/>
          </a:p>
        </p:txBody>
      </p:sp>
      <p:sp>
        <p:nvSpPr>
          <p:cNvPr id="29" name="Text 27"/>
          <p:cNvSpPr/>
          <p:nvPr/>
        </p:nvSpPr>
        <p:spPr>
          <a:xfrm>
            <a:off x="5193792" y="3374136"/>
            <a:ext cx="1828800" cy="274320"/>
          </a:xfrm>
          <a:prstGeom prst="rect">
            <a:avLst/>
          </a:prstGeom>
          <a:noFill/>
          <a:ln/>
        </p:spPr>
        <p:txBody>
          <a:bodyPr wrap="square" rtlCol="0" anchor="ctr"/>
          <a:lstStyle/>
          <a:p>
            <a:pPr marL="0" indent="0">
              <a:buNone/>
            </a:pPr>
            <a:r>
              <a:rPr lang="en-US" sz="1100" b="1" dirty="0">
                <a:solidFill>
                  <a:srgbClr val="1B2F4E"/>
                </a:solidFill>
                <a:latin typeface="Calibri" pitchFamily="34" charset="0"/>
                <a:ea typeface="Calibri" pitchFamily="34" charset="-122"/>
                <a:cs typeface="Calibri" pitchFamily="34" charset="-120"/>
              </a:rPr>
              <a:t>Sonia Nair</a:t>
            </a:r>
            <a:endParaRPr lang="en-US" sz="1100" dirty="0"/>
          </a:p>
        </p:txBody>
      </p:sp>
      <p:sp>
        <p:nvSpPr>
          <p:cNvPr id="30" name="Text 28"/>
          <p:cNvSpPr/>
          <p:nvPr/>
        </p:nvSpPr>
        <p:spPr>
          <a:xfrm>
            <a:off x="5193792" y="3611880"/>
            <a:ext cx="1828800" cy="457200"/>
          </a:xfrm>
          <a:prstGeom prst="rect">
            <a:avLst/>
          </a:prstGeom>
          <a:noFill/>
          <a:ln/>
        </p:spPr>
        <p:txBody>
          <a:bodyPr wrap="square" rtlCol="0" anchor="ctr"/>
          <a:lstStyle/>
          <a:p>
            <a:pPr marL="0" indent="0">
              <a:lnSpc>
                <a:spcPct val="105000"/>
              </a:lnSpc>
              <a:buNone/>
            </a:pPr>
            <a:r>
              <a:rPr lang="en-US" sz="950" dirty="0">
                <a:solidFill>
                  <a:srgbClr val="5D6B7A"/>
                </a:solidFill>
                <a:latin typeface="Calibri" pitchFamily="34" charset="0"/>
                <a:ea typeface="Calibri" pitchFamily="34" charset="-122"/>
                <a:cs typeface="Calibri" pitchFamily="34" charset="-120"/>
              </a:rPr>
              <a:t>UX/UI Designer</a:t>
            </a:r>
            <a:endParaRPr lang="en-US" sz="950" dirty="0"/>
          </a:p>
        </p:txBody>
      </p:sp>
      <p:sp>
        <p:nvSpPr>
          <p:cNvPr id="31" name="Text 29"/>
          <p:cNvSpPr/>
          <p:nvPr/>
        </p:nvSpPr>
        <p:spPr>
          <a:xfrm>
            <a:off x="5193792" y="4123944"/>
            <a:ext cx="1828800" cy="274320"/>
          </a:xfrm>
          <a:prstGeom prst="rect">
            <a:avLst/>
          </a:prstGeom>
          <a:noFill/>
          <a:ln/>
        </p:spPr>
        <p:txBody>
          <a:bodyPr wrap="square" rtlCol="0" anchor="ctr"/>
          <a:lstStyle/>
          <a:p>
            <a:pPr marL="0" indent="0">
              <a:buNone/>
            </a:pPr>
            <a:r>
              <a:rPr lang="en-US" sz="1100" b="1" dirty="0">
                <a:solidFill>
                  <a:srgbClr val="1B2F4E"/>
                </a:solidFill>
                <a:latin typeface="Calibri" pitchFamily="34" charset="0"/>
                <a:ea typeface="Calibri" pitchFamily="34" charset="-122"/>
                <a:cs typeface="Calibri" pitchFamily="34" charset="-120"/>
              </a:rPr>
              <a:t>Shruti Patil</a:t>
            </a:r>
            <a:endParaRPr lang="en-US" sz="1100" dirty="0"/>
          </a:p>
        </p:txBody>
      </p:sp>
      <p:sp>
        <p:nvSpPr>
          <p:cNvPr id="32" name="Text 30"/>
          <p:cNvSpPr/>
          <p:nvPr/>
        </p:nvSpPr>
        <p:spPr>
          <a:xfrm>
            <a:off x="5193792" y="4361688"/>
            <a:ext cx="1828800" cy="457200"/>
          </a:xfrm>
          <a:prstGeom prst="rect">
            <a:avLst/>
          </a:prstGeom>
          <a:noFill/>
          <a:ln/>
        </p:spPr>
        <p:txBody>
          <a:bodyPr wrap="square" rtlCol="0" anchor="ctr"/>
          <a:lstStyle/>
          <a:p>
            <a:pPr marL="0" indent="0">
              <a:lnSpc>
                <a:spcPct val="105000"/>
              </a:lnSpc>
              <a:buNone/>
            </a:pPr>
            <a:r>
              <a:rPr lang="en-US" sz="950" dirty="0">
                <a:solidFill>
                  <a:srgbClr val="5D6B7A"/>
                </a:solidFill>
                <a:latin typeface="Calibri" pitchFamily="34" charset="0"/>
                <a:ea typeface="Calibri" pitchFamily="34" charset="-122"/>
                <a:cs typeface="Calibri" pitchFamily="34" charset="-120"/>
              </a:rPr>
              <a:t>Customer Experience Analyst</a:t>
            </a:r>
            <a:endParaRPr lang="en-US" sz="950" dirty="0"/>
          </a:p>
        </p:txBody>
      </p:sp>
      <p:sp>
        <p:nvSpPr>
          <p:cNvPr id="33" name="Text 31"/>
          <p:cNvSpPr/>
          <p:nvPr/>
        </p:nvSpPr>
        <p:spPr>
          <a:xfrm>
            <a:off x="5193792" y="4873752"/>
            <a:ext cx="1828800" cy="274320"/>
          </a:xfrm>
          <a:prstGeom prst="rect">
            <a:avLst/>
          </a:prstGeom>
          <a:noFill/>
          <a:ln/>
        </p:spPr>
        <p:txBody>
          <a:bodyPr wrap="square" rtlCol="0" anchor="ctr"/>
          <a:lstStyle/>
          <a:p>
            <a:pPr marL="0" indent="0">
              <a:buNone/>
            </a:pPr>
            <a:r>
              <a:rPr lang="en-US" sz="1100" b="1" dirty="0">
                <a:solidFill>
                  <a:srgbClr val="1B2F4E"/>
                </a:solidFill>
                <a:latin typeface="Calibri" pitchFamily="34" charset="0"/>
                <a:ea typeface="Calibri" pitchFamily="34" charset="-122"/>
                <a:cs typeface="Calibri" pitchFamily="34" charset="-120"/>
              </a:rPr>
              <a:t>Alok Bansal</a:t>
            </a:r>
            <a:endParaRPr lang="en-US" sz="1100" dirty="0"/>
          </a:p>
        </p:txBody>
      </p:sp>
      <p:sp>
        <p:nvSpPr>
          <p:cNvPr id="34" name="Text 32"/>
          <p:cNvSpPr/>
          <p:nvPr/>
        </p:nvSpPr>
        <p:spPr>
          <a:xfrm>
            <a:off x="5193792" y="5111496"/>
            <a:ext cx="1828800" cy="457200"/>
          </a:xfrm>
          <a:prstGeom prst="rect">
            <a:avLst/>
          </a:prstGeom>
          <a:noFill/>
          <a:ln/>
        </p:spPr>
        <p:txBody>
          <a:bodyPr wrap="square" rtlCol="0" anchor="ctr"/>
          <a:lstStyle/>
          <a:p>
            <a:pPr marL="0" indent="0">
              <a:lnSpc>
                <a:spcPct val="105000"/>
              </a:lnSpc>
              <a:buNone/>
            </a:pPr>
            <a:r>
              <a:rPr lang="en-US" sz="950" dirty="0">
                <a:solidFill>
                  <a:srgbClr val="5D6B7A"/>
                </a:solidFill>
                <a:latin typeface="Calibri" pitchFamily="34" charset="0"/>
                <a:ea typeface="Calibri" pitchFamily="34" charset="-122"/>
                <a:cs typeface="Calibri" pitchFamily="34" charset="-120"/>
              </a:rPr>
              <a:t>Logistics Operations Lead</a:t>
            </a:r>
            <a:endParaRPr lang="en-US" sz="950" dirty="0"/>
          </a:p>
        </p:txBody>
      </p:sp>
      <p:sp>
        <p:nvSpPr>
          <p:cNvPr id="35" name="Shape 33"/>
          <p:cNvSpPr/>
          <p:nvPr/>
        </p:nvSpPr>
        <p:spPr>
          <a:xfrm>
            <a:off x="7278624" y="1874520"/>
            <a:ext cx="2084832" cy="4434840"/>
          </a:xfrm>
          <a:prstGeom prst="roundRect">
            <a:avLst>
              <a:gd name="adj" fmla="val 3070"/>
            </a:avLst>
          </a:prstGeom>
          <a:solidFill>
            <a:srgbClr val="F4F6F9"/>
          </a:solidFill>
          <a:ln w="12700">
            <a:solidFill>
              <a:srgbClr val="E1E6ED"/>
            </a:solidFill>
            <a:prstDash val="solid"/>
          </a:ln>
        </p:spPr>
      </p:sp>
      <p:sp>
        <p:nvSpPr>
          <p:cNvPr id="36" name="Shape 34"/>
          <p:cNvSpPr/>
          <p:nvPr/>
        </p:nvSpPr>
        <p:spPr>
          <a:xfrm>
            <a:off x="7278624" y="1874520"/>
            <a:ext cx="2084832" cy="566928"/>
          </a:xfrm>
          <a:prstGeom prst="roundRect">
            <a:avLst>
              <a:gd name="adj" fmla="val 11290"/>
            </a:avLst>
          </a:prstGeom>
          <a:solidFill>
            <a:srgbClr val="3E8E63"/>
          </a:solidFill>
          <a:ln/>
        </p:spPr>
      </p:sp>
      <p:sp>
        <p:nvSpPr>
          <p:cNvPr id="37" name="Shape 35"/>
          <p:cNvSpPr/>
          <p:nvPr/>
        </p:nvSpPr>
        <p:spPr>
          <a:xfrm>
            <a:off x="7278624" y="2167128"/>
            <a:ext cx="2084832" cy="274320"/>
          </a:xfrm>
          <a:prstGeom prst="rect">
            <a:avLst/>
          </a:prstGeom>
          <a:solidFill>
            <a:srgbClr val="3E8E63"/>
          </a:solidFill>
          <a:ln/>
        </p:spPr>
      </p:sp>
      <p:sp>
        <p:nvSpPr>
          <p:cNvPr id="38" name="Text 36"/>
          <p:cNvSpPr/>
          <p:nvPr/>
        </p:nvSpPr>
        <p:spPr>
          <a:xfrm>
            <a:off x="7388352" y="1874520"/>
            <a:ext cx="1865376" cy="566928"/>
          </a:xfrm>
          <a:prstGeom prst="rect">
            <a:avLst/>
          </a:prstGeom>
          <a:noFill/>
          <a:ln/>
        </p:spPr>
        <p:txBody>
          <a:bodyPr wrap="square" rtlCol="0" anchor="ctr"/>
          <a:lstStyle/>
          <a:p>
            <a:pPr marL="0" indent="0" algn="ctr">
              <a:lnSpc>
                <a:spcPct val="95000"/>
              </a:lnSpc>
              <a:buNone/>
            </a:pPr>
            <a:r>
              <a:rPr lang="en-US" sz="1200" b="1" dirty="0">
                <a:solidFill>
                  <a:srgbClr val="FFFFFF"/>
                </a:solidFill>
                <a:latin typeface="Calibri" pitchFamily="34" charset="0"/>
                <a:ea typeface="Calibri" pitchFamily="34" charset="-122"/>
                <a:cs typeface="Calibri" pitchFamily="34" charset="-120"/>
              </a:rPr>
              <a:t>Governance &amp; Quality</a:t>
            </a:r>
            <a:endParaRPr lang="en-US" sz="1200" dirty="0"/>
          </a:p>
        </p:txBody>
      </p:sp>
      <p:sp>
        <p:nvSpPr>
          <p:cNvPr id="39" name="Text 37"/>
          <p:cNvSpPr/>
          <p:nvPr/>
        </p:nvSpPr>
        <p:spPr>
          <a:xfrm>
            <a:off x="7406640" y="2624328"/>
            <a:ext cx="1828800" cy="274320"/>
          </a:xfrm>
          <a:prstGeom prst="rect">
            <a:avLst/>
          </a:prstGeom>
          <a:noFill/>
          <a:ln/>
        </p:spPr>
        <p:txBody>
          <a:bodyPr wrap="square" rtlCol="0" anchor="ctr"/>
          <a:lstStyle/>
          <a:p>
            <a:pPr marL="0" indent="0">
              <a:buNone/>
            </a:pPr>
            <a:r>
              <a:rPr lang="en-US" sz="1100" b="1" dirty="0">
                <a:solidFill>
                  <a:srgbClr val="1B2F4E"/>
                </a:solidFill>
                <a:latin typeface="Calibri" pitchFamily="34" charset="0"/>
                <a:ea typeface="Calibri" pitchFamily="34" charset="-122"/>
                <a:cs typeface="Calibri" pitchFamily="34" charset="-120"/>
              </a:rPr>
              <a:t>Deepak Arora</a:t>
            </a:r>
            <a:endParaRPr lang="en-US" sz="1100" dirty="0"/>
          </a:p>
        </p:txBody>
      </p:sp>
      <p:sp>
        <p:nvSpPr>
          <p:cNvPr id="40" name="Text 38"/>
          <p:cNvSpPr/>
          <p:nvPr/>
        </p:nvSpPr>
        <p:spPr>
          <a:xfrm>
            <a:off x="7406640" y="2862072"/>
            <a:ext cx="1828800" cy="457200"/>
          </a:xfrm>
          <a:prstGeom prst="rect">
            <a:avLst/>
          </a:prstGeom>
          <a:noFill/>
          <a:ln/>
        </p:spPr>
        <p:txBody>
          <a:bodyPr wrap="square" rtlCol="0" anchor="ctr"/>
          <a:lstStyle/>
          <a:p>
            <a:pPr marL="0" indent="0">
              <a:lnSpc>
                <a:spcPct val="105000"/>
              </a:lnSpc>
              <a:buNone/>
            </a:pPr>
            <a:r>
              <a:rPr lang="en-US" sz="950" dirty="0">
                <a:solidFill>
                  <a:srgbClr val="5D6B7A"/>
                </a:solidFill>
                <a:latin typeface="Calibri" pitchFamily="34" charset="0"/>
                <a:ea typeface="Calibri" pitchFamily="34" charset="-122"/>
                <a:cs typeface="Calibri" pitchFamily="34" charset="-120"/>
              </a:rPr>
              <a:t>QA/Test Engineer</a:t>
            </a:r>
            <a:endParaRPr lang="en-US" sz="950" dirty="0"/>
          </a:p>
        </p:txBody>
      </p:sp>
      <p:sp>
        <p:nvSpPr>
          <p:cNvPr id="41" name="Text 39"/>
          <p:cNvSpPr/>
          <p:nvPr/>
        </p:nvSpPr>
        <p:spPr>
          <a:xfrm>
            <a:off x="7406640" y="3374136"/>
            <a:ext cx="1828800" cy="274320"/>
          </a:xfrm>
          <a:prstGeom prst="rect">
            <a:avLst/>
          </a:prstGeom>
          <a:noFill/>
          <a:ln/>
        </p:spPr>
        <p:txBody>
          <a:bodyPr wrap="square" rtlCol="0" anchor="ctr"/>
          <a:lstStyle/>
          <a:p>
            <a:pPr marL="0" indent="0">
              <a:buNone/>
            </a:pPr>
            <a:r>
              <a:rPr lang="en-US" sz="1100" b="1" dirty="0">
                <a:solidFill>
                  <a:srgbClr val="1B2F4E"/>
                </a:solidFill>
                <a:latin typeface="Calibri" pitchFamily="34" charset="0"/>
                <a:ea typeface="Calibri" pitchFamily="34" charset="-122"/>
                <a:cs typeface="Calibri" pitchFamily="34" charset="-120"/>
              </a:rPr>
              <a:t>Meera Kulkarni</a:t>
            </a:r>
            <a:endParaRPr lang="en-US" sz="1100" dirty="0"/>
          </a:p>
        </p:txBody>
      </p:sp>
      <p:sp>
        <p:nvSpPr>
          <p:cNvPr id="42" name="Text 40"/>
          <p:cNvSpPr/>
          <p:nvPr/>
        </p:nvSpPr>
        <p:spPr>
          <a:xfrm>
            <a:off x="7406640" y="3611880"/>
            <a:ext cx="1828800" cy="457200"/>
          </a:xfrm>
          <a:prstGeom prst="rect">
            <a:avLst/>
          </a:prstGeom>
          <a:noFill/>
          <a:ln/>
        </p:spPr>
        <p:txBody>
          <a:bodyPr wrap="square" rtlCol="0" anchor="ctr"/>
          <a:lstStyle/>
          <a:p>
            <a:pPr marL="0" indent="0">
              <a:lnSpc>
                <a:spcPct val="105000"/>
              </a:lnSpc>
              <a:buNone/>
            </a:pPr>
            <a:r>
              <a:rPr lang="en-US" sz="950" dirty="0">
                <a:solidFill>
                  <a:srgbClr val="5D6B7A"/>
                </a:solidFill>
                <a:latin typeface="Calibri" pitchFamily="34" charset="0"/>
                <a:ea typeface="Calibri" pitchFamily="34" charset="-122"/>
                <a:cs typeface="Calibri" pitchFamily="34" charset="-120"/>
              </a:rPr>
              <a:t>Legal &amp; Compliance Officer</a:t>
            </a:r>
            <a:endParaRPr lang="en-US" sz="950" dirty="0"/>
          </a:p>
        </p:txBody>
      </p:sp>
      <p:sp>
        <p:nvSpPr>
          <p:cNvPr id="43" name="Text 41"/>
          <p:cNvSpPr/>
          <p:nvPr/>
        </p:nvSpPr>
        <p:spPr>
          <a:xfrm>
            <a:off x="7406640" y="4123944"/>
            <a:ext cx="1828800" cy="274320"/>
          </a:xfrm>
          <a:prstGeom prst="rect">
            <a:avLst/>
          </a:prstGeom>
          <a:noFill/>
          <a:ln/>
        </p:spPr>
        <p:txBody>
          <a:bodyPr wrap="square" rtlCol="0" anchor="ctr"/>
          <a:lstStyle/>
          <a:p>
            <a:pPr marL="0" indent="0">
              <a:buNone/>
            </a:pPr>
            <a:r>
              <a:rPr lang="en-US" sz="1100" b="1" dirty="0">
                <a:solidFill>
                  <a:srgbClr val="1B2F4E"/>
                </a:solidFill>
                <a:latin typeface="Calibri" pitchFamily="34" charset="0"/>
                <a:ea typeface="Calibri" pitchFamily="34" charset="-122"/>
                <a:cs typeface="Calibri" pitchFamily="34" charset="-120"/>
              </a:rPr>
              <a:t>Neeraj Kapoor</a:t>
            </a:r>
            <a:endParaRPr lang="en-US" sz="1100" dirty="0"/>
          </a:p>
        </p:txBody>
      </p:sp>
      <p:sp>
        <p:nvSpPr>
          <p:cNvPr id="44" name="Text 42"/>
          <p:cNvSpPr/>
          <p:nvPr/>
        </p:nvSpPr>
        <p:spPr>
          <a:xfrm>
            <a:off x="7406640" y="4361688"/>
            <a:ext cx="1828800" cy="457200"/>
          </a:xfrm>
          <a:prstGeom prst="rect">
            <a:avLst/>
          </a:prstGeom>
          <a:noFill/>
          <a:ln/>
        </p:spPr>
        <p:txBody>
          <a:bodyPr wrap="square" rtlCol="0" anchor="ctr"/>
          <a:lstStyle/>
          <a:p>
            <a:pPr marL="0" indent="0">
              <a:lnSpc>
                <a:spcPct val="105000"/>
              </a:lnSpc>
              <a:buNone/>
            </a:pPr>
            <a:r>
              <a:rPr lang="en-US" sz="950" dirty="0">
                <a:solidFill>
                  <a:srgbClr val="5D6B7A"/>
                </a:solidFill>
                <a:latin typeface="Calibri" pitchFamily="34" charset="0"/>
                <a:ea typeface="Calibri" pitchFamily="34" charset="-122"/>
                <a:cs typeface="Calibri" pitchFamily="34" charset="-120"/>
              </a:rPr>
              <a:t>IT Infrastructure Manager</a:t>
            </a:r>
            <a:endParaRPr lang="en-US" sz="950" dirty="0"/>
          </a:p>
        </p:txBody>
      </p:sp>
      <p:sp>
        <p:nvSpPr>
          <p:cNvPr id="45" name="Shape 43"/>
          <p:cNvSpPr/>
          <p:nvPr/>
        </p:nvSpPr>
        <p:spPr>
          <a:xfrm>
            <a:off x="9491472" y="1874520"/>
            <a:ext cx="2084832" cy="4434840"/>
          </a:xfrm>
          <a:prstGeom prst="roundRect">
            <a:avLst>
              <a:gd name="adj" fmla="val 3070"/>
            </a:avLst>
          </a:prstGeom>
          <a:solidFill>
            <a:srgbClr val="F4F6F9"/>
          </a:solidFill>
          <a:ln w="12700">
            <a:solidFill>
              <a:srgbClr val="E1E6ED"/>
            </a:solidFill>
            <a:prstDash val="solid"/>
          </a:ln>
        </p:spPr>
      </p:sp>
      <p:sp>
        <p:nvSpPr>
          <p:cNvPr id="46" name="Shape 44"/>
          <p:cNvSpPr/>
          <p:nvPr/>
        </p:nvSpPr>
        <p:spPr>
          <a:xfrm>
            <a:off x="9491472" y="1874520"/>
            <a:ext cx="2084832" cy="566928"/>
          </a:xfrm>
          <a:prstGeom prst="roundRect">
            <a:avLst>
              <a:gd name="adj" fmla="val 11290"/>
            </a:avLst>
          </a:prstGeom>
          <a:solidFill>
            <a:srgbClr val="B84A3E"/>
          </a:solidFill>
          <a:ln/>
        </p:spPr>
      </p:sp>
      <p:sp>
        <p:nvSpPr>
          <p:cNvPr id="47" name="Shape 45"/>
          <p:cNvSpPr/>
          <p:nvPr/>
        </p:nvSpPr>
        <p:spPr>
          <a:xfrm>
            <a:off x="9491472" y="2167128"/>
            <a:ext cx="2084832" cy="274320"/>
          </a:xfrm>
          <a:prstGeom prst="rect">
            <a:avLst/>
          </a:prstGeom>
          <a:solidFill>
            <a:srgbClr val="B84A3E"/>
          </a:solidFill>
          <a:ln/>
        </p:spPr>
      </p:sp>
      <p:sp>
        <p:nvSpPr>
          <p:cNvPr id="48" name="Text 46"/>
          <p:cNvSpPr/>
          <p:nvPr/>
        </p:nvSpPr>
        <p:spPr>
          <a:xfrm>
            <a:off x="9601200" y="1874520"/>
            <a:ext cx="1865376" cy="566928"/>
          </a:xfrm>
          <a:prstGeom prst="rect">
            <a:avLst/>
          </a:prstGeom>
          <a:noFill/>
          <a:ln/>
        </p:spPr>
        <p:txBody>
          <a:bodyPr wrap="square" rtlCol="0" anchor="ctr"/>
          <a:lstStyle/>
          <a:p>
            <a:pPr marL="0" indent="0" algn="ctr">
              <a:lnSpc>
                <a:spcPct val="95000"/>
              </a:lnSpc>
              <a:buNone/>
            </a:pPr>
            <a:r>
              <a:rPr lang="en-US" sz="1200" b="1" dirty="0">
                <a:solidFill>
                  <a:srgbClr val="FFFFFF"/>
                </a:solidFill>
                <a:latin typeface="Calibri" pitchFamily="34" charset="0"/>
                <a:ea typeface="Calibri" pitchFamily="34" charset="-122"/>
                <a:cs typeface="Calibri" pitchFamily="34" charset="-120"/>
              </a:rPr>
              <a:t>Change &amp; Enablement</a:t>
            </a:r>
            <a:endParaRPr lang="en-US" sz="1200" dirty="0"/>
          </a:p>
        </p:txBody>
      </p:sp>
      <p:sp>
        <p:nvSpPr>
          <p:cNvPr id="49" name="Text 47"/>
          <p:cNvSpPr/>
          <p:nvPr/>
        </p:nvSpPr>
        <p:spPr>
          <a:xfrm>
            <a:off x="9619488" y="2624328"/>
            <a:ext cx="1828800" cy="274320"/>
          </a:xfrm>
          <a:prstGeom prst="rect">
            <a:avLst/>
          </a:prstGeom>
          <a:noFill/>
          <a:ln/>
        </p:spPr>
        <p:txBody>
          <a:bodyPr wrap="square" rtlCol="0" anchor="ctr"/>
          <a:lstStyle/>
          <a:p>
            <a:pPr marL="0" indent="0">
              <a:buNone/>
            </a:pPr>
            <a:r>
              <a:rPr lang="en-US" sz="1100" b="1" dirty="0">
                <a:solidFill>
                  <a:srgbClr val="1B2F4E"/>
                </a:solidFill>
                <a:latin typeface="Calibri" pitchFamily="34" charset="0"/>
                <a:ea typeface="Calibri" pitchFamily="34" charset="-122"/>
                <a:cs typeface="Calibri" pitchFamily="34" charset="-120"/>
              </a:rPr>
              <a:t>Ritu Malhotra</a:t>
            </a:r>
            <a:endParaRPr lang="en-US" sz="1100" dirty="0"/>
          </a:p>
        </p:txBody>
      </p:sp>
      <p:sp>
        <p:nvSpPr>
          <p:cNvPr id="50" name="Text 48"/>
          <p:cNvSpPr/>
          <p:nvPr/>
        </p:nvSpPr>
        <p:spPr>
          <a:xfrm>
            <a:off x="9619488" y="2862072"/>
            <a:ext cx="1828800" cy="457200"/>
          </a:xfrm>
          <a:prstGeom prst="rect">
            <a:avLst/>
          </a:prstGeom>
          <a:noFill/>
          <a:ln/>
        </p:spPr>
        <p:txBody>
          <a:bodyPr wrap="square" rtlCol="0" anchor="ctr"/>
          <a:lstStyle/>
          <a:p>
            <a:pPr marL="0" indent="0">
              <a:lnSpc>
                <a:spcPct val="105000"/>
              </a:lnSpc>
              <a:buNone/>
            </a:pPr>
            <a:r>
              <a:rPr lang="en-US" sz="950" dirty="0">
                <a:solidFill>
                  <a:srgbClr val="5D6B7A"/>
                </a:solidFill>
                <a:latin typeface="Calibri" pitchFamily="34" charset="0"/>
                <a:ea typeface="Calibri" pitchFamily="34" charset="-122"/>
                <a:cs typeface="Calibri" pitchFamily="34" charset="-120"/>
              </a:rPr>
              <a:t>Change Management Lead</a:t>
            </a:r>
            <a:endParaRPr lang="en-US" sz="950" dirty="0"/>
          </a:p>
        </p:txBody>
      </p:sp>
      <p:sp>
        <p:nvSpPr>
          <p:cNvPr id="51" name="Text 49"/>
          <p:cNvSpPr/>
          <p:nvPr/>
        </p:nvSpPr>
        <p:spPr>
          <a:xfrm>
            <a:off x="9619488" y="3374136"/>
            <a:ext cx="1828800" cy="274320"/>
          </a:xfrm>
          <a:prstGeom prst="rect">
            <a:avLst/>
          </a:prstGeom>
          <a:noFill/>
          <a:ln/>
        </p:spPr>
        <p:txBody>
          <a:bodyPr wrap="square" rtlCol="0" anchor="ctr"/>
          <a:lstStyle/>
          <a:p>
            <a:pPr marL="0" indent="0">
              <a:buNone/>
            </a:pPr>
            <a:r>
              <a:rPr lang="en-US" sz="1100" b="1" dirty="0">
                <a:solidFill>
                  <a:srgbClr val="1B2F4E"/>
                </a:solidFill>
                <a:latin typeface="Calibri" pitchFamily="34" charset="0"/>
                <a:ea typeface="Calibri" pitchFamily="34" charset="-122"/>
                <a:cs typeface="Calibri" pitchFamily="34" charset="-120"/>
              </a:rPr>
              <a:t>Karan Singh</a:t>
            </a:r>
            <a:endParaRPr lang="en-US" sz="1100" dirty="0"/>
          </a:p>
        </p:txBody>
      </p:sp>
      <p:sp>
        <p:nvSpPr>
          <p:cNvPr id="52" name="Text 50"/>
          <p:cNvSpPr/>
          <p:nvPr/>
        </p:nvSpPr>
        <p:spPr>
          <a:xfrm>
            <a:off x="9619488" y="3611880"/>
            <a:ext cx="1828800" cy="457200"/>
          </a:xfrm>
          <a:prstGeom prst="rect">
            <a:avLst/>
          </a:prstGeom>
          <a:noFill/>
          <a:ln/>
        </p:spPr>
        <p:txBody>
          <a:bodyPr wrap="square" rtlCol="0" anchor="ctr"/>
          <a:lstStyle/>
          <a:p>
            <a:pPr marL="0" indent="0">
              <a:lnSpc>
                <a:spcPct val="105000"/>
              </a:lnSpc>
              <a:buNone/>
            </a:pPr>
            <a:r>
              <a:rPr lang="en-US" sz="950" dirty="0">
                <a:solidFill>
                  <a:srgbClr val="5D6B7A"/>
                </a:solidFill>
                <a:latin typeface="Calibri" pitchFamily="34" charset="0"/>
                <a:ea typeface="Calibri" pitchFamily="34" charset="-122"/>
                <a:cs typeface="Calibri" pitchFamily="34" charset="-120"/>
              </a:rPr>
              <a:t>AI Vendor/Partner Liaison</a:t>
            </a:r>
            <a:endParaRPr lang="en-US" sz="950" dirty="0"/>
          </a:p>
        </p:txBody>
      </p:sp>
      <p:sp>
        <p:nvSpPr>
          <p:cNvPr id="53" name="Text 51"/>
          <p:cNvSpPr/>
          <p:nvPr/>
        </p:nvSpPr>
        <p:spPr>
          <a:xfrm>
            <a:off x="9619488" y="4123944"/>
            <a:ext cx="1828800" cy="274320"/>
          </a:xfrm>
          <a:prstGeom prst="rect">
            <a:avLst/>
          </a:prstGeom>
          <a:noFill/>
          <a:ln/>
        </p:spPr>
        <p:txBody>
          <a:bodyPr wrap="square" rtlCol="0" anchor="ctr"/>
          <a:lstStyle/>
          <a:p>
            <a:pPr marL="0" indent="0">
              <a:buNone/>
            </a:pPr>
            <a:r>
              <a:rPr lang="en-US" sz="1100" b="1" dirty="0">
                <a:solidFill>
                  <a:srgbClr val="1B2F4E"/>
                </a:solidFill>
                <a:latin typeface="Calibri" pitchFamily="34" charset="0"/>
                <a:ea typeface="Calibri" pitchFamily="34" charset="-122"/>
                <a:cs typeface="Calibri" pitchFamily="34" charset="-120"/>
              </a:rPr>
              <a:t>Swati Joshi</a:t>
            </a:r>
            <a:endParaRPr lang="en-US" sz="1100" dirty="0"/>
          </a:p>
        </p:txBody>
      </p:sp>
      <p:sp>
        <p:nvSpPr>
          <p:cNvPr id="54" name="Text 52"/>
          <p:cNvSpPr/>
          <p:nvPr/>
        </p:nvSpPr>
        <p:spPr>
          <a:xfrm>
            <a:off x="9619488" y="4361688"/>
            <a:ext cx="1828800" cy="457200"/>
          </a:xfrm>
          <a:prstGeom prst="rect">
            <a:avLst/>
          </a:prstGeom>
          <a:noFill/>
          <a:ln/>
        </p:spPr>
        <p:txBody>
          <a:bodyPr wrap="square" rtlCol="0" anchor="ctr"/>
          <a:lstStyle/>
          <a:p>
            <a:pPr marL="0" indent="0">
              <a:lnSpc>
                <a:spcPct val="105000"/>
              </a:lnSpc>
              <a:buNone/>
            </a:pPr>
            <a:r>
              <a:rPr lang="en-US" sz="950" dirty="0">
                <a:solidFill>
                  <a:srgbClr val="5D6B7A"/>
                </a:solidFill>
                <a:latin typeface="Calibri" pitchFamily="34" charset="0"/>
                <a:ea typeface="Calibri" pitchFamily="34" charset="-122"/>
                <a:cs typeface="Calibri" pitchFamily="34" charset="-120"/>
              </a:rPr>
              <a:t>Training &amp; Enablement Specialist</a:t>
            </a:r>
            <a:endParaRPr lang="en-US" sz="950" dirty="0"/>
          </a:p>
        </p:txBody>
      </p:sp>
      <p:sp>
        <p:nvSpPr>
          <p:cNvPr id="55" name="Text 53"/>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MIRA — Multi-Agent PMO Orchestrator</a:t>
            </a:r>
            <a:endParaRPr lang="en-US" sz="900" dirty="0"/>
          </a:p>
        </p:txBody>
      </p:sp>
      <p:sp>
        <p:nvSpPr>
          <p:cNvPr id="56" name="Text 54"/>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D6B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rtlCol="0" anchor="ctr"/>
          <a:lstStyle/>
          <a:p>
            <a:pPr marL="0" indent="0" algn="l">
              <a:buNone/>
            </a:pPr>
            <a:r>
              <a:rPr lang="en-US" sz="1250" b="1" kern="0" spc="200" dirty="0">
                <a:solidFill>
                  <a:srgbClr val="3E6B8A"/>
                </a:solidFill>
                <a:latin typeface="Calibri" pitchFamily="34" charset="0"/>
                <a:ea typeface="Calibri" pitchFamily="34" charset="-122"/>
                <a:cs typeface="Calibri" pitchFamily="34" charset="-120"/>
              </a:rPr>
              <a:t>PROGRAM TIMELINE</a:t>
            </a:r>
            <a:endParaRPr lang="en-US" sz="1250" dirty="0"/>
          </a:p>
        </p:txBody>
      </p:sp>
      <p:sp>
        <p:nvSpPr>
          <p:cNvPr id="3" name="Text 1"/>
          <p:cNvSpPr/>
          <p:nvPr/>
        </p:nvSpPr>
        <p:spPr>
          <a:xfrm>
            <a:off x="640080" y="658368"/>
            <a:ext cx="10607040" cy="658368"/>
          </a:xfrm>
          <a:prstGeom prst="rect">
            <a:avLst/>
          </a:prstGeom>
          <a:noFill/>
          <a:ln/>
        </p:spPr>
        <p:txBody>
          <a:bodyPr wrap="square" rtlCol="0" anchor="ctr"/>
          <a:lstStyle/>
          <a:p>
            <a:pPr marL="0" indent="0" algn="l">
              <a:buNone/>
            </a:pPr>
            <a:r>
              <a:rPr lang="en-US" sz="3200" b="1" dirty="0">
                <a:solidFill>
                  <a:srgbClr val="1B2F4E"/>
                </a:solidFill>
                <a:latin typeface="Cambria" pitchFamily="34" charset="0"/>
                <a:ea typeface="Cambria" pitchFamily="34" charset="-122"/>
                <a:cs typeface="Cambria" pitchFamily="34" charset="-120"/>
              </a:rPr>
              <a:t>8 Phases Across 24 Weeks</a:t>
            </a:r>
            <a:endParaRPr lang="en-US" sz="3200" dirty="0"/>
          </a:p>
        </p:txBody>
      </p:sp>
      <p:sp>
        <p:nvSpPr>
          <p:cNvPr id="4" name="Shape 2"/>
          <p:cNvSpPr/>
          <p:nvPr/>
        </p:nvSpPr>
        <p:spPr>
          <a:xfrm>
            <a:off x="1261872" y="3246120"/>
            <a:ext cx="0" cy="457200"/>
          </a:xfrm>
          <a:prstGeom prst="line">
            <a:avLst/>
          </a:prstGeom>
          <a:noFill/>
          <a:ln w="19050">
            <a:solidFill>
              <a:srgbClr val="E1E6ED"/>
            </a:solidFill>
            <a:prstDash val="solid"/>
          </a:ln>
        </p:spPr>
      </p:sp>
      <p:sp>
        <p:nvSpPr>
          <p:cNvPr id="5" name="Shape 3"/>
          <p:cNvSpPr/>
          <p:nvPr/>
        </p:nvSpPr>
        <p:spPr>
          <a:xfrm>
            <a:off x="1042416" y="2880360"/>
            <a:ext cx="438912" cy="438912"/>
          </a:xfrm>
          <a:prstGeom prst="ellipse">
            <a:avLst/>
          </a:prstGeom>
          <a:solidFill>
            <a:srgbClr val="3E6B8A"/>
          </a:solidFill>
          <a:ln w="12700">
            <a:solidFill>
              <a:srgbClr val="3E6B8A"/>
            </a:solidFill>
            <a:prstDash val="solid"/>
          </a:ln>
        </p:spPr>
      </p:sp>
      <p:sp>
        <p:nvSpPr>
          <p:cNvPr id="6" name="Text 4"/>
          <p:cNvSpPr/>
          <p:nvPr/>
        </p:nvSpPr>
        <p:spPr>
          <a:xfrm>
            <a:off x="1042416" y="2880360"/>
            <a:ext cx="438912" cy="438912"/>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Shape 5"/>
          <p:cNvSpPr/>
          <p:nvPr/>
        </p:nvSpPr>
        <p:spPr>
          <a:xfrm>
            <a:off x="640080" y="1645920"/>
            <a:ext cx="1243584" cy="1143000"/>
          </a:xfrm>
          <a:prstGeom prst="roundRect">
            <a:avLst>
              <a:gd name="adj" fmla="val 4800"/>
            </a:avLst>
          </a:prstGeom>
          <a:solidFill>
            <a:srgbClr val="F4F6F9"/>
          </a:solidFill>
          <a:ln w="12700">
            <a:solidFill>
              <a:srgbClr val="E1E6ED"/>
            </a:solidFill>
            <a:prstDash val="solid"/>
          </a:ln>
        </p:spPr>
      </p:sp>
      <p:sp>
        <p:nvSpPr>
          <p:cNvPr id="8" name="Text 6"/>
          <p:cNvSpPr/>
          <p:nvPr/>
        </p:nvSpPr>
        <p:spPr>
          <a:xfrm>
            <a:off x="694944" y="1719072"/>
            <a:ext cx="1133856" cy="201168"/>
          </a:xfrm>
          <a:prstGeom prst="rect">
            <a:avLst/>
          </a:prstGeom>
          <a:noFill/>
          <a:ln/>
        </p:spPr>
        <p:txBody>
          <a:bodyPr wrap="square" rtlCol="0" anchor="ctr"/>
          <a:lstStyle/>
          <a:p>
            <a:pPr marL="0" indent="0" algn="ctr">
              <a:buNone/>
            </a:pPr>
            <a:r>
              <a:rPr lang="en-US" sz="850" b="1" dirty="0">
                <a:solidFill>
                  <a:srgbClr val="D98E2B"/>
                </a:solidFill>
                <a:latin typeface="Calibri" pitchFamily="34" charset="0"/>
                <a:ea typeface="Calibri" pitchFamily="34" charset="-122"/>
                <a:cs typeface="Calibri" pitchFamily="34" charset="-120"/>
              </a:rPr>
              <a:t>Wk 1–2</a:t>
            </a:r>
            <a:endParaRPr lang="en-US" sz="850" dirty="0"/>
          </a:p>
        </p:txBody>
      </p:sp>
      <p:sp>
        <p:nvSpPr>
          <p:cNvPr id="9" name="Text 7"/>
          <p:cNvSpPr/>
          <p:nvPr/>
        </p:nvSpPr>
        <p:spPr>
          <a:xfrm>
            <a:off x="694944" y="1911096"/>
            <a:ext cx="1133856" cy="457200"/>
          </a:xfrm>
          <a:prstGeom prst="rect">
            <a:avLst/>
          </a:prstGeom>
          <a:noFill/>
          <a:ln/>
        </p:spPr>
        <p:txBody>
          <a:bodyPr wrap="square" rtlCol="0" anchor="ctr"/>
          <a:lstStyle/>
          <a:p>
            <a:pPr marL="0" indent="0" algn="ctr">
              <a:lnSpc>
                <a:spcPct val="95000"/>
              </a:lnSpc>
              <a:buNone/>
            </a:pPr>
            <a:r>
              <a:rPr lang="en-US" sz="900" b="1" dirty="0">
                <a:solidFill>
                  <a:srgbClr val="1B2F4E"/>
                </a:solidFill>
                <a:latin typeface="Calibri" pitchFamily="34" charset="0"/>
                <a:ea typeface="Calibri" pitchFamily="34" charset="-122"/>
                <a:cs typeface="Calibri" pitchFamily="34" charset="-120"/>
              </a:rPr>
              <a:t>Project Initiation</a:t>
            </a:r>
            <a:endParaRPr lang="en-US" sz="900" dirty="0"/>
          </a:p>
        </p:txBody>
      </p:sp>
      <p:sp>
        <p:nvSpPr>
          <p:cNvPr id="10" name="Text 8"/>
          <p:cNvSpPr/>
          <p:nvPr/>
        </p:nvSpPr>
        <p:spPr>
          <a:xfrm>
            <a:off x="694944" y="2359152"/>
            <a:ext cx="1133856" cy="411480"/>
          </a:xfrm>
          <a:prstGeom prst="rect">
            <a:avLst/>
          </a:prstGeom>
          <a:noFill/>
          <a:ln/>
        </p:spPr>
        <p:txBody>
          <a:bodyPr wrap="square" rtlCol="0" anchor="ctr"/>
          <a:lstStyle/>
          <a:p>
            <a:pPr marL="0" indent="0" algn="ctr">
              <a:lnSpc>
                <a:spcPct val="100000"/>
              </a:lnSpc>
              <a:buNone/>
            </a:pPr>
            <a:r>
              <a:rPr lang="en-US" sz="700" dirty="0">
                <a:solidFill>
                  <a:srgbClr val="5D6B7A"/>
                </a:solidFill>
                <a:latin typeface="Calibri" pitchFamily="34" charset="0"/>
                <a:ea typeface="Calibri" pitchFamily="34" charset="-122"/>
                <a:cs typeface="Calibri" pitchFamily="34" charset="-120"/>
              </a:rPr>
              <a:t>Charter signed off; team structure finalized</a:t>
            </a:r>
            <a:endParaRPr lang="en-US" sz="700" dirty="0"/>
          </a:p>
        </p:txBody>
      </p:sp>
      <p:sp>
        <p:nvSpPr>
          <p:cNvPr id="11" name="Shape 9"/>
          <p:cNvSpPr/>
          <p:nvPr/>
        </p:nvSpPr>
        <p:spPr>
          <a:xfrm>
            <a:off x="2587752" y="3246120"/>
            <a:ext cx="0" cy="502920"/>
          </a:xfrm>
          <a:prstGeom prst="line">
            <a:avLst/>
          </a:prstGeom>
          <a:noFill/>
          <a:ln w="19050">
            <a:solidFill>
              <a:srgbClr val="E1E6ED"/>
            </a:solidFill>
            <a:prstDash val="solid"/>
          </a:ln>
        </p:spPr>
      </p:sp>
      <p:sp>
        <p:nvSpPr>
          <p:cNvPr id="12" name="Shape 10"/>
          <p:cNvSpPr/>
          <p:nvPr/>
        </p:nvSpPr>
        <p:spPr>
          <a:xfrm>
            <a:off x="2368296" y="3749040"/>
            <a:ext cx="438912" cy="438912"/>
          </a:xfrm>
          <a:prstGeom prst="ellipse">
            <a:avLst/>
          </a:prstGeom>
          <a:solidFill>
            <a:srgbClr val="3E6B8A"/>
          </a:solidFill>
          <a:ln w="12700">
            <a:solidFill>
              <a:srgbClr val="3E6B8A"/>
            </a:solidFill>
            <a:prstDash val="solid"/>
          </a:ln>
        </p:spPr>
      </p:sp>
      <p:sp>
        <p:nvSpPr>
          <p:cNvPr id="13" name="Text 11"/>
          <p:cNvSpPr/>
          <p:nvPr/>
        </p:nvSpPr>
        <p:spPr>
          <a:xfrm>
            <a:off x="2368296" y="3749040"/>
            <a:ext cx="438912" cy="438912"/>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Shape 12"/>
          <p:cNvSpPr/>
          <p:nvPr/>
        </p:nvSpPr>
        <p:spPr>
          <a:xfrm>
            <a:off x="1965960" y="4297680"/>
            <a:ext cx="1243584" cy="1143000"/>
          </a:xfrm>
          <a:prstGeom prst="roundRect">
            <a:avLst>
              <a:gd name="adj" fmla="val 4800"/>
            </a:avLst>
          </a:prstGeom>
          <a:solidFill>
            <a:srgbClr val="F4F6F9"/>
          </a:solidFill>
          <a:ln w="12700">
            <a:solidFill>
              <a:srgbClr val="E1E6ED"/>
            </a:solidFill>
            <a:prstDash val="solid"/>
          </a:ln>
        </p:spPr>
      </p:sp>
      <p:sp>
        <p:nvSpPr>
          <p:cNvPr id="15" name="Text 13"/>
          <p:cNvSpPr/>
          <p:nvPr/>
        </p:nvSpPr>
        <p:spPr>
          <a:xfrm>
            <a:off x="2020824" y="4370832"/>
            <a:ext cx="1133856" cy="201168"/>
          </a:xfrm>
          <a:prstGeom prst="rect">
            <a:avLst/>
          </a:prstGeom>
          <a:noFill/>
          <a:ln/>
        </p:spPr>
        <p:txBody>
          <a:bodyPr wrap="square" rtlCol="0" anchor="ctr"/>
          <a:lstStyle/>
          <a:p>
            <a:pPr marL="0" indent="0" algn="ctr">
              <a:buNone/>
            </a:pPr>
            <a:r>
              <a:rPr lang="en-US" sz="850" b="1" dirty="0">
                <a:solidFill>
                  <a:srgbClr val="D98E2B"/>
                </a:solidFill>
                <a:latin typeface="Calibri" pitchFamily="34" charset="0"/>
                <a:ea typeface="Calibri" pitchFamily="34" charset="-122"/>
                <a:cs typeface="Calibri" pitchFamily="34" charset="-120"/>
              </a:rPr>
              <a:t>Wk 3–4</a:t>
            </a:r>
            <a:endParaRPr lang="en-US" sz="850" dirty="0"/>
          </a:p>
        </p:txBody>
      </p:sp>
      <p:sp>
        <p:nvSpPr>
          <p:cNvPr id="16" name="Text 14"/>
          <p:cNvSpPr/>
          <p:nvPr/>
        </p:nvSpPr>
        <p:spPr>
          <a:xfrm>
            <a:off x="2020824" y="4562856"/>
            <a:ext cx="1133856" cy="457200"/>
          </a:xfrm>
          <a:prstGeom prst="rect">
            <a:avLst/>
          </a:prstGeom>
          <a:noFill/>
          <a:ln/>
        </p:spPr>
        <p:txBody>
          <a:bodyPr wrap="square" rtlCol="0" anchor="ctr"/>
          <a:lstStyle/>
          <a:p>
            <a:pPr marL="0" indent="0" algn="ctr">
              <a:lnSpc>
                <a:spcPct val="95000"/>
              </a:lnSpc>
              <a:buNone/>
            </a:pPr>
            <a:r>
              <a:rPr lang="en-US" sz="900" b="1" dirty="0">
                <a:solidFill>
                  <a:srgbClr val="1B2F4E"/>
                </a:solidFill>
                <a:latin typeface="Calibri" pitchFamily="34" charset="0"/>
                <a:ea typeface="Calibri" pitchFamily="34" charset="-122"/>
                <a:cs typeface="Calibri" pitchFamily="34" charset="-120"/>
              </a:rPr>
              <a:t>Current State Analysis</a:t>
            </a:r>
            <a:endParaRPr lang="en-US" sz="900" dirty="0"/>
          </a:p>
        </p:txBody>
      </p:sp>
      <p:sp>
        <p:nvSpPr>
          <p:cNvPr id="17" name="Text 15"/>
          <p:cNvSpPr/>
          <p:nvPr/>
        </p:nvSpPr>
        <p:spPr>
          <a:xfrm>
            <a:off x="2020824" y="5010912"/>
            <a:ext cx="1133856" cy="411480"/>
          </a:xfrm>
          <a:prstGeom prst="rect">
            <a:avLst/>
          </a:prstGeom>
          <a:noFill/>
          <a:ln/>
        </p:spPr>
        <p:txBody>
          <a:bodyPr wrap="square" rtlCol="0" anchor="ctr"/>
          <a:lstStyle/>
          <a:p>
            <a:pPr marL="0" indent="0" algn="ctr">
              <a:lnSpc>
                <a:spcPct val="100000"/>
              </a:lnSpc>
              <a:buNone/>
            </a:pPr>
            <a:r>
              <a:rPr lang="en-US" sz="700" dirty="0">
                <a:solidFill>
                  <a:srgbClr val="5D6B7A"/>
                </a:solidFill>
                <a:latin typeface="Calibri" pitchFamily="34" charset="0"/>
                <a:ea typeface="Calibri" pitchFamily="34" charset="-122"/>
                <a:cs typeface="Calibri" pitchFamily="34" charset="-120"/>
              </a:rPr>
              <a:t>Systems audit + gap analysis report</a:t>
            </a:r>
            <a:endParaRPr lang="en-US" sz="700" dirty="0"/>
          </a:p>
        </p:txBody>
      </p:sp>
      <p:sp>
        <p:nvSpPr>
          <p:cNvPr id="18" name="Shape 16"/>
          <p:cNvSpPr/>
          <p:nvPr/>
        </p:nvSpPr>
        <p:spPr>
          <a:xfrm>
            <a:off x="3913632" y="3246120"/>
            <a:ext cx="0" cy="457200"/>
          </a:xfrm>
          <a:prstGeom prst="line">
            <a:avLst/>
          </a:prstGeom>
          <a:noFill/>
          <a:ln w="19050">
            <a:solidFill>
              <a:srgbClr val="E1E6ED"/>
            </a:solidFill>
            <a:prstDash val="solid"/>
          </a:ln>
        </p:spPr>
      </p:sp>
      <p:sp>
        <p:nvSpPr>
          <p:cNvPr id="19" name="Shape 17"/>
          <p:cNvSpPr/>
          <p:nvPr/>
        </p:nvSpPr>
        <p:spPr>
          <a:xfrm>
            <a:off x="3694176" y="2880360"/>
            <a:ext cx="438912" cy="438912"/>
          </a:xfrm>
          <a:prstGeom prst="ellipse">
            <a:avLst/>
          </a:prstGeom>
          <a:solidFill>
            <a:srgbClr val="3E6B8A"/>
          </a:solidFill>
          <a:ln w="12700">
            <a:solidFill>
              <a:srgbClr val="3E6B8A"/>
            </a:solidFill>
            <a:prstDash val="solid"/>
          </a:ln>
        </p:spPr>
      </p:sp>
      <p:sp>
        <p:nvSpPr>
          <p:cNvPr id="20" name="Text 18"/>
          <p:cNvSpPr/>
          <p:nvPr/>
        </p:nvSpPr>
        <p:spPr>
          <a:xfrm>
            <a:off x="3694176" y="2880360"/>
            <a:ext cx="438912" cy="438912"/>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1" name="Shape 19"/>
          <p:cNvSpPr/>
          <p:nvPr/>
        </p:nvSpPr>
        <p:spPr>
          <a:xfrm>
            <a:off x="3291840" y="1645920"/>
            <a:ext cx="1243584" cy="1143000"/>
          </a:xfrm>
          <a:prstGeom prst="roundRect">
            <a:avLst>
              <a:gd name="adj" fmla="val 4800"/>
            </a:avLst>
          </a:prstGeom>
          <a:solidFill>
            <a:srgbClr val="F4F6F9"/>
          </a:solidFill>
          <a:ln w="12700">
            <a:solidFill>
              <a:srgbClr val="E1E6ED"/>
            </a:solidFill>
            <a:prstDash val="solid"/>
          </a:ln>
        </p:spPr>
      </p:sp>
      <p:sp>
        <p:nvSpPr>
          <p:cNvPr id="22" name="Text 20"/>
          <p:cNvSpPr/>
          <p:nvPr/>
        </p:nvSpPr>
        <p:spPr>
          <a:xfrm>
            <a:off x="3346704" y="1719072"/>
            <a:ext cx="1133856" cy="201168"/>
          </a:xfrm>
          <a:prstGeom prst="rect">
            <a:avLst/>
          </a:prstGeom>
          <a:noFill/>
          <a:ln/>
        </p:spPr>
        <p:txBody>
          <a:bodyPr wrap="square" rtlCol="0" anchor="ctr"/>
          <a:lstStyle/>
          <a:p>
            <a:pPr marL="0" indent="0" algn="ctr">
              <a:buNone/>
            </a:pPr>
            <a:r>
              <a:rPr lang="en-US" sz="850" b="1" dirty="0">
                <a:solidFill>
                  <a:srgbClr val="D98E2B"/>
                </a:solidFill>
                <a:latin typeface="Calibri" pitchFamily="34" charset="0"/>
                <a:ea typeface="Calibri" pitchFamily="34" charset="-122"/>
                <a:cs typeface="Calibri" pitchFamily="34" charset="-120"/>
              </a:rPr>
              <a:t>Wk 5–6</a:t>
            </a:r>
            <a:endParaRPr lang="en-US" sz="850" dirty="0"/>
          </a:p>
        </p:txBody>
      </p:sp>
      <p:sp>
        <p:nvSpPr>
          <p:cNvPr id="23" name="Text 21"/>
          <p:cNvSpPr/>
          <p:nvPr/>
        </p:nvSpPr>
        <p:spPr>
          <a:xfrm>
            <a:off x="3346704" y="1911096"/>
            <a:ext cx="1133856" cy="457200"/>
          </a:xfrm>
          <a:prstGeom prst="rect">
            <a:avLst/>
          </a:prstGeom>
          <a:noFill/>
          <a:ln/>
        </p:spPr>
        <p:txBody>
          <a:bodyPr wrap="square" rtlCol="0" anchor="ctr"/>
          <a:lstStyle/>
          <a:p>
            <a:pPr marL="0" indent="0" algn="ctr">
              <a:lnSpc>
                <a:spcPct val="95000"/>
              </a:lnSpc>
              <a:buNone/>
            </a:pPr>
            <a:r>
              <a:rPr lang="en-US" sz="900" b="1" dirty="0">
                <a:solidFill>
                  <a:srgbClr val="1B2F4E"/>
                </a:solidFill>
                <a:latin typeface="Calibri" pitchFamily="34" charset="0"/>
                <a:ea typeface="Calibri" pitchFamily="34" charset="-122"/>
                <a:cs typeface="Calibri" pitchFamily="34" charset="-120"/>
              </a:rPr>
              <a:t>Use Case Selection</a:t>
            </a:r>
            <a:endParaRPr lang="en-US" sz="900" dirty="0"/>
          </a:p>
        </p:txBody>
      </p:sp>
      <p:sp>
        <p:nvSpPr>
          <p:cNvPr id="24" name="Text 22"/>
          <p:cNvSpPr/>
          <p:nvPr/>
        </p:nvSpPr>
        <p:spPr>
          <a:xfrm>
            <a:off x="3346704" y="2359152"/>
            <a:ext cx="1133856" cy="411480"/>
          </a:xfrm>
          <a:prstGeom prst="rect">
            <a:avLst/>
          </a:prstGeom>
          <a:noFill/>
          <a:ln/>
        </p:spPr>
        <p:txBody>
          <a:bodyPr wrap="square" rtlCol="0" anchor="ctr"/>
          <a:lstStyle/>
          <a:p>
            <a:pPr marL="0" indent="0" algn="ctr">
              <a:lnSpc>
                <a:spcPct val="100000"/>
              </a:lnSpc>
              <a:buNone/>
            </a:pPr>
            <a:r>
              <a:rPr lang="en-US" sz="700" dirty="0">
                <a:solidFill>
                  <a:srgbClr val="5D6B7A"/>
                </a:solidFill>
                <a:latin typeface="Calibri" pitchFamily="34" charset="0"/>
                <a:ea typeface="Calibri" pitchFamily="34" charset="-122"/>
                <a:cs typeface="Calibri" pitchFamily="34" charset="-120"/>
              </a:rPr>
              <a:t>Prioritized use cases with success criteria</a:t>
            </a:r>
            <a:endParaRPr lang="en-US" sz="700" dirty="0"/>
          </a:p>
        </p:txBody>
      </p:sp>
      <p:sp>
        <p:nvSpPr>
          <p:cNvPr id="25" name="Shape 23"/>
          <p:cNvSpPr/>
          <p:nvPr/>
        </p:nvSpPr>
        <p:spPr>
          <a:xfrm>
            <a:off x="5239512" y="3246120"/>
            <a:ext cx="0" cy="502920"/>
          </a:xfrm>
          <a:prstGeom prst="line">
            <a:avLst/>
          </a:prstGeom>
          <a:noFill/>
          <a:ln w="19050">
            <a:solidFill>
              <a:srgbClr val="E1E6ED"/>
            </a:solidFill>
            <a:prstDash val="solid"/>
          </a:ln>
        </p:spPr>
      </p:sp>
      <p:sp>
        <p:nvSpPr>
          <p:cNvPr id="26" name="Shape 24"/>
          <p:cNvSpPr/>
          <p:nvPr/>
        </p:nvSpPr>
        <p:spPr>
          <a:xfrm>
            <a:off x="5020056" y="3749040"/>
            <a:ext cx="438912" cy="438912"/>
          </a:xfrm>
          <a:prstGeom prst="ellipse">
            <a:avLst/>
          </a:prstGeom>
          <a:solidFill>
            <a:srgbClr val="3E6B8A"/>
          </a:solidFill>
          <a:ln w="12700">
            <a:solidFill>
              <a:srgbClr val="3E6B8A"/>
            </a:solidFill>
            <a:prstDash val="solid"/>
          </a:ln>
        </p:spPr>
      </p:sp>
      <p:sp>
        <p:nvSpPr>
          <p:cNvPr id="27" name="Text 25"/>
          <p:cNvSpPr/>
          <p:nvPr/>
        </p:nvSpPr>
        <p:spPr>
          <a:xfrm>
            <a:off x="5020056" y="3749040"/>
            <a:ext cx="438912" cy="438912"/>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8" name="Shape 26"/>
          <p:cNvSpPr/>
          <p:nvPr/>
        </p:nvSpPr>
        <p:spPr>
          <a:xfrm>
            <a:off x="4617720" y="4297680"/>
            <a:ext cx="1243584" cy="1143000"/>
          </a:xfrm>
          <a:prstGeom prst="roundRect">
            <a:avLst>
              <a:gd name="adj" fmla="val 4800"/>
            </a:avLst>
          </a:prstGeom>
          <a:solidFill>
            <a:srgbClr val="F4F6F9"/>
          </a:solidFill>
          <a:ln w="12700">
            <a:solidFill>
              <a:srgbClr val="E1E6ED"/>
            </a:solidFill>
            <a:prstDash val="solid"/>
          </a:ln>
        </p:spPr>
      </p:sp>
      <p:sp>
        <p:nvSpPr>
          <p:cNvPr id="29" name="Text 27"/>
          <p:cNvSpPr/>
          <p:nvPr/>
        </p:nvSpPr>
        <p:spPr>
          <a:xfrm>
            <a:off x="4672584" y="4370832"/>
            <a:ext cx="1133856" cy="201168"/>
          </a:xfrm>
          <a:prstGeom prst="rect">
            <a:avLst/>
          </a:prstGeom>
          <a:noFill/>
          <a:ln/>
        </p:spPr>
        <p:txBody>
          <a:bodyPr wrap="square" rtlCol="0" anchor="ctr"/>
          <a:lstStyle/>
          <a:p>
            <a:pPr marL="0" indent="0" algn="ctr">
              <a:buNone/>
            </a:pPr>
            <a:r>
              <a:rPr lang="en-US" sz="850" b="1" dirty="0">
                <a:solidFill>
                  <a:srgbClr val="D98E2B"/>
                </a:solidFill>
                <a:latin typeface="Calibri" pitchFamily="34" charset="0"/>
                <a:ea typeface="Calibri" pitchFamily="34" charset="-122"/>
                <a:cs typeface="Calibri" pitchFamily="34" charset="-120"/>
              </a:rPr>
              <a:t>Wk 7–10</a:t>
            </a:r>
            <a:endParaRPr lang="en-US" sz="850" dirty="0"/>
          </a:p>
        </p:txBody>
      </p:sp>
      <p:sp>
        <p:nvSpPr>
          <p:cNvPr id="30" name="Text 28"/>
          <p:cNvSpPr/>
          <p:nvPr/>
        </p:nvSpPr>
        <p:spPr>
          <a:xfrm>
            <a:off x="4672584" y="4562856"/>
            <a:ext cx="1133856" cy="457200"/>
          </a:xfrm>
          <a:prstGeom prst="rect">
            <a:avLst/>
          </a:prstGeom>
          <a:noFill/>
          <a:ln/>
        </p:spPr>
        <p:txBody>
          <a:bodyPr wrap="square" rtlCol="0" anchor="ctr"/>
          <a:lstStyle/>
          <a:p>
            <a:pPr marL="0" indent="0" algn="ctr">
              <a:lnSpc>
                <a:spcPct val="95000"/>
              </a:lnSpc>
              <a:buNone/>
            </a:pPr>
            <a:r>
              <a:rPr lang="en-US" sz="900" b="1" dirty="0">
                <a:solidFill>
                  <a:srgbClr val="1B2F4E"/>
                </a:solidFill>
                <a:latin typeface="Calibri" pitchFamily="34" charset="0"/>
                <a:ea typeface="Calibri" pitchFamily="34" charset="-122"/>
                <a:cs typeface="Calibri" pitchFamily="34" charset="-120"/>
              </a:rPr>
              <a:t>Pilot Design</a:t>
            </a:r>
            <a:endParaRPr lang="en-US" sz="900" dirty="0"/>
          </a:p>
        </p:txBody>
      </p:sp>
      <p:sp>
        <p:nvSpPr>
          <p:cNvPr id="31" name="Text 29"/>
          <p:cNvSpPr/>
          <p:nvPr/>
        </p:nvSpPr>
        <p:spPr>
          <a:xfrm>
            <a:off x="4672584" y="5010912"/>
            <a:ext cx="1133856" cy="411480"/>
          </a:xfrm>
          <a:prstGeom prst="rect">
            <a:avLst/>
          </a:prstGeom>
          <a:noFill/>
          <a:ln/>
        </p:spPr>
        <p:txBody>
          <a:bodyPr wrap="square" rtlCol="0" anchor="ctr"/>
          <a:lstStyle/>
          <a:p>
            <a:pPr marL="0" indent="0" algn="ctr">
              <a:lnSpc>
                <a:spcPct val="100000"/>
              </a:lnSpc>
              <a:buNone/>
            </a:pPr>
            <a:r>
              <a:rPr lang="en-US" sz="700" dirty="0">
                <a:solidFill>
                  <a:srgbClr val="5D6B7A"/>
                </a:solidFill>
                <a:latin typeface="Calibri" pitchFamily="34" charset="0"/>
                <a:ea typeface="Calibri" pitchFamily="34" charset="-122"/>
                <a:cs typeface="Calibri" pitchFamily="34" charset="-120"/>
              </a:rPr>
              <a:t>Working prototypes; data pipelines established</a:t>
            </a:r>
            <a:endParaRPr lang="en-US" sz="700" dirty="0"/>
          </a:p>
        </p:txBody>
      </p:sp>
      <p:sp>
        <p:nvSpPr>
          <p:cNvPr id="32" name="Shape 30"/>
          <p:cNvSpPr/>
          <p:nvPr/>
        </p:nvSpPr>
        <p:spPr>
          <a:xfrm>
            <a:off x="6565392" y="3246120"/>
            <a:ext cx="0" cy="457200"/>
          </a:xfrm>
          <a:prstGeom prst="line">
            <a:avLst/>
          </a:prstGeom>
          <a:noFill/>
          <a:ln w="19050">
            <a:solidFill>
              <a:srgbClr val="E1E6ED"/>
            </a:solidFill>
            <a:prstDash val="solid"/>
          </a:ln>
        </p:spPr>
      </p:sp>
      <p:sp>
        <p:nvSpPr>
          <p:cNvPr id="33" name="Shape 31"/>
          <p:cNvSpPr/>
          <p:nvPr/>
        </p:nvSpPr>
        <p:spPr>
          <a:xfrm>
            <a:off x="6345936" y="2880360"/>
            <a:ext cx="438912" cy="438912"/>
          </a:xfrm>
          <a:prstGeom prst="ellipse">
            <a:avLst/>
          </a:prstGeom>
          <a:solidFill>
            <a:srgbClr val="3E6B8A"/>
          </a:solidFill>
          <a:ln w="12700">
            <a:solidFill>
              <a:srgbClr val="3E6B8A"/>
            </a:solidFill>
            <a:prstDash val="solid"/>
          </a:ln>
        </p:spPr>
      </p:sp>
      <p:sp>
        <p:nvSpPr>
          <p:cNvPr id="34" name="Text 32"/>
          <p:cNvSpPr/>
          <p:nvPr/>
        </p:nvSpPr>
        <p:spPr>
          <a:xfrm>
            <a:off x="6345936" y="2880360"/>
            <a:ext cx="438912" cy="438912"/>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5" name="Shape 33"/>
          <p:cNvSpPr/>
          <p:nvPr/>
        </p:nvSpPr>
        <p:spPr>
          <a:xfrm>
            <a:off x="5943600" y="1645920"/>
            <a:ext cx="1243584" cy="1143000"/>
          </a:xfrm>
          <a:prstGeom prst="roundRect">
            <a:avLst>
              <a:gd name="adj" fmla="val 4800"/>
            </a:avLst>
          </a:prstGeom>
          <a:solidFill>
            <a:srgbClr val="F4F6F9"/>
          </a:solidFill>
          <a:ln w="12700">
            <a:solidFill>
              <a:srgbClr val="E1E6ED"/>
            </a:solidFill>
            <a:prstDash val="solid"/>
          </a:ln>
        </p:spPr>
      </p:sp>
      <p:sp>
        <p:nvSpPr>
          <p:cNvPr id="36" name="Text 34"/>
          <p:cNvSpPr/>
          <p:nvPr/>
        </p:nvSpPr>
        <p:spPr>
          <a:xfrm>
            <a:off x="5998464" y="1719072"/>
            <a:ext cx="1133856" cy="201168"/>
          </a:xfrm>
          <a:prstGeom prst="rect">
            <a:avLst/>
          </a:prstGeom>
          <a:noFill/>
          <a:ln/>
        </p:spPr>
        <p:txBody>
          <a:bodyPr wrap="square" rtlCol="0" anchor="ctr"/>
          <a:lstStyle/>
          <a:p>
            <a:pPr marL="0" indent="0" algn="ctr">
              <a:buNone/>
            </a:pPr>
            <a:r>
              <a:rPr lang="en-US" sz="850" b="1" dirty="0">
                <a:solidFill>
                  <a:srgbClr val="D98E2B"/>
                </a:solidFill>
                <a:latin typeface="Calibri" pitchFamily="34" charset="0"/>
                <a:ea typeface="Calibri" pitchFamily="34" charset="-122"/>
                <a:cs typeface="Calibri" pitchFamily="34" charset="-120"/>
              </a:rPr>
              <a:t>Wk 11–14</a:t>
            </a:r>
            <a:endParaRPr lang="en-US" sz="850" dirty="0"/>
          </a:p>
        </p:txBody>
      </p:sp>
      <p:sp>
        <p:nvSpPr>
          <p:cNvPr id="37" name="Text 35"/>
          <p:cNvSpPr/>
          <p:nvPr/>
        </p:nvSpPr>
        <p:spPr>
          <a:xfrm>
            <a:off x="5998464" y="1911096"/>
            <a:ext cx="1133856" cy="457200"/>
          </a:xfrm>
          <a:prstGeom prst="rect">
            <a:avLst/>
          </a:prstGeom>
          <a:noFill/>
          <a:ln/>
        </p:spPr>
        <p:txBody>
          <a:bodyPr wrap="square" rtlCol="0" anchor="ctr"/>
          <a:lstStyle/>
          <a:p>
            <a:pPr marL="0" indent="0" algn="ctr">
              <a:lnSpc>
                <a:spcPct val="95000"/>
              </a:lnSpc>
              <a:buNone/>
            </a:pPr>
            <a:r>
              <a:rPr lang="en-US" sz="900" b="1" dirty="0">
                <a:solidFill>
                  <a:srgbClr val="1B2F4E"/>
                </a:solidFill>
                <a:latin typeface="Calibri" pitchFamily="34" charset="0"/>
                <a:ea typeface="Calibri" pitchFamily="34" charset="-122"/>
                <a:cs typeface="Calibri" pitchFamily="34" charset="-120"/>
              </a:rPr>
              <a:t>Pilot Implementation</a:t>
            </a:r>
            <a:endParaRPr lang="en-US" sz="900" dirty="0"/>
          </a:p>
        </p:txBody>
      </p:sp>
      <p:sp>
        <p:nvSpPr>
          <p:cNvPr id="38" name="Text 36"/>
          <p:cNvSpPr/>
          <p:nvPr/>
        </p:nvSpPr>
        <p:spPr>
          <a:xfrm>
            <a:off x="5998464" y="2359152"/>
            <a:ext cx="1133856" cy="411480"/>
          </a:xfrm>
          <a:prstGeom prst="rect">
            <a:avLst/>
          </a:prstGeom>
          <a:noFill/>
          <a:ln/>
        </p:spPr>
        <p:txBody>
          <a:bodyPr wrap="square" rtlCol="0" anchor="ctr"/>
          <a:lstStyle/>
          <a:p>
            <a:pPr marL="0" indent="0" algn="ctr">
              <a:lnSpc>
                <a:spcPct val="100000"/>
              </a:lnSpc>
              <a:buNone/>
            </a:pPr>
            <a:r>
              <a:rPr lang="en-US" sz="700" dirty="0">
                <a:solidFill>
                  <a:srgbClr val="5D6B7A"/>
                </a:solidFill>
                <a:latin typeface="Calibri" pitchFamily="34" charset="0"/>
                <a:ea typeface="Calibri" pitchFamily="34" charset="-122"/>
                <a:cs typeface="Calibri" pitchFamily="34" charset="-120"/>
              </a:rPr>
              <a:t>Pilot results + performance metrics</a:t>
            </a:r>
            <a:endParaRPr lang="en-US" sz="700" dirty="0"/>
          </a:p>
        </p:txBody>
      </p:sp>
      <p:sp>
        <p:nvSpPr>
          <p:cNvPr id="39" name="Shape 37"/>
          <p:cNvSpPr/>
          <p:nvPr/>
        </p:nvSpPr>
        <p:spPr>
          <a:xfrm>
            <a:off x="7891272" y="3246120"/>
            <a:ext cx="0" cy="502920"/>
          </a:xfrm>
          <a:prstGeom prst="line">
            <a:avLst/>
          </a:prstGeom>
          <a:noFill/>
          <a:ln w="19050">
            <a:solidFill>
              <a:srgbClr val="E1E6ED"/>
            </a:solidFill>
            <a:prstDash val="solid"/>
          </a:ln>
        </p:spPr>
      </p:sp>
      <p:sp>
        <p:nvSpPr>
          <p:cNvPr id="40" name="Shape 38"/>
          <p:cNvSpPr/>
          <p:nvPr/>
        </p:nvSpPr>
        <p:spPr>
          <a:xfrm>
            <a:off x="7671816" y="3749040"/>
            <a:ext cx="438912" cy="438912"/>
          </a:xfrm>
          <a:prstGeom prst="ellipse">
            <a:avLst/>
          </a:prstGeom>
          <a:solidFill>
            <a:srgbClr val="3E6B8A"/>
          </a:solidFill>
          <a:ln w="12700">
            <a:solidFill>
              <a:srgbClr val="3E6B8A"/>
            </a:solidFill>
            <a:prstDash val="solid"/>
          </a:ln>
        </p:spPr>
      </p:sp>
      <p:sp>
        <p:nvSpPr>
          <p:cNvPr id="41" name="Text 39"/>
          <p:cNvSpPr/>
          <p:nvPr/>
        </p:nvSpPr>
        <p:spPr>
          <a:xfrm>
            <a:off x="7671816" y="3749040"/>
            <a:ext cx="438912" cy="438912"/>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42" name="Shape 40"/>
          <p:cNvSpPr/>
          <p:nvPr/>
        </p:nvSpPr>
        <p:spPr>
          <a:xfrm>
            <a:off x="7269480" y="4297680"/>
            <a:ext cx="1243584" cy="1143000"/>
          </a:xfrm>
          <a:prstGeom prst="roundRect">
            <a:avLst>
              <a:gd name="adj" fmla="val 4800"/>
            </a:avLst>
          </a:prstGeom>
          <a:solidFill>
            <a:srgbClr val="F4F6F9"/>
          </a:solidFill>
          <a:ln w="12700">
            <a:solidFill>
              <a:srgbClr val="E1E6ED"/>
            </a:solidFill>
            <a:prstDash val="solid"/>
          </a:ln>
        </p:spPr>
      </p:sp>
      <p:sp>
        <p:nvSpPr>
          <p:cNvPr id="43" name="Text 41"/>
          <p:cNvSpPr/>
          <p:nvPr/>
        </p:nvSpPr>
        <p:spPr>
          <a:xfrm>
            <a:off x="7324344" y="4370832"/>
            <a:ext cx="1133856" cy="201168"/>
          </a:xfrm>
          <a:prstGeom prst="rect">
            <a:avLst/>
          </a:prstGeom>
          <a:noFill/>
          <a:ln/>
        </p:spPr>
        <p:txBody>
          <a:bodyPr wrap="square" rtlCol="0" anchor="ctr"/>
          <a:lstStyle/>
          <a:p>
            <a:pPr marL="0" indent="0" algn="ctr">
              <a:buNone/>
            </a:pPr>
            <a:r>
              <a:rPr lang="en-US" sz="850" b="1" dirty="0">
                <a:solidFill>
                  <a:srgbClr val="D98E2B"/>
                </a:solidFill>
                <a:latin typeface="Calibri" pitchFamily="34" charset="0"/>
                <a:ea typeface="Calibri" pitchFamily="34" charset="-122"/>
                <a:cs typeface="Calibri" pitchFamily="34" charset="-120"/>
              </a:rPr>
              <a:t>Wk 15–16</a:t>
            </a:r>
            <a:endParaRPr lang="en-US" sz="850" dirty="0"/>
          </a:p>
        </p:txBody>
      </p:sp>
      <p:sp>
        <p:nvSpPr>
          <p:cNvPr id="44" name="Text 42"/>
          <p:cNvSpPr/>
          <p:nvPr/>
        </p:nvSpPr>
        <p:spPr>
          <a:xfrm>
            <a:off x="7324344" y="4562856"/>
            <a:ext cx="1133856" cy="457200"/>
          </a:xfrm>
          <a:prstGeom prst="rect">
            <a:avLst/>
          </a:prstGeom>
          <a:noFill/>
          <a:ln/>
        </p:spPr>
        <p:txBody>
          <a:bodyPr wrap="square" rtlCol="0" anchor="ctr"/>
          <a:lstStyle/>
          <a:p>
            <a:pPr marL="0" indent="0" algn="ctr">
              <a:lnSpc>
                <a:spcPct val="95000"/>
              </a:lnSpc>
              <a:buNone/>
            </a:pPr>
            <a:r>
              <a:rPr lang="en-US" sz="900" b="1" dirty="0">
                <a:solidFill>
                  <a:srgbClr val="1B2F4E"/>
                </a:solidFill>
                <a:latin typeface="Calibri" pitchFamily="34" charset="0"/>
                <a:ea typeface="Calibri" pitchFamily="34" charset="-122"/>
                <a:cs typeface="Calibri" pitchFamily="34" charset="-120"/>
              </a:rPr>
              <a:t>Evaluation &amp; Iteration</a:t>
            </a:r>
            <a:endParaRPr lang="en-US" sz="900" dirty="0"/>
          </a:p>
        </p:txBody>
      </p:sp>
      <p:sp>
        <p:nvSpPr>
          <p:cNvPr id="45" name="Text 43"/>
          <p:cNvSpPr/>
          <p:nvPr/>
        </p:nvSpPr>
        <p:spPr>
          <a:xfrm>
            <a:off x="7324344" y="5010912"/>
            <a:ext cx="1133856" cy="411480"/>
          </a:xfrm>
          <a:prstGeom prst="rect">
            <a:avLst/>
          </a:prstGeom>
          <a:noFill/>
          <a:ln/>
        </p:spPr>
        <p:txBody>
          <a:bodyPr wrap="square" rtlCol="0" anchor="ctr"/>
          <a:lstStyle/>
          <a:p>
            <a:pPr marL="0" indent="0" algn="ctr">
              <a:lnSpc>
                <a:spcPct val="100000"/>
              </a:lnSpc>
              <a:buNone/>
            </a:pPr>
            <a:r>
              <a:rPr lang="en-US" sz="700" dirty="0">
                <a:solidFill>
                  <a:srgbClr val="5D6B7A"/>
                </a:solidFill>
                <a:latin typeface="Calibri" pitchFamily="34" charset="0"/>
                <a:ea typeface="Calibri" pitchFamily="34" charset="-122"/>
                <a:cs typeface="Calibri" pitchFamily="34" charset="-120"/>
              </a:rPr>
              <a:t>Updated models and process refinements</a:t>
            </a:r>
            <a:endParaRPr lang="en-US" sz="700" dirty="0"/>
          </a:p>
        </p:txBody>
      </p:sp>
      <p:sp>
        <p:nvSpPr>
          <p:cNvPr id="46" name="Shape 44"/>
          <p:cNvSpPr/>
          <p:nvPr/>
        </p:nvSpPr>
        <p:spPr>
          <a:xfrm>
            <a:off x="9217152" y="3246120"/>
            <a:ext cx="0" cy="457200"/>
          </a:xfrm>
          <a:prstGeom prst="line">
            <a:avLst/>
          </a:prstGeom>
          <a:noFill/>
          <a:ln w="19050">
            <a:solidFill>
              <a:srgbClr val="E1E6ED"/>
            </a:solidFill>
            <a:prstDash val="solid"/>
          </a:ln>
        </p:spPr>
      </p:sp>
      <p:sp>
        <p:nvSpPr>
          <p:cNvPr id="47" name="Shape 45"/>
          <p:cNvSpPr/>
          <p:nvPr/>
        </p:nvSpPr>
        <p:spPr>
          <a:xfrm>
            <a:off x="8997696" y="2880360"/>
            <a:ext cx="438912" cy="438912"/>
          </a:xfrm>
          <a:prstGeom prst="ellipse">
            <a:avLst/>
          </a:prstGeom>
          <a:solidFill>
            <a:srgbClr val="D98E2B"/>
          </a:solidFill>
          <a:ln w="12700">
            <a:solidFill>
              <a:srgbClr val="D98E2B"/>
            </a:solidFill>
            <a:prstDash val="solid"/>
          </a:ln>
        </p:spPr>
      </p:sp>
      <p:sp>
        <p:nvSpPr>
          <p:cNvPr id="48" name="Text 46"/>
          <p:cNvSpPr/>
          <p:nvPr/>
        </p:nvSpPr>
        <p:spPr>
          <a:xfrm>
            <a:off x="8997696" y="2880360"/>
            <a:ext cx="438912" cy="438912"/>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49" name="Shape 47"/>
          <p:cNvSpPr/>
          <p:nvPr/>
        </p:nvSpPr>
        <p:spPr>
          <a:xfrm>
            <a:off x="8595360" y="1645920"/>
            <a:ext cx="1243584" cy="1143000"/>
          </a:xfrm>
          <a:prstGeom prst="roundRect">
            <a:avLst>
              <a:gd name="adj" fmla="val 4800"/>
            </a:avLst>
          </a:prstGeom>
          <a:solidFill>
            <a:srgbClr val="F4F6F9"/>
          </a:solidFill>
          <a:ln w="12700">
            <a:solidFill>
              <a:srgbClr val="E1E6ED"/>
            </a:solidFill>
            <a:prstDash val="solid"/>
          </a:ln>
        </p:spPr>
      </p:sp>
      <p:sp>
        <p:nvSpPr>
          <p:cNvPr id="50" name="Text 48"/>
          <p:cNvSpPr/>
          <p:nvPr/>
        </p:nvSpPr>
        <p:spPr>
          <a:xfrm>
            <a:off x="8650224" y="1719072"/>
            <a:ext cx="1133856" cy="201168"/>
          </a:xfrm>
          <a:prstGeom prst="rect">
            <a:avLst/>
          </a:prstGeom>
          <a:noFill/>
          <a:ln/>
        </p:spPr>
        <p:txBody>
          <a:bodyPr wrap="square" rtlCol="0" anchor="ctr"/>
          <a:lstStyle/>
          <a:p>
            <a:pPr marL="0" indent="0" algn="ctr">
              <a:buNone/>
            </a:pPr>
            <a:r>
              <a:rPr lang="en-US" sz="850" b="1" dirty="0">
                <a:solidFill>
                  <a:srgbClr val="D98E2B"/>
                </a:solidFill>
                <a:latin typeface="Calibri" pitchFamily="34" charset="0"/>
                <a:ea typeface="Calibri" pitchFamily="34" charset="-122"/>
                <a:cs typeface="Calibri" pitchFamily="34" charset="-120"/>
              </a:rPr>
              <a:t>Wk 17–22</a:t>
            </a:r>
            <a:endParaRPr lang="en-US" sz="850" dirty="0"/>
          </a:p>
        </p:txBody>
      </p:sp>
      <p:sp>
        <p:nvSpPr>
          <p:cNvPr id="51" name="Text 49"/>
          <p:cNvSpPr/>
          <p:nvPr/>
        </p:nvSpPr>
        <p:spPr>
          <a:xfrm>
            <a:off x="8650224" y="1911096"/>
            <a:ext cx="1133856" cy="457200"/>
          </a:xfrm>
          <a:prstGeom prst="rect">
            <a:avLst/>
          </a:prstGeom>
          <a:noFill/>
          <a:ln/>
        </p:spPr>
        <p:txBody>
          <a:bodyPr wrap="square" rtlCol="0" anchor="ctr"/>
          <a:lstStyle/>
          <a:p>
            <a:pPr marL="0" indent="0" algn="ctr">
              <a:lnSpc>
                <a:spcPct val="95000"/>
              </a:lnSpc>
              <a:buNone/>
            </a:pPr>
            <a:r>
              <a:rPr lang="en-US" sz="900" b="1" dirty="0">
                <a:solidFill>
                  <a:srgbClr val="1B2F4E"/>
                </a:solidFill>
                <a:latin typeface="Calibri" pitchFamily="34" charset="0"/>
                <a:ea typeface="Calibri" pitchFamily="34" charset="-122"/>
                <a:cs typeface="Calibri" pitchFamily="34" charset="-120"/>
              </a:rPr>
              <a:t>Full Deployment</a:t>
            </a:r>
            <a:endParaRPr lang="en-US" sz="900" dirty="0"/>
          </a:p>
        </p:txBody>
      </p:sp>
      <p:sp>
        <p:nvSpPr>
          <p:cNvPr id="52" name="Text 50"/>
          <p:cNvSpPr/>
          <p:nvPr/>
        </p:nvSpPr>
        <p:spPr>
          <a:xfrm>
            <a:off x="8650224" y="2359152"/>
            <a:ext cx="1133856" cy="411480"/>
          </a:xfrm>
          <a:prstGeom prst="rect">
            <a:avLst/>
          </a:prstGeom>
          <a:noFill/>
          <a:ln/>
        </p:spPr>
        <p:txBody>
          <a:bodyPr wrap="square" rtlCol="0" anchor="ctr"/>
          <a:lstStyle/>
          <a:p>
            <a:pPr marL="0" indent="0" algn="ctr">
              <a:lnSpc>
                <a:spcPct val="100000"/>
              </a:lnSpc>
              <a:buNone/>
            </a:pPr>
            <a:r>
              <a:rPr lang="en-US" sz="700" dirty="0">
                <a:solidFill>
                  <a:srgbClr val="5D6B7A"/>
                </a:solidFill>
                <a:latin typeface="Calibri" pitchFamily="34" charset="0"/>
                <a:ea typeface="Calibri" pitchFamily="34" charset="-122"/>
                <a:cs typeface="Calibri" pitchFamily="34" charset="-120"/>
              </a:rPr>
              <a:t>Production rollout; training completed</a:t>
            </a:r>
            <a:endParaRPr lang="en-US" sz="700" dirty="0"/>
          </a:p>
        </p:txBody>
      </p:sp>
      <p:sp>
        <p:nvSpPr>
          <p:cNvPr id="53" name="Shape 51"/>
          <p:cNvSpPr/>
          <p:nvPr/>
        </p:nvSpPr>
        <p:spPr>
          <a:xfrm>
            <a:off x="10543032" y="3246120"/>
            <a:ext cx="0" cy="502920"/>
          </a:xfrm>
          <a:prstGeom prst="line">
            <a:avLst/>
          </a:prstGeom>
          <a:noFill/>
          <a:ln w="19050">
            <a:solidFill>
              <a:srgbClr val="E1E6ED"/>
            </a:solidFill>
            <a:prstDash val="solid"/>
          </a:ln>
        </p:spPr>
      </p:sp>
      <p:sp>
        <p:nvSpPr>
          <p:cNvPr id="54" name="Shape 52"/>
          <p:cNvSpPr/>
          <p:nvPr/>
        </p:nvSpPr>
        <p:spPr>
          <a:xfrm>
            <a:off x="10323576" y="3749040"/>
            <a:ext cx="438912" cy="438912"/>
          </a:xfrm>
          <a:prstGeom prst="ellipse">
            <a:avLst/>
          </a:prstGeom>
          <a:solidFill>
            <a:srgbClr val="D98E2B"/>
          </a:solidFill>
          <a:ln w="12700">
            <a:solidFill>
              <a:srgbClr val="D98E2B"/>
            </a:solidFill>
            <a:prstDash val="solid"/>
          </a:ln>
        </p:spPr>
      </p:sp>
      <p:sp>
        <p:nvSpPr>
          <p:cNvPr id="55" name="Text 53"/>
          <p:cNvSpPr/>
          <p:nvPr/>
        </p:nvSpPr>
        <p:spPr>
          <a:xfrm>
            <a:off x="10323576" y="3749040"/>
            <a:ext cx="438912" cy="438912"/>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8</a:t>
            </a:r>
            <a:endParaRPr lang="en-US" sz="1600" dirty="0"/>
          </a:p>
        </p:txBody>
      </p:sp>
      <p:sp>
        <p:nvSpPr>
          <p:cNvPr id="56" name="Shape 54"/>
          <p:cNvSpPr/>
          <p:nvPr/>
        </p:nvSpPr>
        <p:spPr>
          <a:xfrm>
            <a:off x="9921240" y="4297680"/>
            <a:ext cx="1243584" cy="1143000"/>
          </a:xfrm>
          <a:prstGeom prst="roundRect">
            <a:avLst>
              <a:gd name="adj" fmla="val 4800"/>
            </a:avLst>
          </a:prstGeom>
          <a:solidFill>
            <a:srgbClr val="F4F6F9"/>
          </a:solidFill>
          <a:ln w="12700">
            <a:solidFill>
              <a:srgbClr val="E1E6ED"/>
            </a:solidFill>
            <a:prstDash val="solid"/>
          </a:ln>
        </p:spPr>
      </p:sp>
      <p:sp>
        <p:nvSpPr>
          <p:cNvPr id="57" name="Text 55"/>
          <p:cNvSpPr/>
          <p:nvPr/>
        </p:nvSpPr>
        <p:spPr>
          <a:xfrm>
            <a:off x="9976104" y="4370832"/>
            <a:ext cx="1133856" cy="201168"/>
          </a:xfrm>
          <a:prstGeom prst="rect">
            <a:avLst/>
          </a:prstGeom>
          <a:noFill/>
          <a:ln/>
        </p:spPr>
        <p:txBody>
          <a:bodyPr wrap="square" rtlCol="0" anchor="ctr"/>
          <a:lstStyle/>
          <a:p>
            <a:pPr marL="0" indent="0" algn="ctr">
              <a:buNone/>
            </a:pPr>
            <a:r>
              <a:rPr lang="en-US" sz="850" b="1" dirty="0">
                <a:solidFill>
                  <a:srgbClr val="D98E2B"/>
                </a:solidFill>
                <a:latin typeface="Calibri" pitchFamily="34" charset="0"/>
                <a:ea typeface="Calibri" pitchFamily="34" charset="-122"/>
                <a:cs typeface="Calibri" pitchFamily="34" charset="-120"/>
              </a:rPr>
              <a:t>Wk 23–24</a:t>
            </a:r>
            <a:endParaRPr lang="en-US" sz="850" dirty="0"/>
          </a:p>
        </p:txBody>
      </p:sp>
      <p:sp>
        <p:nvSpPr>
          <p:cNvPr id="58" name="Text 56"/>
          <p:cNvSpPr/>
          <p:nvPr/>
        </p:nvSpPr>
        <p:spPr>
          <a:xfrm>
            <a:off x="9976104" y="4562856"/>
            <a:ext cx="1133856" cy="457200"/>
          </a:xfrm>
          <a:prstGeom prst="rect">
            <a:avLst/>
          </a:prstGeom>
          <a:noFill/>
          <a:ln/>
        </p:spPr>
        <p:txBody>
          <a:bodyPr wrap="square" rtlCol="0" anchor="ctr"/>
          <a:lstStyle/>
          <a:p>
            <a:pPr marL="0" indent="0" algn="ctr">
              <a:lnSpc>
                <a:spcPct val="95000"/>
              </a:lnSpc>
              <a:buNone/>
            </a:pPr>
            <a:r>
              <a:rPr lang="en-US" sz="900" b="1" dirty="0">
                <a:solidFill>
                  <a:srgbClr val="1B2F4E"/>
                </a:solidFill>
                <a:latin typeface="Calibri" pitchFamily="34" charset="0"/>
                <a:ea typeface="Calibri" pitchFamily="34" charset="-122"/>
                <a:cs typeface="Calibri" pitchFamily="34" charset="-120"/>
              </a:rPr>
              <a:t>Monitoring &amp; Review</a:t>
            </a:r>
            <a:endParaRPr lang="en-US" sz="900" dirty="0"/>
          </a:p>
        </p:txBody>
      </p:sp>
      <p:sp>
        <p:nvSpPr>
          <p:cNvPr id="59" name="Text 57"/>
          <p:cNvSpPr/>
          <p:nvPr/>
        </p:nvSpPr>
        <p:spPr>
          <a:xfrm>
            <a:off x="9976104" y="5010912"/>
            <a:ext cx="1133856" cy="411480"/>
          </a:xfrm>
          <a:prstGeom prst="rect">
            <a:avLst/>
          </a:prstGeom>
          <a:noFill/>
          <a:ln/>
        </p:spPr>
        <p:txBody>
          <a:bodyPr wrap="square" rtlCol="0" anchor="ctr"/>
          <a:lstStyle/>
          <a:p>
            <a:pPr marL="0" indent="0" algn="ctr">
              <a:lnSpc>
                <a:spcPct val="100000"/>
              </a:lnSpc>
              <a:buNone/>
            </a:pPr>
            <a:r>
              <a:rPr lang="en-US" sz="700" dirty="0">
                <a:solidFill>
                  <a:srgbClr val="5D6B7A"/>
                </a:solidFill>
                <a:latin typeface="Calibri" pitchFamily="34" charset="0"/>
                <a:ea typeface="Calibri" pitchFamily="34" charset="-122"/>
                <a:cs typeface="Calibri" pitchFamily="34" charset="-120"/>
              </a:rPr>
              <a:t>Closure report + scaling recommendations</a:t>
            </a:r>
            <a:endParaRPr lang="en-US" sz="700" dirty="0"/>
          </a:p>
        </p:txBody>
      </p:sp>
      <p:sp>
        <p:nvSpPr>
          <p:cNvPr id="60" name="Text 58"/>
          <p:cNvSpPr/>
          <p:nvPr/>
        </p:nvSpPr>
        <p:spPr>
          <a:xfrm>
            <a:off x="640080" y="5989320"/>
            <a:ext cx="10515600" cy="365760"/>
          </a:xfrm>
          <a:prstGeom prst="rect">
            <a:avLst/>
          </a:prstGeom>
          <a:noFill/>
          <a:ln/>
        </p:spPr>
        <p:txBody>
          <a:bodyPr wrap="square" rtlCol="0" anchor="ctr"/>
          <a:lstStyle/>
          <a:p>
            <a:pPr marL="0" indent="0">
              <a:buNone/>
            </a:pPr>
            <a:r>
              <a:rPr lang="en-US" sz="1150" i="1" dirty="0">
                <a:solidFill>
                  <a:srgbClr val="5D6B7A"/>
                </a:solidFill>
                <a:latin typeface="Calibri" pitchFamily="34" charset="0"/>
                <a:ea typeface="Calibri" pitchFamily="34" charset="-122"/>
                <a:cs typeface="Calibri" pitchFamily="34" charset="-120"/>
              </a:rPr>
              <a:t>Mira's Document Intelligence Pipeline ingests this exact timeline (as a source PDF) to seed the generated project plan.</a:t>
            </a:r>
            <a:endParaRPr lang="en-US" sz="1150" dirty="0"/>
          </a:p>
        </p:txBody>
      </p:sp>
      <p:sp>
        <p:nvSpPr>
          <p:cNvPr id="61" name="Text 59"/>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MIRA — Multi-Agent PMO Orchestrator</a:t>
            </a:r>
            <a:endParaRPr lang="en-US" sz="900" dirty="0"/>
          </a:p>
        </p:txBody>
      </p:sp>
      <p:sp>
        <p:nvSpPr>
          <p:cNvPr id="62" name="Text 60"/>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D6B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rtlCol="0" anchor="ctr"/>
          <a:lstStyle/>
          <a:p>
            <a:pPr marL="0" indent="0" algn="l">
              <a:buNone/>
            </a:pPr>
            <a:r>
              <a:rPr lang="en-US" sz="1250" b="1" kern="0" spc="200" dirty="0">
                <a:solidFill>
                  <a:srgbClr val="3E6B8A"/>
                </a:solidFill>
                <a:latin typeface="Calibri" pitchFamily="34" charset="0"/>
                <a:ea typeface="Calibri" pitchFamily="34" charset="-122"/>
                <a:cs typeface="Calibri" pitchFamily="34" charset="-120"/>
              </a:rPr>
              <a:t>RISK LANDSCAPE</a:t>
            </a:r>
            <a:endParaRPr lang="en-US" sz="1250" dirty="0"/>
          </a:p>
        </p:txBody>
      </p:sp>
      <p:sp>
        <p:nvSpPr>
          <p:cNvPr id="3" name="Text 1"/>
          <p:cNvSpPr/>
          <p:nvPr/>
        </p:nvSpPr>
        <p:spPr>
          <a:xfrm>
            <a:off x="640080" y="658368"/>
            <a:ext cx="10607040" cy="658368"/>
          </a:xfrm>
          <a:prstGeom prst="rect">
            <a:avLst/>
          </a:prstGeom>
          <a:noFill/>
          <a:ln/>
        </p:spPr>
        <p:txBody>
          <a:bodyPr wrap="square" rtlCol="0" anchor="ctr"/>
          <a:lstStyle/>
          <a:p>
            <a:pPr marL="0" indent="0" algn="l">
              <a:buNone/>
            </a:pPr>
            <a:r>
              <a:rPr lang="en-US" sz="3200" b="1" dirty="0">
                <a:solidFill>
                  <a:srgbClr val="1B2F4E"/>
                </a:solidFill>
                <a:latin typeface="Cambria" pitchFamily="34" charset="0"/>
                <a:ea typeface="Cambria" pitchFamily="34" charset="-122"/>
                <a:cs typeface="Cambria" pitchFamily="34" charset="-120"/>
              </a:rPr>
              <a:t>10-Category Risk Register Feeds Mira's Plans</a:t>
            </a:r>
            <a:endParaRPr lang="en-US" sz="3200" dirty="0"/>
          </a:p>
        </p:txBody>
      </p:sp>
      <p:sp>
        <p:nvSpPr>
          <p:cNvPr id="4" name="Text 2"/>
          <p:cNvSpPr/>
          <p:nvPr/>
        </p:nvSpPr>
        <p:spPr>
          <a:xfrm>
            <a:off x="640080" y="1298448"/>
            <a:ext cx="10424160" cy="365760"/>
          </a:xfrm>
          <a:prstGeom prst="rect">
            <a:avLst/>
          </a:prstGeom>
          <a:noFill/>
          <a:ln/>
        </p:spPr>
        <p:txBody>
          <a:bodyPr wrap="square" rtlCol="0" anchor="ctr"/>
          <a:lstStyle/>
          <a:p>
            <a:pPr marL="0" indent="0">
              <a:buNone/>
            </a:pPr>
            <a:r>
              <a:rPr lang="en-US" sz="1300" dirty="0">
                <a:solidFill>
                  <a:srgbClr val="5D6B7A"/>
                </a:solidFill>
                <a:latin typeface="Calibri" pitchFamily="34" charset="0"/>
                <a:ea typeface="Calibri" pitchFamily="34" charset="-122"/>
                <a:cs typeface="Calibri" pitchFamily="34" charset="-120"/>
              </a:rPr>
              <a:t>Every generated plan is grounded in this register — so mitigation strategy, not just milestone dates, reaches the stakeholder inbox.</a:t>
            </a:r>
            <a:endParaRPr lang="en-US" sz="1300" dirty="0"/>
          </a:p>
        </p:txBody>
      </p:sp>
      <p:sp>
        <p:nvSpPr>
          <p:cNvPr id="5" name="Shape 3"/>
          <p:cNvSpPr/>
          <p:nvPr/>
        </p:nvSpPr>
        <p:spPr>
          <a:xfrm>
            <a:off x="640080" y="1874520"/>
            <a:ext cx="10881360" cy="457200"/>
          </a:xfrm>
          <a:prstGeom prst="roundRect">
            <a:avLst>
              <a:gd name="adj" fmla="val 10000"/>
            </a:avLst>
          </a:prstGeom>
          <a:solidFill>
            <a:srgbClr val="1B2F4E"/>
          </a:solidFill>
          <a:ln/>
        </p:spPr>
      </p:sp>
      <p:sp>
        <p:nvSpPr>
          <p:cNvPr id="6" name="Text 4"/>
          <p:cNvSpPr/>
          <p:nvPr/>
        </p:nvSpPr>
        <p:spPr>
          <a:xfrm>
            <a:off x="777240" y="1874520"/>
            <a:ext cx="306324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Risk Category</a:t>
            </a:r>
            <a:endParaRPr lang="en-US" sz="1200" dirty="0"/>
          </a:p>
        </p:txBody>
      </p:sp>
      <p:sp>
        <p:nvSpPr>
          <p:cNvPr id="7" name="Text 5"/>
          <p:cNvSpPr/>
          <p:nvPr/>
        </p:nvSpPr>
        <p:spPr>
          <a:xfrm>
            <a:off x="4023360" y="1874520"/>
            <a:ext cx="416052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Core Challenge</a:t>
            </a:r>
            <a:endParaRPr lang="en-US" sz="1200" dirty="0"/>
          </a:p>
        </p:txBody>
      </p:sp>
      <p:sp>
        <p:nvSpPr>
          <p:cNvPr id="8" name="Text 6"/>
          <p:cNvSpPr/>
          <p:nvPr/>
        </p:nvSpPr>
        <p:spPr>
          <a:xfrm>
            <a:off x="8366760" y="1874520"/>
            <a:ext cx="310896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Mitigation Strategy</a:t>
            </a:r>
            <a:endParaRPr lang="en-US" sz="1200" dirty="0"/>
          </a:p>
        </p:txBody>
      </p:sp>
      <p:sp>
        <p:nvSpPr>
          <p:cNvPr id="9" name="Shape 7"/>
          <p:cNvSpPr/>
          <p:nvPr/>
        </p:nvSpPr>
        <p:spPr>
          <a:xfrm>
            <a:off x="640080" y="2331720"/>
            <a:ext cx="10881360" cy="713232"/>
          </a:xfrm>
          <a:prstGeom prst="rect">
            <a:avLst/>
          </a:prstGeom>
          <a:solidFill>
            <a:srgbClr val="FFFFFF"/>
          </a:solidFill>
          <a:ln w="9525">
            <a:solidFill>
              <a:srgbClr val="E1E6ED"/>
            </a:solidFill>
            <a:prstDash val="solid"/>
          </a:ln>
        </p:spPr>
      </p:sp>
      <p:sp>
        <p:nvSpPr>
          <p:cNvPr id="10" name="Text 8"/>
          <p:cNvSpPr/>
          <p:nvPr/>
        </p:nvSpPr>
        <p:spPr>
          <a:xfrm>
            <a:off x="777240" y="2331720"/>
            <a:ext cx="3063240" cy="713232"/>
          </a:xfrm>
          <a:prstGeom prst="rect">
            <a:avLst/>
          </a:prstGeom>
          <a:noFill/>
          <a:ln/>
        </p:spPr>
        <p:txBody>
          <a:bodyPr wrap="square" rtlCol="0" anchor="ctr"/>
          <a:lstStyle/>
          <a:p>
            <a:pPr marL="0" indent="0">
              <a:lnSpc>
                <a:spcPct val="105000"/>
              </a:lnSpc>
              <a:buNone/>
            </a:pPr>
            <a:r>
              <a:rPr lang="en-US" sz="1150" b="1" dirty="0">
                <a:solidFill>
                  <a:srgbClr val="1B2F4E"/>
                </a:solidFill>
                <a:latin typeface="Calibri" pitchFamily="34" charset="0"/>
                <a:ea typeface="Calibri" pitchFamily="34" charset="-122"/>
                <a:cs typeface="Calibri" pitchFamily="34" charset="-120"/>
              </a:rPr>
              <a:t>Data Quality &amp; Availability</a:t>
            </a:r>
            <a:endParaRPr lang="en-US" sz="1150" dirty="0"/>
          </a:p>
        </p:txBody>
      </p:sp>
      <p:sp>
        <p:nvSpPr>
          <p:cNvPr id="11" name="Text 9"/>
          <p:cNvSpPr/>
          <p:nvPr/>
        </p:nvSpPr>
        <p:spPr>
          <a:xfrm>
            <a:off x="4023360" y="2331720"/>
            <a:ext cx="4160520" cy="713232"/>
          </a:xfrm>
          <a:prstGeom prst="rect">
            <a:avLst/>
          </a:prstGeom>
          <a:noFill/>
          <a:ln/>
        </p:spPr>
        <p:txBody>
          <a:bodyPr wrap="square" rtlCol="0" anchor="ctr"/>
          <a:lstStyle/>
          <a:p>
            <a:pPr marL="0" indent="0">
              <a:lnSpc>
                <a:spcPct val="105000"/>
              </a:lnSpc>
              <a:buNone/>
            </a:pPr>
            <a:r>
              <a:rPr lang="en-US" sz="1050" dirty="0">
                <a:solidFill>
                  <a:srgbClr val="1C2733"/>
                </a:solidFill>
                <a:latin typeface="Calibri" pitchFamily="34" charset="0"/>
                <a:ea typeface="Calibri" pitchFamily="34" charset="-122"/>
                <a:cs typeface="Calibri" pitchFamily="34" charset="-120"/>
              </a:rPr>
              <a:t>Poor model performance from incomplete/unstructured data</a:t>
            </a:r>
            <a:endParaRPr lang="en-US" sz="1050" dirty="0"/>
          </a:p>
        </p:txBody>
      </p:sp>
      <p:sp>
        <p:nvSpPr>
          <p:cNvPr id="12" name="Text 10"/>
          <p:cNvSpPr/>
          <p:nvPr/>
        </p:nvSpPr>
        <p:spPr>
          <a:xfrm>
            <a:off x="8366760" y="2331720"/>
            <a:ext cx="3108960" cy="713232"/>
          </a:xfrm>
          <a:prstGeom prst="rect">
            <a:avLst/>
          </a:prstGeom>
          <a:noFill/>
          <a:ln/>
        </p:spPr>
        <p:txBody>
          <a:bodyPr wrap="square" rtlCol="0" anchor="ctr"/>
          <a:lstStyle/>
          <a:p>
            <a:pPr marL="0" indent="0">
              <a:lnSpc>
                <a:spcPct val="105000"/>
              </a:lnSpc>
              <a:buNone/>
            </a:pPr>
            <a:r>
              <a:rPr lang="en-US" sz="1050" dirty="0">
                <a:solidFill>
                  <a:srgbClr val="5D6B7A"/>
                </a:solidFill>
                <a:latin typeface="Calibri" pitchFamily="34" charset="0"/>
                <a:ea typeface="Calibri" pitchFamily="34" charset="-122"/>
                <a:cs typeface="Calibri" pitchFamily="34" charset="-120"/>
              </a:rPr>
              <a:t>Early data audits + governance</a:t>
            </a:r>
            <a:endParaRPr lang="en-US" sz="1050" dirty="0"/>
          </a:p>
        </p:txBody>
      </p:sp>
      <p:sp>
        <p:nvSpPr>
          <p:cNvPr id="13" name="Shape 11"/>
          <p:cNvSpPr/>
          <p:nvPr/>
        </p:nvSpPr>
        <p:spPr>
          <a:xfrm>
            <a:off x="640080" y="3044952"/>
            <a:ext cx="10881360" cy="713232"/>
          </a:xfrm>
          <a:prstGeom prst="rect">
            <a:avLst/>
          </a:prstGeom>
          <a:solidFill>
            <a:srgbClr val="F4F6F9"/>
          </a:solidFill>
          <a:ln w="9525">
            <a:solidFill>
              <a:srgbClr val="E1E6ED"/>
            </a:solidFill>
            <a:prstDash val="solid"/>
          </a:ln>
        </p:spPr>
      </p:sp>
      <p:sp>
        <p:nvSpPr>
          <p:cNvPr id="14" name="Text 12"/>
          <p:cNvSpPr/>
          <p:nvPr/>
        </p:nvSpPr>
        <p:spPr>
          <a:xfrm>
            <a:off x="777240" y="3044952"/>
            <a:ext cx="3063240" cy="713232"/>
          </a:xfrm>
          <a:prstGeom prst="rect">
            <a:avLst/>
          </a:prstGeom>
          <a:noFill/>
          <a:ln/>
        </p:spPr>
        <p:txBody>
          <a:bodyPr wrap="square" rtlCol="0" anchor="ctr"/>
          <a:lstStyle/>
          <a:p>
            <a:pPr marL="0" indent="0">
              <a:lnSpc>
                <a:spcPct val="105000"/>
              </a:lnSpc>
              <a:buNone/>
            </a:pPr>
            <a:r>
              <a:rPr lang="en-US" sz="1150" b="1" dirty="0">
                <a:solidFill>
                  <a:srgbClr val="1B2F4E"/>
                </a:solidFill>
                <a:latin typeface="Calibri" pitchFamily="34" charset="0"/>
                <a:ea typeface="Calibri" pitchFamily="34" charset="-122"/>
                <a:cs typeface="Calibri" pitchFamily="34" charset="-120"/>
              </a:rPr>
              <a:t>Integration Issues</a:t>
            </a:r>
            <a:endParaRPr lang="en-US" sz="1150" dirty="0"/>
          </a:p>
        </p:txBody>
      </p:sp>
      <p:sp>
        <p:nvSpPr>
          <p:cNvPr id="15" name="Text 13"/>
          <p:cNvSpPr/>
          <p:nvPr/>
        </p:nvSpPr>
        <p:spPr>
          <a:xfrm>
            <a:off x="4023360" y="3044952"/>
            <a:ext cx="4160520" cy="713232"/>
          </a:xfrm>
          <a:prstGeom prst="rect">
            <a:avLst/>
          </a:prstGeom>
          <a:noFill/>
          <a:ln/>
        </p:spPr>
        <p:txBody>
          <a:bodyPr wrap="square" rtlCol="0" anchor="ctr"/>
          <a:lstStyle/>
          <a:p>
            <a:pPr marL="0" indent="0">
              <a:lnSpc>
                <a:spcPct val="105000"/>
              </a:lnSpc>
              <a:buNone/>
            </a:pPr>
            <a:r>
              <a:rPr lang="en-US" sz="1050" dirty="0">
                <a:solidFill>
                  <a:srgbClr val="1C2733"/>
                </a:solidFill>
                <a:latin typeface="Calibri" pitchFamily="34" charset="0"/>
                <a:ea typeface="Calibri" pitchFamily="34" charset="-122"/>
                <a:cs typeface="Calibri" pitchFamily="34" charset="-120"/>
              </a:rPr>
              <a:t>Legacy-system friction delays deployment</a:t>
            </a:r>
            <a:endParaRPr lang="en-US" sz="1050" dirty="0"/>
          </a:p>
        </p:txBody>
      </p:sp>
      <p:sp>
        <p:nvSpPr>
          <p:cNvPr id="16" name="Text 14"/>
          <p:cNvSpPr/>
          <p:nvPr/>
        </p:nvSpPr>
        <p:spPr>
          <a:xfrm>
            <a:off x="8366760" y="3044952"/>
            <a:ext cx="3108960" cy="713232"/>
          </a:xfrm>
          <a:prstGeom prst="rect">
            <a:avLst/>
          </a:prstGeom>
          <a:noFill/>
          <a:ln/>
        </p:spPr>
        <p:txBody>
          <a:bodyPr wrap="square" rtlCol="0" anchor="ctr"/>
          <a:lstStyle/>
          <a:p>
            <a:pPr marL="0" indent="0">
              <a:lnSpc>
                <a:spcPct val="105000"/>
              </a:lnSpc>
              <a:buNone/>
            </a:pPr>
            <a:r>
              <a:rPr lang="en-US" sz="1050" dirty="0">
                <a:solidFill>
                  <a:srgbClr val="5D6B7A"/>
                </a:solidFill>
                <a:latin typeface="Calibri" pitchFamily="34" charset="0"/>
                <a:ea typeface="Calibri" pitchFamily="34" charset="-122"/>
                <a:cs typeface="Calibri" pitchFamily="34" charset="-120"/>
              </a:rPr>
              <a:t>API/middleware roadmap + DevOps support</a:t>
            </a:r>
            <a:endParaRPr lang="en-US" sz="1050" dirty="0"/>
          </a:p>
        </p:txBody>
      </p:sp>
      <p:sp>
        <p:nvSpPr>
          <p:cNvPr id="17" name="Shape 15"/>
          <p:cNvSpPr/>
          <p:nvPr/>
        </p:nvSpPr>
        <p:spPr>
          <a:xfrm>
            <a:off x="640080" y="3758184"/>
            <a:ext cx="10881360" cy="713232"/>
          </a:xfrm>
          <a:prstGeom prst="rect">
            <a:avLst/>
          </a:prstGeom>
          <a:solidFill>
            <a:srgbClr val="FFFFFF"/>
          </a:solidFill>
          <a:ln w="9525">
            <a:solidFill>
              <a:srgbClr val="E1E6ED"/>
            </a:solidFill>
            <a:prstDash val="solid"/>
          </a:ln>
        </p:spPr>
      </p:sp>
      <p:sp>
        <p:nvSpPr>
          <p:cNvPr id="18" name="Text 16"/>
          <p:cNvSpPr/>
          <p:nvPr/>
        </p:nvSpPr>
        <p:spPr>
          <a:xfrm>
            <a:off x="777240" y="3758184"/>
            <a:ext cx="3063240" cy="713232"/>
          </a:xfrm>
          <a:prstGeom prst="rect">
            <a:avLst/>
          </a:prstGeom>
          <a:noFill/>
          <a:ln/>
        </p:spPr>
        <p:txBody>
          <a:bodyPr wrap="square" rtlCol="0" anchor="ctr"/>
          <a:lstStyle/>
          <a:p>
            <a:pPr marL="0" indent="0">
              <a:lnSpc>
                <a:spcPct val="105000"/>
              </a:lnSpc>
              <a:buNone/>
            </a:pPr>
            <a:r>
              <a:rPr lang="en-US" sz="1150" b="1" dirty="0">
                <a:solidFill>
                  <a:srgbClr val="1B2F4E"/>
                </a:solidFill>
                <a:latin typeface="Calibri" pitchFamily="34" charset="0"/>
                <a:ea typeface="Calibri" pitchFamily="34" charset="-122"/>
                <a:cs typeface="Calibri" pitchFamily="34" charset="-120"/>
              </a:rPr>
              <a:t>Talent &amp; Skills Gap</a:t>
            </a:r>
            <a:endParaRPr lang="en-US" sz="1150" dirty="0"/>
          </a:p>
        </p:txBody>
      </p:sp>
      <p:sp>
        <p:nvSpPr>
          <p:cNvPr id="19" name="Text 17"/>
          <p:cNvSpPr/>
          <p:nvPr/>
        </p:nvSpPr>
        <p:spPr>
          <a:xfrm>
            <a:off x="4023360" y="3758184"/>
            <a:ext cx="4160520" cy="713232"/>
          </a:xfrm>
          <a:prstGeom prst="rect">
            <a:avLst/>
          </a:prstGeom>
          <a:noFill/>
          <a:ln/>
        </p:spPr>
        <p:txBody>
          <a:bodyPr wrap="square" rtlCol="0" anchor="ctr"/>
          <a:lstStyle/>
          <a:p>
            <a:pPr marL="0" indent="0">
              <a:lnSpc>
                <a:spcPct val="105000"/>
              </a:lnSpc>
              <a:buNone/>
            </a:pPr>
            <a:r>
              <a:rPr lang="en-US" sz="1050" dirty="0">
                <a:solidFill>
                  <a:srgbClr val="1C2733"/>
                </a:solidFill>
                <a:latin typeface="Calibri" pitchFamily="34" charset="0"/>
                <a:ea typeface="Calibri" pitchFamily="34" charset="-122"/>
                <a:cs typeface="Calibri" pitchFamily="34" charset="-120"/>
              </a:rPr>
              <a:t>Internal AI/ML expertise shortfall</a:t>
            </a:r>
            <a:endParaRPr lang="en-US" sz="1050" dirty="0"/>
          </a:p>
        </p:txBody>
      </p:sp>
      <p:sp>
        <p:nvSpPr>
          <p:cNvPr id="20" name="Text 18"/>
          <p:cNvSpPr/>
          <p:nvPr/>
        </p:nvSpPr>
        <p:spPr>
          <a:xfrm>
            <a:off x="8366760" y="3758184"/>
            <a:ext cx="3108960" cy="713232"/>
          </a:xfrm>
          <a:prstGeom prst="rect">
            <a:avLst/>
          </a:prstGeom>
          <a:noFill/>
          <a:ln/>
        </p:spPr>
        <p:txBody>
          <a:bodyPr wrap="square" rtlCol="0" anchor="ctr"/>
          <a:lstStyle/>
          <a:p>
            <a:pPr marL="0" indent="0">
              <a:lnSpc>
                <a:spcPct val="105000"/>
              </a:lnSpc>
              <a:buNone/>
            </a:pPr>
            <a:r>
              <a:rPr lang="en-US" sz="1050" dirty="0">
                <a:solidFill>
                  <a:srgbClr val="5D6B7A"/>
                </a:solidFill>
                <a:latin typeface="Calibri" pitchFamily="34" charset="0"/>
                <a:ea typeface="Calibri" pitchFamily="34" charset="-122"/>
                <a:cs typeface="Calibri" pitchFamily="34" charset="-120"/>
              </a:rPr>
              <a:t>Staff training + specialized hiring</a:t>
            </a:r>
            <a:endParaRPr lang="en-US" sz="1050" dirty="0"/>
          </a:p>
        </p:txBody>
      </p:sp>
      <p:sp>
        <p:nvSpPr>
          <p:cNvPr id="21" name="Shape 19"/>
          <p:cNvSpPr/>
          <p:nvPr/>
        </p:nvSpPr>
        <p:spPr>
          <a:xfrm>
            <a:off x="640080" y="4471416"/>
            <a:ext cx="10881360" cy="713232"/>
          </a:xfrm>
          <a:prstGeom prst="rect">
            <a:avLst/>
          </a:prstGeom>
          <a:solidFill>
            <a:srgbClr val="F4F6F9"/>
          </a:solidFill>
          <a:ln w="9525">
            <a:solidFill>
              <a:srgbClr val="E1E6ED"/>
            </a:solidFill>
            <a:prstDash val="solid"/>
          </a:ln>
        </p:spPr>
      </p:sp>
      <p:sp>
        <p:nvSpPr>
          <p:cNvPr id="22" name="Text 20"/>
          <p:cNvSpPr/>
          <p:nvPr/>
        </p:nvSpPr>
        <p:spPr>
          <a:xfrm>
            <a:off x="777240" y="4471416"/>
            <a:ext cx="3063240" cy="713232"/>
          </a:xfrm>
          <a:prstGeom prst="rect">
            <a:avLst/>
          </a:prstGeom>
          <a:noFill/>
          <a:ln/>
        </p:spPr>
        <p:txBody>
          <a:bodyPr wrap="square" rtlCol="0" anchor="ctr"/>
          <a:lstStyle/>
          <a:p>
            <a:pPr marL="0" indent="0">
              <a:lnSpc>
                <a:spcPct val="105000"/>
              </a:lnSpc>
              <a:buNone/>
            </a:pPr>
            <a:r>
              <a:rPr lang="en-US" sz="1150" b="1" dirty="0">
                <a:solidFill>
                  <a:srgbClr val="1B2F4E"/>
                </a:solidFill>
                <a:latin typeface="Calibri" pitchFamily="34" charset="0"/>
                <a:ea typeface="Calibri" pitchFamily="34" charset="-122"/>
                <a:cs typeface="Calibri" pitchFamily="34" charset="-120"/>
              </a:rPr>
              <a:t>Change Resistance</a:t>
            </a:r>
            <a:endParaRPr lang="en-US" sz="1150" dirty="0"/>
          </a:p>
        </p:txBody>
      </p:sp>
      <p:sp>
        <p:nvSpPr>
          <p:cNvPr id="23" name="Text 21"/>
          <p:cNvSpPr/>
          <p:nvPr/>
        </p:nvSpPr>
        <p:spPr>
          <a:xfrm>
            <a:off x="4023360" y="4471416"/>
            <a:ext cx="4160520" cy="713232"/>
          </a:xfrm>
          <a:prstGeom prst="rect">
            <a:avLst/>
          </a:prstGeom>
          <a:noFill/>
          <a:ln/>
        </p:spPr>
        <p:txBody>
          <a:bodyPr wrap="square" rtlCol="0" anchor="ctr"/>
          <a:lstStyle/>
          <a:p>
            <a:pPr marL="0" indent="0">
              <a:lnSpc>
                <a:spcPct val="105000"/>
              </a:lnSpc>
              <a:buNone/>
            </a:pPr>
            <a:r>
              <a:rPr lang="en-US" sz="1050" dirty="0">
                <a:solidFill>
                  <a:srgbClr val="1C2733"/>
                </a:solidFill>
                <a:latin typeface="Calibri" pitchFamily="34" charset="0"/>
                <a:ea typeface="Calibri" pitchFamily="34" charset="-122"/>
                <a:cs typeface="Calibri" pitchFamily="34" charset="-120"/>
              </a:rPr>
              <a:t>Low adoption erodes ROI</a:t>
            </a:r>
            <a:endParaRPr lang="en-US" sz="1050" dirty="0"/>
          </a:p>
        </p:txBody>
      </p:sp>
      <p:sp>
        <p:nvSpPr>
          <p:cNvPr id="24" name="Text 22"/>
          <p:cNvSpPr/>
          <p:nvPr/>
        </p:nvSpPr>
        <p:spPr>
          <a:xfrm>
            <a:off x="8366760" y="4471416"/>
            <a:ext cx="3108960" cy="713232"/>
          </a:xfrm>
          <a:prstGeom prst="rect">
            <a:avLst/>
          </a:prstGeom>
          <a:noFill/>
          <a:ln/>
        </p:spPr>
        <p:txBody>
          <a:bodyPr wrap="square" rtlCol="0" anchor="ctr"/>
          <a:lstStyle/>
          <a:p>
            <a:pPr marL="0" indent="0">
              <a:lnSpc>
                <a:spcPct val="105000"/>
              </a:lnSpc>
              <a:buNone/>
            </a:pPr>
            <a:r>
              <a:rPr lang="en-US" sz="1050" dirty="0">
                <a:solidFill>
                  <a:srgbClr val="5D6B7A"/>
                </a:solidFill>
                <a:latin typeface="Calibri" pitchFamily="34" charset="0"/>
                <a:ea typeface="Calibri" pitchFamily="34" charset="-122"/>
                <a:cs typeface="Calibri" pitchFamily="34" charset="-120"/>
              </a:rPr>
              <a:t>Change management + early engagement</a:t>
            </a:r>
            <a:endParaRPr lang="en-US" sz="1050" dirty="0"/>
          </a:p>
        </p:txBody>
      </p:sp>
      <p:sp>
        <p:nvSpPr>
          <p:cNvPr id="25" name="Shape 23"/>
          <p:cNvSpPr/>
          <p:nvPr/>
        </p:nvSpPr>
        <p:spPr>
          <a:xfrm>
            <a:off x="640080" y="5184648"/>
            <a:ext cx="10881360" cy="713232"/>
          </a:xfrm>
          <a:prstGeom prst="rect">
            <a:avLst/>
          </a:prstGeom>
          <a:solidFill>
            <a:srgbClr val="FFFFFF"/>
          </a:solidFill>
          <a:ln w="9525">
            <a:solidFill>
              <a:srgbClr val="E1E6ED"/>
            </a:solidFill>
            <a:prstDash val="solid"/>
          </a:ln>
        </p:spPr>
      </p:sp>
      <p:sp>
        <p:nvSpPr>
          <p:cNvPr id="26" name="Text 24"/>
          <p:cNvSpPr/>
          <p:nvPr/>
        </p:nvSpPr>
        <p:spPr>
          <a:xfrm>
            <a:off x="777240" y="5184648"/>
            <a:ext cx="3063240" cy="713232"/>
          </a:xfrm>
          <a:prstGeom prst="rect">
            <a:avLst/>
          </a:prstGeom>
          <a:noFill/>
          <a:ln/>
        </p:spPr>
        <p:txBody>
          <a:bodyPr wrap="square" rtlCol="0" anchor="ctr"/>
          <a:lstStyle/>
          <a:p>
            <a:pPr marL="0" indent="0">
              <a:lnSpc>
                <a:spcPct val="105000"/>
              </a:lnSpc>
              <a:buNone/>
            </a:pPr>
            <a:r>
              <a:rPr lang="en-US" sz="1150" b="1" dirty="0">
                <a:solidFill>
                  <a:srgbClr val="1B2F4E"/>
                </a:solidFill>
                <a:latin typeface="Calibri" pitchFamily="34" charset="0"/>
                <a:ea typeface="Calibri" pitchFamily="34" charset="-122"/>
                <a:cs typeface="Calibri" pitchFamily="34" charset="-120"/>
              </a:rPr>
              <a:t>Ethical &amp; Legal Concerns</a:t>
            </a:r>
            <a:endParaRPr lang="en-US" sz="1150" dirty="0"/>
          </a:p>
        </p:txBody>
      </p:sp>
      <p:sp>
        <p:nvSpPr>
          <p:cNvPr id="27" name="Text 25"/>
          <p:cNvSpPr/>
          <p:nvPr/>
        </p:nvSpPr>
        <p:spPr>
          <a:xfrm>
            <a:off x="4023360" y="5184648"/>
            <a:ext cx="4160520" cy="713232"/>
          </a:xfrm>
          <a:prstGeom prst="rect">
            <a:avLst/>
          </a:prstGeom>
          <a:noFill/>
          <a:ln/>
        </p:spPr>
        <p:txBody>
          <a:bodyPr wrap="square" rtlCol="0" anchor="ctr"/>
          <a:lstStyle/>
          <a:p>
            <a:pPr marL="0" indent="0">
              <a:lnSpc>
                <a:spcPct val="105000"/>
              </a:lnSpc>
              <a:buNone/>
            </a:pPr>
            <a:r>
              <a:rPr lang="en-US" sz="1050" dirty="0">
                <a:solidFill>
                  <a:srgbClr val="1C2733"/>
                </a:solidFill>
                <a:latin typeface="Calibri" pitchFamily="34" charset="0"/>
                <a:ea typeface="Calibri" pitchFamily="34" charset="-122"/>
                <a:cs typeface="Calibri" pitchFamily="34" charset="-120"/>
              </a:rPr>
              <a:t>Bias, privacy or compliance exposure</a:t>
            </a:r>
            <a:endParaRPr lang="en-US" sz="1050" dirty="0"/>
          </a:p>
        </p:txBody>
      </p:sp>
      <p:sp>
        <p:nvSpPr>
          <p:cNvPr id="28" name="Text 26"/>
          <p:cNvSpPr/>
          <p:nvPr/>
        </p:nvSpPr>
        <p:spPr>
          <a:xfrm>
            <a:off x="8366760" y="5184648"/>
            <a:ext cx="3108960" cy="713232"/>
          </a:xfrm>
          <a:prstGeom prst="rect">
            <a:avLst/>
          </a:prstGeom>
          <a:noFill/>
          <a:ln/>
        </p:spPr>
        <p:txBody>
          <a:bodyPr wrap="square" rtlCol="0" anchor="ctr"/>
          <a:lstStyle/>
          <a:p>
            <a:pPr marL="0" indent="0">
              <a:lnSpc>
                <a:spcPct val="105000"/>
              </a:lnSpc>
              <a:buNone/>
            </a:pPr>
            <a:r>
              <a:rPr lang="en-US" sz="1050" dirty="0">
                <a:solidFill>
                  <a:srgbClr val="5D6B7A"/>
                </a:solidFill>
                <a:latin typeface="Calibri" pitchFamily="34" charset="0"/>
                <a:ea typeface="Calibri" pitchFamily="34" charset="-122"/>
                <a:cs typeface="Calibri" pitchFamily="34" charset="-120"/>
              </a:rPr>
              <a:t>Legal review + fairness checks</a:t>
            </a:r>
            <a:endParaRPr lang="en-US" sz="1050" dirty="0"/>
          </a:p>
        </p:txBody>
      </p:sp>
      <p:sp>
        <p:nvSpPr>
          <p:cNvPr id="29" name="Text 27"/>
          <p:cNvSpPr/>
          <p:nvPr/>
        </p:nvSpPr>
        <p:spPr>
          <a:xfrm>
            <a:off x="640080" y="6035040"/>
            <a:ext cx="10881360" cy="365760"/>
          </a:xfrm>
          <a:prstGeom prst="rect">
            <a:avLst/>
          </a:prstGeom>
          <a:noFill/>
          <a:ln/>
        </p:spPr>
        <p:txBody>
          <a:bodyPr wrap="square" rtlCol="0" anchor="ctr"/>
          <a:lstStyle/>
          <a:p>
            <a:pPr marL="0" indent="0">
              <a:buNone/>
            </a:pPr>
            <a:r>
              <a:rPr lang="en-US" sz="1100" i="1" dirty="0">
                <a:solidFill>
                  <a:srgbClr val="3E6B8A"/>
                </a:solidFill>
                <a:latin typeface="Calibri" pitchFamily="34" charset="0"/>
                <a:ea typeface="Calibri" pitchFamily="34" charset="-122"/>
                <a:cs typeface="Calibri" pitchFamily="34" charset="-120"/>
              </a:rPr>
              <a:t>+ 5 more categories tracked in the full register: cost overruns, unrealistic expectations, model drift, security vulnerabilities, vendor lock-in.</a:t>
            </a:r>
            <a:endParaRPr lang="en-US" sz="1100" dirty="0"/>
          </a:p>
        </p:txBody>
      </p:sp>
      <p:sp>
        <p:nvSpPr>
          <p:cNvPr id="30" name="Text 28"/>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MIRA — Multi-Agent PMO Orchestrator</a:t>
            </a:r>
            <a:endParaRPr lang="en-US" sz="900" dirty="0"/>
          </a:p>
        </p:txBody>
      </p:sp>
      <p:sp>
        <p:nvSpPr>
          <p:cNvPr id="31" name="Text 29"/>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D6B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96926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B2A4A"/>
                </a:solidFill>
                <a:effectLst/>
                <a:uLnTx/>
                <a:uFillTx/>
                <a:latin typeface="Cambria" pitchFamily="34" charset="0"/>
                <a:ea typeface="Cambria" pitchFamily="34" charset="-122"/>
                <a:cs typeface="Cambria" pitchFamily="34" charset="-120"/>
              </a:rPr>
              <a:t>Predictive Risk &amp; SLA Early-Warning Agent</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57200" y="749808"/>
            <a:ext cx="105156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Capstone Use Case Candidate — Continuous Risk Monitoring for the Nexora TPM Portfolio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10195560" y="292608"/>
            <a:ext cx="1536192" cy="384048"/>
          </a:xfrm>
          <a:prstGeom prst="roundRect">
            <a:avLst>
              <a:gd name="adj" fmla="val 19048"/>
            </a:avLst>
          </a:prstGeom>
          <a:solidFill>
            <a:srgbClr val="C0392B"/>
          </a:solidFill>
          <a:ln/>
        </p:spPr>
      </p:sp>
      <p:sp>
        <p:nvSpPr>
          <p:cNvPr id="5" name="Text 3"/>
          <p:cNvSpPr/>
          <p:nvPr/>
        </p:nvSpPr>
        <p:spPr>
          <a:xfrm>
            <a:off x="10195560" y="292608"/>
            <a:ext cx="1536192"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00" normalizeH="0" baseline="0" noProof="0" dirty="0">
                <a:ln>
                  <a:noFill/>
                </a:ln>
                <a:solidFill>
                  <a:srgbClr val="FFFFFF"/>
                </a:solidFill>
                <a:effectLst/>
                <a:uLnTx/>
                <a:uFillTx/>
                <a:latin typeface="Calibri" pitchFamily="34" charset="0"/>
                <a:ea typeface="Calibri" pitchFamily="34" charset="-122"/>
                <a:cs typeface="Calibri" pitchFamily="34" charset="-120"/>
              </a:rPr>
              <a:t>USE CASE 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1207008"/>
            <a:ext cx="5440680" cy="1691640"/>
          </a:xfrm>
          <a:prstGeom prst="roundRect">
            <a:avLst>
              <a:gd name="adj" fmla="val 4324"/>
            </a:avLst>
          </a:prstGeom>
          <a:solidFill>
            <a:srgbClr val="F6F7FA"/>
          </a:solidFill>
          <a:ln/>
          <a:effectLst>
            <a:outerShdw blurRad="76200" dist="25400" dir="5400000" algn="bl" rotWithShape="0">
              <a:srgbClr val="888888">
                <a:alpha val="25000"/>
              </a:srgbClr>
            </a:outerShdw>
          </a:effectLst>
        </p:spPr>
      </p:sp>
      <p:sp>
        <p:nvSpPr>
          <p:cNvPr id="7" name="Shape 5"/>
          <p:cNvSpPr/>
          <p:nvPr/>
        </p:nvSpPr>
        <p:spPr>
          <a:xfrm>
            <a:off x="658368" y="1389888"/>
            <a:ext cx="365760" cy="365760"/>
          </a:xfrm>
          <a:prstGeom prst="ellipse">
            <a:avLst/>
          </a:prstGeom>
          <a:solidFill>
            <a:srgbClr val="C0392B"/>
          </a:solidFill>
          <a:ln/>
        </p:spPr>
      </p:sp>
      <p:pic>
        <p:nvPicPr>
          <p:cNvPr id="8" name="Image 0" descr="icon_alert.png"/>
          <p:cNvPicPr>
            <a:picLocks noChangeAspect="1"/>
          </p:cNvPicPr>
          <p:nvPr/>
        </p:nvPicPr>
        <p:blipFill>
          <a:blip r:embed="rId3"/>
          <a:stretch>
            <a:fillRect/>
          </a:stretch>
        </p:blipFill>
        <p:spPr>
          <a:xfrm>
            <a:off x="740664" y="1472184"/>
            <a:ext cx="201168" cy="201168"/>
          </a:xfrm>
          <a:prstGeom prst="rect">
            <a:avLst/>
          </a:prstGeom>
        </p:spPr>
      </p:pic>
      <p:sp>
        <p:nvSpPr>
          <p:cNvPr id="9" name="Text 6"/>
          <p:cNvSpPr/>
          <p:nvPr/>
        </p:nvSpPr>
        <p:spPr>
          <a:xfrm>
            <a:off x="1115568" y="1353312"/>
            <a:ext cx="45262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B2A4A"/>
                </a:solidFill>
                <a:effectLst/>
                <a:uLnTx/>
                <a:uFillTx/>
                <a:latin typeface="Calibri" pitchFamily="34" charset="0"/>
                <a:ea typeface="Calibri" pitchFamily="34" charset="-122"/>
                <a:cs typeface="Calibri" pitchFamily="34" charset="-120"/>
              </a:rPr>
              <a:t>Pain Point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685800" y="1773936"/>
            <a:ext cx="4983480" cy="978408"/>
          </a:xfrm>
          <a:prstGeom prst="rect">
            <a:avLst/>
          </a:prstGeom>
          <a:noFill/>
          <a:ln/>
        </p:spPr>
        <p:txBody>
          <a:bodyPr wrap="square" lIns="0" tIns="0" rIns="0" bIns="0" rtlCol="0" anchor="t"/>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TPMs at Nexora run multiple projects simultaneously and lack the bandwidth to continuously assess risk across all of them. Risk registers (e.g., ABCDE Ltd.'s AI Adoption Project) are built once, manually, and rarely revisited — so issues like data-quality gaps, integration delays, or scope creep surface late, after they've already caused schedule slippage.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6217920" y="1207008"/>
            <a:ext cx="5440680" cy="1691640"/>
          </a:xfrm>
          <a:prstGeom prst="roundRect">
            <a:avLst>
              <a:gd name="adj" fmla="val 4324"/>
            </a:avLst>
          </a:prstGeom>
          <a:solidFill>
            <a:srgbClr val="F6F7FA"/>
          </a:solidFill>
          <a:ln/>
          <a:effectLst>
            <a:outerShdw blurRad="76200" dist="25400" dir="5400000" algn="bl" rotWithShape="0">
              <a:srgbClr val="888888">
                <a:alpha val="25000"/>
              </a:srgbClr>
            </a:outerShdw>
          </a:effectLst>
        </p:spPr>
      </p:sp>
      <p:sp>
        <p:nvSpPr>
          <p:cNvPr id="12" name="Shape 9"/>
          <p:cNvSpPr/>
          <p:nvPr/>
        </p:nvSpPr>
        <p:spPr>
          <a:xfrm>
            <a:off x="6419088" y="1389888"/>
            <a:ext cx="365760" cy="365760"/>
          </a:xfrm>
          <a:prstGeom prst="ellipse">
            <a:avLst/>
          </a:prstGeom>
          <a:solidFill>
            <a:srgbClr val="1B2A4A"/>
          </a:solidFill>
          <a:ln/>
        </p:spPr>
      </p:sp>
      <p:pic>
        <p:nvPicPr>
          <p:cNvPr id="13" name="Image 1" descr="icon_activity.png"/>
          <p:cNvPicPr>
            <a:picLocks noChangeAspect="1"/>
          </p:cNvPicPr>
          <p:nvPr/>
        </p:nvPicPr>
        <p:blipFill>
          <a:blip r:embed="rId4"/>
          <a:stretch>
            <a:fillRect/>
          </a:stretch>
        </p:blipFill>
        <p:spPr>
          <a:xfrm>
            <a:off x="6501384" y="1472184"/>
            <a:ext cx="201168" cy="201168"/>
          </a:xfrm>
          <a:prstGeom prst="rect">
            <a:avLst/>
          </a:prstGeom>
        </p:spPr>
      </p:pic>
      <p:sp>
        <p:nvSpPr>
          <p:cNvPr id="14" name="Text 10"/>
          <p:cNvSpPr/>
          <p:nvPr/>
        </p:nvSpPr>
        <p:spPr>
          <a:xfrm>
            <a:off x="6876288" y="1353312"/>
            <a:ext cx="45262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B2A4A"/>
                </a:solidFill>
                <a:effectLst/>
                <a:uLnTx/>
                <a:uFillTx/>
                <a:latin typeface="Calibri" pitchFamily="34" charset="0"/>
                <a:ea typeface="Calibri" pitchFamily="34" charset="-122"/>
                <a:cs typeface="Calibri" pitchFamily="34" charset="-120"/>
              </a:rPr>
              <a:t>Business / Technical Impact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 name="Image 2" descr="icon_trenddown.png"/>
          <p:cNvPicPr>
            <a:picLocks noChangeAspect="1"/>
          </p:cNvPicPr>
          <p:nvPr/>
        </p:nvPicPr>
        <p:blipFill>
          <a:blip r:embed="rId5"/>
          <a:stretch>
            <a:fillRect/>
          </a:stretch>
        </p:blipFill>
        <p:spPr>
          <a:xfrm>
            <a:off x="6446520" y="1828800"/>
            <a:ext cx="182880" cy="182880"/>
          </a:xfrm>
          <a:prstGeom prst="rect">
            <a:avLst/>
          </a:prstGeom>
        </p:spPr>
      </p:pic>
      <p:sp>
        <p:nvSpPr>
          <p:cNvPr id="16" name="Text 11"/>
          <p:cNvSpPr/>
          <p:nvPr/>
        </p:nvSpPr>
        <p:spPr>
          <a:xfrm>
            <a:off x="6693408" y="1755648"/>
            <a:ext cx="4709160" cy="502920"/>
          </a:xfrm>
          <a:prstGeom prst="rect">
            <a:avLst/>
          </a:prstGeom>
          <a:noFill/>
          <a:ln/>
        </p:spPr>
        <p:txBody>
          <a:bodyPr wrap="square" lIns="0" tIns="0" rIns="0" bIns="0"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2A4A"/>
                </a:solidFill>
                <a:effectLst/>
                <a:uLnTx/>
                <a:uFillTx/>
                <a:latin typeface="Calibri" pitchFamily="34" charset="0"/>
                <a:ea typeface="Calibri" pitchFamily="34" charset="-122"/>
                <a:cs typeface="Calibri" pitchFamily="34" charset="-120"/>
              </a:rPr>
              <a:t>Business:  </a:t>
            </a: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Missed milestones translate directly into overhead cost — idle resources, re-planning, stakeholder trust erosion, and potential contract penalties.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7" name="Image 3" descr="icon_cpu.png"/>
          <p:cNvPicPr>
            <a:picLocks noChangeAspect="1"/>
          </p:cNvPicPr>
          <p:nvPr/>
        </p:nvPicPr>
        <p:blipFill>
          <a:blip r:embed="rId6"/>
          <a:stretch>
            <a:fillRect/>
          </a:stretch>
        </p:blipFill>
        <p:spPr>
          <a:xfrm>
            <a:off x="6446520" y="2377440"/>
            <a:ext cx="182880" cy="182880"/>
          </a:xfrm>
          <a:prstGeom prst="rect">
            <a:avLst/>
          </a:prstGeom>
        </p:spPr>
      </p:pic>
      <p:sp>
        <p:nvSpPr>
          <p:cNvPr id="18" name="Text 12"/>
          <p:cNvSpPr/>
          <p:nvPr/>
        </p:nvSpPr>
        <p:spPr>
          <a:xfrm>
            <a:off x="6693408" y="2304288"/>
            <a:ext cx="4709160" cy="548640"/>
          </a:xfrm>
          <a:prstGeom prst="rect">
            <a:avLst/>
          </a:prstGeom>
          <a:noFill/>
          <a:ln/>
        </p:spPr>
        <p:txBody>
          <a:bodyPr wrap="square" lIns="0" tIns="0" rIns="0" bIns="0"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2A4A"/>
                </a:solidFill>
                <a:effectLst/>
                <a:uLnTx/>
                <a:uFillTx/>
                <a:latin typeface="Calibri" pitchFamily="34" charset="0"/>
                <a:ea typeface="Calibri" pitchFamily="34" charset="-122"/>
                <a:cs typeface="Calibri" pitchFamily="34" charset="-120"/>
              </a:rPr>
              <a:t>Technical:  </a:t>
            </a: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Without continuous monitoring, mitigation actions (data audits, retraining cycles) trigger reactively instead of proactively, compounding technical debt.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3"/>
          <p:cNvSpPr/>
          <p:nvPr/>
        </p:nvSpPr>
        <p:spPr>
          <a:xfrm>
            <a:off x="457200" y="3054096"/>
            <a:ext cx="329184" cy="329184"/>
          </a:xfrm>
          <a:prstGeom prst="ellipse">
            <a:avLst/>
          </a:prstGeom>
          <a:solidFill>
            <a:srgbClr val="D98C15"/>
          </a:solidFill>
          <a:ln/>
        </p:spPr>
      </p:sp>
      <p:pic>
        <p:nvPicPr>
          <p:cNvPr id="20" name="Image 4" descr="icon_target.png"/>
          <p:cNvPicPr>
            <a:picLocks noChangeAspect="1"/>
          </p:cNvPicPr>
          <p:nvPr/>
        </p:nvPicPr>
        <p:blipFill>
          <a:blip r:embed="rId7"/>
          <a:stretch>
            <a:fillRect/>
          </a:stretch>
        </p:blipFill>
        <p:spPr>
          <a:xfrm>
            <a:off x="530352" y="3127248"/>
            <a:ext cx="182880" cy="182880"/>
          </a:xfrm>
          <a:prstGeom prst="rect">
            <a:avLst/>
          </a:prstGeom>
        </p:spPr>
      </p:pic>
      <p:sp>
        <p:nvSpPr>
          <p:cNvPr id="21" name="Text 14"/>
          <p:cNvSpPr/>
          <p:nvPr/>
        </p:nvSpPr>
        <p:spPr>
          <a:xfrm>
            <a:off x="877824" y="3026664"/>
            <a:ext cx="457200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B2A4A"/>
                </a:solidFill>
                <a:effectLst/>
                <a:uLnTx/>
                <a:uFillTx/>
                <a:latin typeface="Calibri" pitchFamily="34" charset="0"/>
                <a:ea typeface="Calibri" pitchFamily="34" charset="-122"/>
                <a:cs typeface="Calibri" pitchFamily="34" charset="-120"/>
              </a:rPr>
              <a:t>5 Success Metrics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5"/>
          <p:cNvSpPr/>
          <p:nvPr/>
        </p:nvSpPr>
        <p:spPr>
          <a:xfrm>
            <a:off x="457200" y="3529584"/>
            <a:ext cx="2137867" cy="1481328"/>
          </a:xfrm>
          <a:prstGeom prst="roundRect">
            <a:avLst>
              <a:gd name="adj" fmla="val 4321"/>
            </a:avLst>
          </a:prstGeom>
          <a:solidFill>
            <a:srgbClr val="1B2A4A"/>
          </a:solidFill>
          <a:ln/>
        </p:spPr>
      </p:sp>
      <p:sp>
        <p:nvSpPr>
          <p:cNvPr id="23" name="Text 16"/>
          <p:cNvSpPr/>
          <p:nvPr/>
        </p:nvSpPr>
        <p:spPr>
          <a:xfrm>
            <a:off x="566928" y="3602736"/>
            <a:ext cx="5486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D98C15"/>
                </a:solidFill>
                <a:effectLst/>
                <a:uLnTx/>
                <a:uFillTx/>
                <a:latin typeface="Cambria" pitchFamily="34" charset="0"/>
                <a:ea typeface="Cambria" pitchFamily="34" charset="-122"/>
                <a:cs typeface="Cambria" pitchFamily="34" charset="-120"/>
              </a:rPr>
              <a:t>1</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17"/>
          <p:cNvSpPr/>
          <p:nvPr/>
        </p:nvSpPr>
        <p:spPr>
          <a:xfrm>
            <a:off x="585216" y="4096512"/>
            <a:ext cx="1881835" cy="548640"/>
          </a:xfrm>
          <a:prstGeom prst="rect">
            <a:avLst/>
          </a:prstGeom>
          <a:noFill/>
          <a:ln/>
        </p:spPr>
        <p:txBody>
          <a:bodyPr wrap="square" lIns="0" tIns="0" rIns="0" bIns="0" rtlCol="0" anchor="t"/>
          <a:lstStyle/>
          <a:p>
            <a:pPr marL="0" marR="0" lvl="0" indent="0" algn="l" defTabSz="914400" rtl="0" eaLnBrk="1" fontAlgn="auto" latinLnBrk="0" hangingPunct="1">
              <a:lnSpc>
                <a:spcPct val="102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Reduction in Missed Milestones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18"/>
          <p:cNvSpPr/>
          <p:nvPr/>
        </p:nvSpPr>
        <p:spPr>
          <a:xfrm>
            <a:off x="585216" y="4626864"/>
            <a:ext cx="1881835" cy="32918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8FD3C4"/>
                </a:solidFill>
                <a:effectLst/>
                <a:uLnTx/>
                <a:uFillTx/>
                <a:latin typeface="Calibri" pitchFamily="34" charset="0"/>
                <a:ea typeface="Calibri" pitchFamily="34" charset="-122"/>
                <a:cs typeface="Calibri" pitchFamily="34" charset="-120"/>
              </a:rPr>
              <a:t>≥ 30% within 2 quarters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19"/>
          <p:cNvSpPr/>
          <p:nvPr/>
        </p:nvSpPr>
        <p:spPr>
          <a:xfrm>
            <a:off x="2741371" y="3529584"/>
            <a:ext cx="2137867" cy="1481328"/>
          </a:xfrm>
          <a:prstGeom prst="roundRect">
            <a:avLst>
              <a:gd name="adj" fmla="val 4321"/>
            </a:avLst>
          </a:prstGeom>
          <a:solidFill>
            <a:srgbClr val="1B2A4A"/>
          </a:solidFill>
          <a:ln/>
        </p:spPr>
      </p:sp>
      <p:sp>
        <p:nvSpPr>
          <p:cNvPr id="27" name="Text 20"/>
          <p:cNvSpPr/>
          <p:nvPr/>
        </p:nvSpPr>
        <p:spPr>
          <a:xfrm>
            <a:off x="2851099" y="3602736"/>
            <a:ext cx="5486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D98C15"/>
                </a:solidFill>
                <a:effectLst/>
                <a:uLnTx/>
                <a:uFillTx/>
                <a:latin typeface="Cambria" pitchFamily="34" charset="0"/>
                <a:ea typeface="Cambria" pitchFamily="34" charset="-122"/>
                <a:cs typeface="Cambria" pitchFamily="34" charset="-120"/>
              </a:rPr>
              <a:t>2</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1"/>
          <p:cNvSpPr/>
          <p:nvPr/>
        </p:nvSpPr>
        <p:spPr>
          <a:xfrm>
            <a:off x="2869387" y="4096512"/>
            <a:ext cx="1881835" cy="548640"/>
          </a:xfrm>
          <a:prstGeom prst="rect">
            <a:avLst/>
          </a:prstGeom>
          <a:noFill/>
          <a:ln/>
        </p:spPr>
        <p:txBody>
          <a:bodyPr wrap="square" lIns="0" tIns="0" rIns="0" bIns="0" rtlCol="0" anchor="t"/>
          <a:lstStyle/>
          <a:p>
            <a:pPr marL="0" marR="0" lvl="0" indent="0" algn="l" defTabSz="914400" rtl="0" eaLnBrk="1" fontAlgn="auto" latinLnBrk="0" hangingPunct="1">
              <a:lnSpc>
                <a:spcPct val="102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Mean Time-to-Detect a Risk</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2"/>
          <p:cNvSpPr/>
          <p:nvPr/>
        </p:nvSpPr>
        <p:spPr>
          <a:xfrm>
            <a:off x="2869387" y="4626864"/>
            <a:ext cx="1881835" cy="32918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8FD3C4"/>
                </a:solidFill>
                <a:effectLst/>
                <a:uLnTx/>
                <a:uFillTx/>
                <a:latin typeface="Calibri" pitchFamily="34" charset="0"/>
                <a:ea typeface="Calibri" pitchFamily="34" charset="-122"/>
                <a:cs typeface="Calibri" pitchFamily="34" charset="-120"/>
              </a:rPr>
              <a:t>&lt; 48 hours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3"/>
          <p:cNvSpPr/>
          <p:nvPr/>
        </p:nvSpPr>
        <p:spPr>
          <a:xfrm>
            <a:off x="5025542" y="3529584"/>
            <a:ext cx="2137867" cy="1481328"/>
          </a:xfrm>
          <a:prstGeom prst="roundRect">
            <a:avLst>
              <a:gd name="adj" fmla="val 4321"/>
            </a:avLst>
          </a:prstGeom>
          <a:solidFill>
            <a:srgbClr val="1B2A4A"/>
          </a:solidFill>
          <a:ln/>
        </p:spPr>
      </p:sp>
      <p:sp>
        <p:nvSpPr>
          <p:cNvPr id="31" name="Text 24"/>
          <p:cNvSpPr/>
          <p:nvPr/>
        </p:nvSpPr>
        <p:spPr>
          <a:xfrm>
            <a:off x="5135270" y="3602736"/>
            <a:ext cx="5486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D98C15"/>
                </a:solidFill>
                <a:effectLst/>
                <a:uLnTx/>
                <a:uFillTx/>
                <a:latin typeface="Cambria" pitchFamily="34" charset="0"/>
                <a:ea typeface="Cambria" pitchFamily="34" charset="-122"/>
                <a:cs typeface="Cambria" pitchFamily="34" charset="-120"/>
              </a:rPr>
              <a:t>3</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5"/>
          <p:cNvSpPr/>
          <p:nvPr/>
        </p:nvSpPr>
        <p:spPr>
          <a:xfrm>
            <a:off x="5153558" y="4096512"/>
            <a:ext cx="1881835" cy="548640"/>
          </a:xfrm>
          <a:prstGeom prst="rect">
            <a:avLst/>
          </a:prstGeom>
          <a:noFill/>
          <a:ln/>
        </p:spPr>
        <p:txBody>
          <a:bodyPr wrap="square" lIns="0" tIns="0" rIns="0" bIns="0" rtlCol="0" anchor="t"/>
          <a:lstStyle/>
          <a:p>
            <a:pPr marL="0" marR="0" lvl="0" indent="0" algn="l" defTabSz="914400" rtl="0" eaLnBrk="1" fontAlgn="auto" latinLnBrk="0" hangingPunct="1">
              <a:lnSpc>
                <a:spcPct val="102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Projects w/ Auto-Refreshed Risk Register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6"/>
          <p:cNvSpPr/>
          <p:nvPr/>
        </p:nvSpPr>
        <p:spPr>
          <a:xfrm>
            <a:off x="5153558" y="4626864"/>
            <a:ext cx="1881835" cy="32918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8FD3C4"/>
                </a:solidFill>
                <a:effectLst/>
                <a:uLnTx/>
                <a:uFillTx/>
                <a:latin typeface="Calibri" pitchFamily="34" charset="0"/>
                <a:ea typeface="Calibri" pitchFamily="34" charset="-122"/>
                <a:cs typeface="Calibri" pitchFamily="34" charset="-120"/>
              </a:rPr>
              <a:t>100% updated weekly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27"/>
          <p:cNvSpPr/>
          <p:nvPr/>
        </p:nvSpPr>
        <p:spPr>
          <a:xfrm>
            <a:off x="7309714" y="3529584"/>
            <a:ext cx="2137867" cy="1481328"/>
          </a:xfrm>
          <a:prstGeom prst="roundRect">
            <a:avLst>
              <a:gd name="adj" fmla="val 4321"/>
            </a:avLst>
          </a:prstGeom>
          <a:solidFill>
            <a:srgbClr val="1B2A4A"/>
          </a:solidFill>
          <a:ln/>
        </p:spPr>
      </p:sp>
      <p:sp>
        <p:nvSpPr>
          <p:cNvPr id="35" name="Text 28"/>
          <p:cNvSpPr/>
          <p:nvPr/>
        </p:nvSpPr>
        <p:spPr>
          <a:xfrm>
            <a:off x="7419442" y="3602736"/>
            <a:ext cx="5486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D98C15"/>
                </a:solidFill>
                <a:effectLst/>
                <a:uLnTx/>
                <a:uFillTx/>
                <a:latin typeface="Cambria" pitchFamily="34" charset="0"/>
                <a:ea typeface="Cambria" pitchFamily="34" charset="-122"/>
                <a:cs typeface="Cambria" pitchFamily="34" charset="-120"/>
              </a:rPr>
              <a:t>4</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29"/>
          <p:cNvSpPr/>
          <p:nvPr/>
        </p:nvSpPr>
        <p:spPr>
          <a:xfrm>
            <a:off x="7437730" y="4096512"/>
            <a:ext cx="1881835" cy="548640"/>
          </a:xfrm>
          <a:prstGeom prst="rect">
            <a:avLst/>
          </a:prstGeom>
          <a:noFill/>
          <a:ln/>
        </p:spPr>
        <p:txBody>
          <a:bodyPr wrap="square" lIns="0" tIns="0" rIns="0" bIns="0" rtlCol="0" anchor="t"/>
          <a:lstStyle/>
          <a:p>
            <a:pPr marL="0" marR="0" lvl="0" indent="0" algn="l" defTabSz="914400" rtl="0" eaLnBrk="1" fontAlgn="auto" latinLnBrk="0" hangingPunct="1">
              <a:lnSpc>
                <a:spcPct val="102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TPM Hours Saved per Week</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0"/>
          <p:cNvSpPr/>
          <p:nvPr/>
        </p:nvSpPr>
        <p:spPr>
          <a:xfrm>
            <a:off x="7437730" y="4626864"/>
            <a:ext cx="1881835" cy="32918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8FD3C4"/>
                </a:solidFill>
                <a:effectLst/>
                <a:uLnTx/>
                <a:uFillTx/>
                <a:latin typeface="Calibri" pitchFamily="34" charset="0"/>
                <a:ea typeface="Calibri" pitchFamily="34" charset="-122"/>
                <a:cs typeface="Calibri" pitchFamily="34" charset="-120"/>
              </a:rPr>
              <a:t>≥ 5 hrs / TPM / week</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Shape 31"/>
          <p:cNvSpPr/>
          <p:nvPr/>
        </p:nvSpPr>
        <p:spPr>
          <a:xfrm>
            <a:off x="9593885" y="3529584"/>
            <a:ext cx="2137867" cy="1481328"/>
          </a:xfrm>
          <a:prstGeom prst="roundRect">
            <a:avLst>
              <a:gd name="adj" fmla="val 4321"/>
            </a:avLst>
          </a:prstGeom>
          <a:solidFill>
            <a:srgbClr val="1B2A4A"/>
          </a:solidFill>
          <a:ln/>
        </p:spPr>
      </p:sp>
      <p:sp>
        <p:nvSpPr>
          <p:cNvPr id="39" name="Text 32"/>
          <p:cNvSpPr/>
          <p:nvPr/>
        </p:nvSpPr>
        <p:spPr>
          <a:xfrm>
            <a:off x="9703613" y="3602736"/>
            <a:ext cx="5486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D98C15"/>
                </a:solidFill>
                <a:effectLst/>
                <a:uLnTx/>
                <a:uFillTx/>
                <a:latin typeface="Cambria" pitchFamily="34" charset="0"/>
                <a:ea typeface="Cambria" pitchFamily="34" charset="-122"/>
                <a:cs typeface="Cambria" pitchFamily="34" charset="-120"/>
              </a:rPr>
              <a:t>5</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3"/>
          <p:cNvSpPr/>
          <p:nvPr/>
        </p:nvSpPr>
        <p:spPr>
          <a:xfrm>
            <a:off x="9721901" y="4096512"/>
            <a:ext cx="1881835" cy="548640"/>
          </a:xfrm>
          <a:prstGeom prst="rect">
            <a:avLst/>
          </a:prstGeom>
          <a:noFill/>
          <a:ln/>
        </p:spPr>
        <p:txBody>
          <a:bodyPr wrap="square" lIns="0" tIns="0" rIns="0" bIns="0" rtlCol="0" anchor="t"/>
          <a:lstStyle/>
          <a:p>
            <a:pPr marL="0" marR="0" lvl="0" indent="0" algn="l" defTabSz="914400" rtl="0" eaLnBrk="1" fontAlgn="auto" latinLnBrk="0" hangingPunct="1">
              <a:lnSpc>
                <a:spcPct val="102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Stakeholder Confidence Score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4"/>
          <p:cNvSpPr/>
          <p:nvPr/>
        </p:nvSpPr>
        <p:spPr>
          <a:xfrm>
            <a:off x="9721901" y="4626864"/>
            <a:ext cx="1881835" cy="32918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8FD3C4"/>
                </a:solidFill>
                <a:effectLst/>
                <a:uLnTx/>
                <a:uFillTx/>
                <a:latin typeface="Calibri" pitchFamily="34" charset="0"/>
                <a:ea typeface="Calibri" pitchFamily="34" charset="-122"/>
                <a:cs typeface="Calibri" pitchFamily="34" charset="-120"/>
              </a:rPr>
              <a:t>≥ 4 / 5 (quarterly survey)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35"/>
          <p:cNvSpPr/>
          <p:nvPr/>
        </p:nvSpPr>
        <p:spPr>
          <a:xfrm>
            <a:off x="457200" y="5230368"/>
            <a:ext cx="329184" cy="329184"/>
          </a:xfrm>
          <a:prstGeom prst="ellipse">
            <a:avLst/>
          </a:prstGeom>
          <a:solidFill>
            <a:srgbClr val="2E4570"/>
          </a:solidFill>
          <a:ln/>
        </p:spPr>
      </p:sp>
      <p:pic>
        <p:nvPicPr>
          <p:cNvPr id="43" name="Image 5" descr="icon_database.png"/>
          <p:cNvPicPr>
            <a:picLocks noChangeAspect="1"/>
          </p:cNvPicPr>
          <p:nvPr/>
        </p:nvPicPr>
        <p:blipFill>
          <a:blip r:embed="rId8"/>
          <a:stretch>
            <a:fillRect/>
          </a:stretch>
        </p:blipFill>
        <p:spPr>
          <a:xfrm>
            <a:off x="530352" y="5303520"/>
            <a:ext cx="182880" cy="182880"/>
          </a:xfrm>
          <a:prstGeom prst="rect">
            <a:avLst/>
          </a:prstGeom>
        </p:spPr>
      </p:pic>
      <p:sp>
        <p:nvSpPr>
          <p:cNvPr id="44" name="Text 36"/>
          <p:cNvSpPr/>
          <p:nvPr/>
        </p:nvSpPr>
        <p:spPr>
          <a:xfrm>
            <a:off x="877824" y="5202936"/>
            <a:ext cx="548640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B2A4A"/>
                </a:solidFill>
                <a:effectLst/>
                <a:uLnTx/>
                <a:uFillTx/>
                <a:latin typeface="Calibri" pitchFamily="34" charset="0"/>
                <a:ea typeface="Calibri" pitchFamily="34" charset="-122"/>
                <a:cs typeface="Calibri" pitchFamily="34" charset="-120"/>
              </a:rPr>
              <a:t>Potential Knowledge Base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37"/>
          <p:cNvSpPr/>
          <p:nvPr/>
        </p:nvSpPr>
        <p:spPr>
          <a:xfrm>
            <a:off x="457200" y="5650992"/>
            <a:ext cx="2137867" cy="914400"/>
          </a:xfrm>
          <a:prstGeom prst="roundRect">
            <a:avLst>
              <a:gd name="adj" fmla="val 6000"/>
            </a:avLst>
          </a:prstGeom>
          <a:solidFill>
            <a:srgbClr val="F6F7FA"/>
          </a:solidFill>
          <a:ln/>
        </p:spPr>
      </p:sp>
      <p:sp>
        <p:nvSpPr>
          <p:cNvPr id="46" name="Shape 38"/>
          <p:cNvSpPr/>
          <p:nvPr/>
        </p:nvSpPr>
        <p:spPr>
          <a:xfrm>
            <a:off x="585216" y="5779008"/>
            <a:ext cx="310896" cy="310896"/>
          </a:xfrm>
          <a:prstGeom prst="ellipse">
            <a:avLst/>
          </a:prstGeom>
          <a:solidFill>
            <a:srgbClr val="D98C15"/>
          </a:solidFill>
          <a:ln/>
        </p:spPr>
      </p:sp>
      <p:pic>
        <p:nvPicPr>
          <p:cNvPr id="47" name="Image 6" descr="icon_filetext.png"/>
          <p:cNvPicPr>
            <a:picLocks noChangeAspect="1"/>
          </p:cNvPicPr>
          <p:nvPr/>
        </p:nvPicPr>
        <p:blipFill>
          <a:blip r:embed="rId9"/>
          <a:stretch>
            <a:fillRect/>
          </a:stretch>
        </p:blipFill>
        <p:spPr>
          <a:xfrm>
            <a:off x="649224" y="5843016"/>
            <a:ext cx="182880" cy="182880"/>
          </a:xfrm>
          <a:prstGeom prst="rect">
            <a:avLst/>
          </a:prstGeom>
        </p:spPr>
      </p:pic>
      <p:sp>
        <p:nvSpPr>
          <p:cNvPr id="48" name="Text 39"/>
          <p:cNvSpPr/>
          <p:nvPr/>
        </p:nvSpPr>
        <p:spPr>
          <a:xfrm>
            <a:off x="585216" y="6108192"/>
            <a:ext cx="1881835"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Historical project plans, timelines &amp; closure reports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Shape 40"/>
          <p:cNvSpPr/>
          <p:nvPr/>
        </p:nvSpPr>
        <p:spPr>
          <a:xfrm>
            <a:off x="2741371" y="5650992"/>
            <a:ext cx="2137867" cy="914400"/>
          </a:xfrm>
          <a:prstGeom prst="roundRect">
            <a:avLst>
              <a:gd name="adj" fmla="val 6000"/>
            </a:avLst>
          </a:prstGeom>
          <a:solidFill>
            <a:srgbClr val="F6F7FA"/>
          </a:solidFill>
          <a:ln/>
        </p:spPr>
      </p:sp>
      <p:sp>
        <p:nvSpPr>
          <p:cNvPr id="50" name="Shape 41"/>
          <p:cNvSpPr/>
          <p:nvPr/>
        </p:nvSpPr>
        <p:spPr>
          <a:xfrm>
            <a:off x="2869387" y="5779008"/>
            <a:ext cx="310896" cy="310896"/>
          </a:xfrm>
          <a:prstGeom prst="ellipse">
            <a:avLst/>
          </a:prstGeom>
          <a:solidFill>
            <a:srgbClr val="D98C15"/>
          </a:solidFill>
          <a:ln/>
        </p:spPr>
      </p:sp>
      <p:pic>
        <p:nvPicPr>
          <p:cNvPr id="51" name="Image 7" descr="icon_grid.png"/>
          <p:cNvPicPr>
            <a:picLocks noChangeAspect="1"/>
          </p:cNvPicPr>
          <p:nvPr/>
        </p:nvPicPr>
        <p:blipFill>
          <a:blip r:embed="rId10"/>
          <a:stretch>
            <a:fillRect/>
          </a:stretch>
        </p:blipFill>
        <p:spPr>
          <a:xfrm>
            <a:off x="2933395" y="5843016"/>
            <a:ext cx="182880" cy="182880"/>
          </a:xfrm>
          <a:prstGeom prst="rect">
            <a:avLst/>
          </a:prstGeom>
        </p:spPr>
      </p:pic>
      <p:sp>
        <p:nvSpPr>
          <p:cNvPr id="52" name="Text 42"/>
          <p:cNvSpPr/>
          <p:nvPr/>
        </p:nvSpPr>
        <p:spPr>
          <a:xfrm>
            <a:off x="2869387" y="6108192"/>
            <a:ext cx="1881835"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10-category risk taxonomy (data, integration, talent, ethics, cost, drift, security…)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Shape 43"/>
          <p:cNvSpPr/>
          <p:nvPr/>
        </p:nvSpPr>
        <p:spPr>
          <a:xfrm>
            <a:off x="5025542" y="5650992"/>
            <a:ext cx="2137867" cy="914400"/>
          </a:xfrm>
          <a:prstGeom prst="roundRect">
            <a:avLst>
              <a:gd name="adj" fmla="val 6000"/>
            </a:avLst>
          </a:prstGeom>
          <a:solidFill>
            <a:srgbClr val="F6F7FA"/>
          </a:solidFill>
          <a:ln/>
        </p:spPr>
      </p:sp>
      <p:sp>
        <p:nvSpPr>
          <p:cNvPr id="54" name="Shape 44"/>
          <p:cNvSpPr/>
          <p:nvPr/>
        </p:nvSpPr>
        <p:spPr>
          <a:xfrm>
            <a:off x="5153558" y="5779008"/>
            <a:ext cx="310896" cy="310896"/>
          </a:xfrm>
          <a:prstGeom prst="ellipse">
            <a:avLst/>
          </a:prstGeom>
          <a:solidFill>
            <a:srgbClr val="D98C15"/>
          </a:solidFill>
          <a:ln/>
        </p:spPr>
      </p:sp>
      <p:pic>
        <p:nvPicPr>
          <p:cNvPr id="55" name="Image 8" descr="icon_trello.png"/>
          <p:cNvPicPr>
            <a:picLocks noChangeAspect="1"/>
          </p:cNvPicPr>
          <p:nvPr/>
        </p:nvPicPr>
        <p:blipFill>
          <a:blip r:embed="rId11"/>
          <a:stretch>
            <a:fillRect/>
          </a:stretch>
        </p:blipFill>
        <p:spPr>
          <a:xfrm>
            <a:off x="5217566" y="5843016"/>
            <a:ext cx="182880" cy="182880"/>
          </a:xfrm>
          <a:prstGeom prst="rect">
            <a:avLst/>
          </a:prstGeom>
        </p:spPr>
      </p:pic>
      <p:sp>
        <p:nvSpPr>
          <p:cNvPr id="56" name="Text 45"/>
          <p:cNvSpPr/>
          <p:nvPr/>
        </p:nvSpPr>
        <p:spPr>
          <a:xfrm>
            <a:off x="5153558" y="6108192"/>
            <a:ext cx="1881835"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Live Kanban/PM exports (Trello/Jira), calendars &amp; meeting-note transcripts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Shape 46"/>
          <p:cNvSpPr/>
          <p:nvPr/>
        </p:nvSpPr>
        <p:spPr>
          <a:xfrm>
            <a:off x="7309714" y="5650992"/>
            <a:ext cx="2137867" cy="914400"/>
          </a:xfrm>
          <a:prstGeom prst="roundRect">
            <a:avLst>
              <a:gd name="adj" fmla="val 6000"/>
            </a:avLst>
          </a:prstGeom>
          <a:solidFill>
            <a:srgbClr val="F6F7FA"/>
          </a:solidFill>
          <a:ln/>
        </p:spPr>
      </p:sp>
      <p:sp>
        <p:nvSpPr>
          <p:cNvPr id="58" name="Shape 47"/>
          <p:cNvSpPr/>
          <p:nvPr/>
        </p:nvSpPr>
        <p:spPr>
          <a:xfrm>
            <a:off x="7437730" y="5779008"/>
            <a:ext cx="310896" cy="310896"/>
          </a:xfrm>
          <a:prstGeom prst="ellipse">
            <a:avLst/>
          </a:prstGeom>
          <a:solidFill>
            <a:srgbClr val="D98C15"/>
          </a:solidFill>
          <a:ln/>
        </p:spPr>
      </p:sp>
      <p:pic>
        <p:nvPicPr>
          <p:cNvPr id="59" name="Image 9" descr="icon_users.png"/>
          <p:cNvPicPr>
            <a:picLocks noChangeAspect="1"/>
          </p:cNvPicPr>
          <p:nvPr/>
        </p:nvPicPr>
        <p:blipFill>
          <a:blip r:embed="rId12"/>
          <a:stretch>
            <a:fillRect/>
          </a:stretch>
        </p:blipFill>
        <p:spPr>
          <a:xfrm>
            <a:off x="7501738" y="5843016"/>
            <a:ext cx="182880" cy="182880"/>
          </a:xfrm>
          <a:prstGeom prst="rect">
            <a:avLst/>
          </a:prstGeom>
        </p:spPr>
      </p:pic>
      <p:sp>
        <p:nvSpPr>
          <p:cNvPr id="60" name="Text 48"/>
          <p:cNvSpPr/>
          <p:nvPr/>
        </p:nvSpPr>
        <p:spPr>
          <a:xfrm>
            <a:off x="7437730" y="6108192"/>
            <a:ext cx="1881835"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Org chart &amp; team roster — flags single points of failure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Shape 49"/>
          <p:cNvSpPr/>
          <p:nvPr/>
        </p:nvSpPr>
        <p:spPr>
          <a:xfrm>
            <a:off x="9593885" y="5650992"/>
            <a:ext cx="2137867" cy="914400"/>
          </a:xfrm>
          <a:prstGeom prst="roundRect">
            <a:avLst>
              <a:gd name="adj" fmla="val 6000"/>
            </a:avLst>
          </a:prstGeom>
          <a:solidFill>
            <a:srgbClr val="F6F7FA"/>
          </a:solidFill>
          <a:ln/>
        </p:spPr>
      </p:sp>
      <p:sp>
        <p:nvSpPr>
          <p:cNvPr id="62" name="Shape 50"/>
          <p:cNvSpPr/>
          <p:nvPr/>
        </p:nvSpPr>
        <p:spPr>
          <a:xfrm>
            <a:off x="9721901" y="5779008"/>
            <a:ext cx="310896" cy="310896"/>
          </a:xfrm>
          <a:prstGeom prst="ellipse">
            <a:avLst/>
          </a:prstGeom>
          <a:solidFill>
            <a:srgbClr val="D98C15"/>
          </a:solidFill>
          <a:ln/>
        </p:spPr>
      </p:sp>
      <p:pic>
        <p:nvPicPr>
          <p:cNvPr id="63" name="Image 10" descr="icon_book.png"/>
          <p:cNvPicPr>
            <a:picLocks noChangeAspect="1"/>
          </p:cNvPicPr>
          <p:nvPr/>
        </p:nvPicPr>
        <p:blipFill>
          <a:blip r:embed="rId13"/>
          <a:stretch>
            <a:fillRect/>
          </a:stretch>
        </p:blipFill>
        <p:spPr>
          <a:xfrm>
            <a:off x="9785909" y="5843016"/>
            <a:ext cx="182880" cy="182880"/>
          </a:xfrm>
          <a:prstGeom prst="rect">
            <a:avLst/>
          </a:prstGeom>
        </p:spPr>
      </p:pic>
      <p:sp>
        <p:nvSpPr>
          <p:cNvPr id="64" name="Text 51"/>
          <p:cNvSpPr/>
          <p:nvPr/>
        </p:nvSpPr>
        <p:spPr>
          <a:xfrm>
            <a:off x="9721901" y="6108192"/>
            <a:ext cx="1881835"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Prior post-mortems &amp; lessons-learned documents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rtlCol="0" anchor="ctr"/>
          <a:lstStyle/>
          <a:p>
            <a:pPr marL="0" indent="0" algn="l">
              <a:buNone/>
            </a:pPr>
            <a:r>
              <a:rPr lang="en-US" sz="1250" b="1" kern="0" spc="200" dirty="0">
                <a:solidFill>
                  <a:srgbClr val="3E6B8A"/>
                </a:solidFill>
                <a:latin typeface="Calibri" pitchFamily="34" charset="0"/>
                <a:ea typeface="Calibri" pitchFamily="34" charset="-122"/>
                <a:cs typeface="Calibri" pitchFamily="34" charset="-120"/>
              </a:rPr>
              <a:t>USE CASE 01</a:t>
            </a:r>
            <a:endParaRPr lang="en-US" sz="1250" dirty="0"/>
          </a:p>
        </p:txBody>
      </p:sp>
      <p:sp>
        <p:nvSpPr>
          <p:cNvPr id="3" name="Text 1"/>
          <p:cNvSpPr/>
          <p:nvPr/>
        </p:nvSpPr>
        <p:spPr>
          <a:xfrm>
            <a:off x="640080" y="658368"/>
            <a:ext cx="10607040" cy="658368"/>
          </a:xfrm>
          <a:prstGeom prst="rect">
            <a:avLst/>
          </a:prstGeom>
          <a:noFill/>
          <a:ln/>
        </p:spPr>
        <p:txBody>
          <a:bodyPr wrap="square" rtlCol="0" anchor="ctr"/>
          <a:lstStyle/>
          <a:p>
            <a:pPr marL="0" indent="0" algn="l">
              <a:buNone/>
            </a:pPr>
            <a:r>
              <a:rPr lang="en-US" sz="3200" b="1" dirty="0">
                <a:solidFill>
                  <a:srgbClr val="1B2F4E"/>
                </a:solidFill>
                <a:latin typeface="Cambria" pitchFamily="34" charset="0"/>
                <a:ea typeface="Cambria" pitchFamily="34" charset="-122"/>
                <a:cs typeface="Cambria" pitchFamily="34" charset="-120"/>
              </a:rPr>
              <a:t>Autonomous Project Plan Synthesis</a:t>
            </a:r>
            <a:endParaRPr lang="en-US" sz="3200" dirty="0"/>
          </a:p>
        </p:txBody>
      </p:sp>
      <p:sp>
        <p:nvSpPr>
          <p:cNvPr id="4" name="Text 2"/>
          <p:cNvSpPr/>
          <p:nvPr/>
        </p:nvSpPr>
        <p:spPr>
          <a:xfrm>
            <a:off x="640080" y="1417320"/>
            <a:ext cx="6309360" cy="256032"/>
          </a:xfrm>
          <a:prstGeom prst="rect">
            <a:avLst/>
          </a:prstGeom>
          <a:noFill/>
          <a:ln/>
        </p:spPr>
        <p:txBody>
          <a:bodyPr wrap="square" rtlCol="0" anchor="ctr"/>
          <a:lstStyle/>
          <a:p>
            <a:pPr marL="0" indent="0">
              <a:buNone/>
            </a:pPr>
            <a:r>
              <a:rPr lang="en-US" sz="1150" b="1" kern="0" spc="100" dirty="0">
                <a:solidFill>
                  <a:srgbClr val="B84A3E"/>
                </a:solidFill>
                <a:latin typeface="Calibri" pitchFamily="34" charset="0"/>
                <a:ea typeface="Calibri" pitchFamily="34" charset="-122"/>
                <a:cs typeface="Calibri" pitchFamily="34" charset="-120"/>
              </a:rPr>
              <a:t>PAIN POINT</a:t>
            </a:r>
            <a:endParaRPr lang="en-US" sz="1150" dirty="0"/>
          </a:p>
        </p:txBody>
      </p:sp>
      <p:sp>
        <p:nvSpPr>
          <p:cNvPr id="5" name="Text 3"/>
          <p:cNvSpPr/>
          <p:nvPr/>
        </p:nvSpPr>
        <p:spPr>
          <a:xfrm>
            <a:off x="640080" y="1691640"/>
            <a:ext cx="6309360" cy="777240"/>
          </a:xfrm>
          <a:prstGeom prst="rect">
            <a:avLst/>
          </a:prstGeom>
          <a:noFill/>
          <a:ln/>
        </p:spPr>
        <p:txBody>
          <a:bodyPr wrap="square" rtlCol="0" anchor="ctr"/>
          <a:lstStyle/>
          <a:p>
            <a:pPr marL="0" indent="0">
              <a:lnSpc>
                <a:spcPct val="125000"/>
              </a:lnSpc>
              <a:buNone/>
            </a:pPr>
            <a:r>
              <a:rPr lang="en-US" sz="1300" dirty="0">
                <a:solidFill>
                  <a:srgbClr val="1C2733"/>
                </a:solidFill>
                <a:latin typeface="Calibri" pitchFamily="34" charset="0"/>
                <a:ea typeface="Calibri" pitchFamily="34" charset="-122"/>
                <a:cs typeface="Calibri" pitchFamily="34" charset="-120"/>
              </a:rPr>
              <a:t>Ingesting fragmented initiation files across formats (PDF, XLSX, TXT, RTF/DOCX) to draft project plans is highly manual — 6–8 hours per onboarding cycle.</a:t>
            </a:r>
            <a:endParaRPr lang="en-US" sz="1300" dirty="0"/>
          </a:p>
        </p:txBody>
      </p:sp>
      <p:sp>
        <p:nvSpPr>
          <p:cNvPr id="6" name="Text 4"/>
          <p:cNvSpPr/>
          <p:nvPr/>
        </p:nvSpPr>
        <p:spPr>
          <a:xfrm>
            <a:off x="640080" y="2560320"/>
            <a:ext cx="6309360" cy="256032"/>
          </a:xfrm>
          <a:prstGeom prst="rect">
            <a:avLst/>
          </a:prstGeom>
          <a:noFill/>
          <a:ln/>
        </p:spPr>
        <p:txBody>
          <a:bodyPr wrap="square" rtlCol="0" anchor="ctr"/>
          <a:lstStyle/>
          <a:p>
            <a:pPr marL="0" indent="0">
              <a:buNone/>
            </a:pPr>
            <a:r>
              <a:rPr lang="en-US" sz="1150" b="1" kern="0" spc="100" dirty="0">
                <a:solidFill>
                  <a:srgbClr val="3E8E63"/>
                </a:solidFill>
                <a:latin typeface="Calibri" pitchFamily="34" charset="0"/>
                <a:ea typeface="Calibri" pitchFamily="34" charset="-122"/>
                <a:cs typeface="Calibri" pitchFamily="34" charset="-120"/>
              </a:rPr>
              <a:t>BUSINESS IMPACT</a:t>
            </a:r>
            <a:endParaRPr lang="en-US" sz="1150" dirty="0"/>
          </a:p>
        </p:txBody>
      </p:sp>
      <p:sp>
        <p:nvSpPr>
          <p:cNvPr id="7" name="Text 5"/>
          <p:cNvSpPr/>
          <p:nvPr/>
        </p:nvSpPr>
        <p:spPr>
          <a:xfrm>
            <a:off x="640080" y="2834640"/>
            <a:ext cx="6309360" cy="777240"/>
          </a:xfrm>
          <a:prstGeom prst="rect">
            <a:avLst/>
          </a:prstGeom>
          <a:noFill/>
          <a:ln/>
        </p:spPr>
        <p:txBody>
          <a:bodyPr wrap="square" rtlCol="0" anchor="ctr"/>
          <a:lstStyle/>
          <a:p>
            <a:pPr marL="0" indent="0">
              <a:lnSpc>
                <a:spcPct val="125000"/>
              </a:lnSpc>
              <a:buNone/>
            </a:pPr>
            <a:r>
              <a:rPr lang="en-US" sz="1300" dirty="0">
                <a:solidFill>
                  <a:srgbClr val="1C2733"/>
                </a:solidFill>
                <a:latin typeface="Calibri" pitchFamily="34" charset="0"/>
                <a:ea typeface="Calibri" pitchFamily="34" charset="-122"/>
                <a:cs typeface="Calibri" pitchFamily="34" charset="-120"/>
              </a:rPr>
              <a:t>Accelerates client onboarding by 85% and eliminates PM drafting overhead entirely.</a:t>
            </a:r>
            <a:endParaRPr lang="en-US" sz="1300" dirty="0"/>
          </a:p>
        </p:txBody>
      </p:sp>
      <p:sp>
        <p:nvSpPr>
          <p:cNvPr id="8" name="Shape 6"/>
          <p:cNvSpPr/>
          <p:nvPr/>
        </p:nvSpPr>
        <p:spPr>
          <a:xfrm>
            <a:off x="640080" y="3840480"/>
            <a:ext cx="6309360" cy="1691640"/>
          </a:xfrm>
          <a:prstGeom prst="roundRect">
            <a:avLst>
              <a:gd name="adj" fmla="val 3784"/>
            </a:avLst>
          </a:prstGeom>
          <a:solidFill>
            <a:srgbClr val="F4F6F9"/>
          </a:solidFill>
          <a:ln w="12700">
            <a:solidFill>
              <a:srgbClr val="E1E6ED"/>
            </a:solidFill>
            <a:prstDash val="solid"/>
          </a:ln>
        </p:spPr>
      </p:sp>
      <p:sp>
        <p:nvSpPr>
          <p:cNvPr id="9" name="Text 7"/>
          <p:cNvSpPr/>
          <p:nvPr/>
        </p:nvSpPr>
        <p:spPr>
          <a:xfrm>
            <a:off x="868680" y="4005072"/>
            <a:ext cx="5852160" cy="256032"/>
          </a:xfrm>
          <a:prstGeom prst="rect">
            <a:avLst/>
          </a:prstGeom>
          <a:noFill/>
          <a:ln/>
        </p:spPr>
        <p:txBody>
          <a:bodyPr wrap="square" rtlCol="0" anchor="ctr"/>
          <a:lstStyle/>
          <a:p>
            <a:pPr marL="0" indent="0">
              <a:buNone/>
            </a:pPr>
            <a:r>
              <a:rPr lang="en-US" sz="1100" b="1" kern="0" spc="100" dirty="0">
                <a:solidFill>
                  <a:srgbClr val="3E6B8A"/>
                </a:solidFill>
                <a:latin typeface="Calibri" pitchFamily="34" charset="0"/>
                <a:ea typeface="Calibri" pitchFamily="34" charset="-122"/>
                <a:cs typeface="Calibri" pitchFamily="34" charset="-120"/>
              </a:rPr>
              <a:t>KNOWLEDGE BASE</a:t>
            </a:r>
            <a:endParaRPr lang="en-US" sz="1100" dirty="0"/>
          </a:p>
        </p:txBody>
      </p:sp>
      <p:sp>
        <p:nvSpPr>
          <p:cNvPr id="10" name="Text 8"/>
          <p:cNvSpPr/>
          <p:nvPr/>
        </p:nvSpPr>
        <p:spPr>
          <a:xfrm>
            <a:off x="868680" y="4270248"/>
            <a:ext cx="5852160" cy="1188720"/>
          </a:xfrm>
          <a:prstGeom prst="rect">
            <a:avLst/>
          </a:prstGeom>
          <a:noFill/>
          <a:ln/>
        </p:spPr>
        <p:txBody>
          <a:bodyPr wrap="square" rtlCol="0" anchor="ctr"/>
          <a:lstStyle/>
          <a:p>
            <a:pPr marL="0" indent="0">
              <a:lnSpc>
                <a:spcPct val="125000"/>
              </a:lnSpc>
              <a:buNone/>
            </a:pPr>
            <a:r>
              <a:rPr lang="en-US" sz="1150" dirty="0">
                <a:solidFill>
                  <a:srgbClr val="5D6B7A"/>
                </a:solidFill>
                <a:latin typeface="Calibri" pitchFamily="34" charset="0"/>
                <a:ea typeface="Calibri" pitchFamily="34" charset="-122"/>
                <a:cs typeface="Calibri" pitchFamily="34" charset="-120"/>
              </a:rPr>
              <a:t>Scope statements, SOWs, architecture specs, resource rosters, risk register templates.</a:t>
            </a:r>
            <a:endParaRPr lang="en-US" sz="1150" dirty="0"/>
          </a:p>
        </p:txBody>
      </p:sp>
      <p:sp>
        <p:nvSpPr>
          <p:cNvPr id="11" name="Text 9"/>
          <p:cNvSpPr/>
          <p:nvPr/>
        </p:nvSpPr>
        <p:spPr>
          <a:xfrm>
            <a:off x="7269480" y="1417320"/>
            <a:ext cx="4297680" cy="274320"/>
          </a:xfrm>
          <a:prstGeom prst="rect">
            <a:avLst/>
          </a:prstGeom>
          <a:noFill/>
          <a:ln/>
        </p:spPr>
        <p:txBody>
          <a:bodyPr wrap="square" rtlCol="0" anchor="ctr"/>
          <a:lstStyle/>
          <a:p>
            <a:pPr marL="0" indent="0">
              <a:buNone/>
            </a:pPr>
            <a:r>
              <a:rPr lang="en-US" sz="1200" b="1" kern="0" spc="100" dirty="0">
                <a:solidFill>
                  <a:srgbClr val="3E6B8A"/>
                </a:solidFill>
                <a:latin typeface="Calibri" pitchFamily="34" charset="0"/>
                <a:ea typeface="Calibri" pitchFamily="34" charset="-122"/>
                <a:cs typeface="Calibri" pitchFamily="34" charset="-120"/>
              </a:rPr>
              <a:t>5 SUCCESS METRICS</a:t>
            </a:r>
            <a:endParaRPr lang="en-US" sz="1200" dirty="0"/>
          </a:p>
        </p:txBody>
      </p:sp>
      <p:sp>
        <p:nvSpPr>
          <p:cNvPr id="12" name="Shape 10"/>
          <p:cNvSpPr/>
          <p:nvPr/>
        </p:nvSpPr>
        <p:spPr>
          <a:xfrm>
            <a:off x="7269480" y="1828800"/>
            <a:ext cx="4297680" cy="713232"/>
          </a:xfrm>
          <a:prstGeom prst="roundRect">
            <a:avLst>
              <a:gd name="adj" fmla="val 7692"/>
            </a:avLst>
          </a:prstGeom>
          <a:solidFill>
            <a:srgbClr val="F4F6F9"/>
          </a:solidFill>
          <a:ln w="12700">
            <a:solidFill>
              <a:srgbClr val="E1E6ED"/>
            </a:solidFill>
            <a:prstDash val="solid"/>
          </a:ln>
        </p:spPr>
      </p:sp>
      <p:sp>
        <p:nvSpPr>
          <p:cNvPr id="13" name="Shape 11"/>
          <p:cNvSpPr/>
          <p:nvPr/>
        </p:nvSpPr>
        <p:spPr>
          <a:xfrm>
            <a:off x="7397496" y="1956816"/>
            <a:ext cx="457200" cy="457200"/>
          </a:xfrm>
          <a:prstGeom prst="ellipse">
            <a:avLst/>
          </a:prstGeom>
          <a:solidFill>
            <a:srgbClr val="1B2F4E"/>
          </a:solidFill>
          <a:ln w="12700">
            <a:solidFill>
              <a:srgbClr val="1B2F4E"/>
            </a:solidFill>
            <a:prstDash val="solid"/>
          </a:ln>
        </p:spPr>
      </p:sp>
      <p:sp>
        <p:nvSpPr>
          <p:cNvPr id="14" name="Text 12"/>
          <p:cNvSpPr/>
          <p:nvPr/>
        </p:nvSpPr>
        <p:spPr>
          <a:xfrm>
            <a:off x="7397496" y="1956816"/>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5" name="Text 13"/>
          <p:cNvSpPr/>
          <p:nvPr/>
        </p:nvSpPr>
        <p:spPr>
          <a:xfrm>
            <a:off x="7982712" y="1828800"/>
            <a:ext cx="3429000" cy="713232"/>
          </a:xfrm>
          <a:prstGeom prst="rect">
            <a:avLst/>
          </a:prstGeom>
          <a:noFill/>
          <a:ln/>
        </p:spPr>
        <p:txBody>
          <a:bodyPr wrap="square" rtlCol="0" anchor="ctr"/>
          <a:lstStyle/>
          <a:p>
            <a:pPr marL="0" indent="0">
              <a:lnSpc>
                <a:spcPct val="110000"/>
              </a:lnSpc>
              <a:buNone/>
            </a:pPr>
            <a:r>
              <a:rPr lang="en-US" sz="1150" dirty="0">
                <a:solidFill>
                  <a:srgbClr val="1C2733"/>
                </a:solidFill>
                <a:latin typeface="Calibri" pitchFamily="34" charset="0"/>
                <a:ea typeface="Calibri" pitchFamily="34" charset="-122"/>
                <a:cs typeface="Calibri" pitchFamily="34" charset="-120"/>
              </a:rPr>
              <a:t>Plan generation time under 60 seconds</a:t>
            </a:r>
            <a:endParaRPr lang="en-US" sz="1150" dirty="0"/>
          </a:p>
        </p:txBody>
      </p:sp>
      <p:sp>
        <p:nvSpPr>
          <p:cNvPr id="16" name="Shape 14"/>
          <p:cNvSpPr/>
          <p:nvPr/>
        </p:nvSpPr>
        <p:spPr>
          <a:xfrm>
            <a:off x="7269480" y="2651760"/>
            <a:ext cx="4297680" cy="713232"/>
          </a:xfrm>
          <a:prstGeom prst="roundRect">
            <a:avLst>
              <a:gd name="adj" fmla="val 7692"/>
            </a:avLst>
          </a:prstGeom>
          <a:solidFill>
            <a:srgbClr val="FFFFFF"/>
          </a:solidFill>
          <a:ln w="12700">
            <a:solidFill>
              <a:srgbClr val="E1E6ED"/>
            </a:solidFill>
            <a:prstDash val="solid"/>
          </a:ln>
        </p:spPr>
      </p:sp>
      <p:sp>
        <p:nvSpPr>
          <p:cNvPr id="17" name="Shape 15"/>
          <p:cNvSpPr/>
          <p:nvPr/>
        </p:nvSpPr>
        <p:spPr>
          <a:xfrm>
            <a:off x="7397496" y="2779776"/>
            <a:ext cx="457200" cy="457200"/>
          </a:xfrm>
          <a:prstGeom prst="ellipse">
            <a:avLst/>
          </a:prstGeom>
          <a:solidFill>
            <a:srgbClr val="1B2F4E"/>
          </a:solidFill>
          <a:ln w="12700">
            <a:solidFill>
              <a:srgbClr val="1B2F4E"/>
            </a:solidFill>
            <a:prstDash val="solid"/>
          </a:ln>
        </p:spPr>
      </p:sp>
      <p:sp>
        <p:nvSpPr>
          <p:cNvPr id="18" name="Text 16"/>
          <p:cNvSpPr/>
          <p:nvPr/>
        </p:nvSpPr>
        <p:spPr>
          <a:xfrm>
            <a:off x="7397496" y="2779776"/>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9" name="Text 17"/>
          <p:cNvSpPr/>
          <p:nvPr/>
        </p:nvSpPr>
        <p:spPr>
          <a:xfrm>
            <a:off x="7982712" y="2651760"/>
            <a:ext cx="3429000" cy="713232"/>
          </a:xfrm>
          <a:prstGeom prst="rect">
            <a:avLst/>
          </a:prstGeom>
          <a:noFill/>
          <a:ln/>
        </p:spPr>
        <p:txBody>
          <a:bodyPr wrap="square" rtlCol="0" anchor="ctr"/>
          <a:lstStyle/>
          <a:p>
            <a:pPr marL="0" indent="0">
              <a:lnSpc>
                <a:spcPct val="110000"/>
              </a:lnSpc>
              <a:buNone/>
            </a:pPr>
            <a:r>
              <a:rPr lang="en-US" sz="1150" dirty="0">
                <a:solidFill>
                  <a:srgbClr val="1C2733"/>
                </a:solidFill>
                <a:latin typeface="Calibri" pitchFamily="34" charset="0"/>
                <a:ea typeface="Calibri" pitchFamily="34" charset="-122"/>
                <a:cs typeface="Calibri" pitchFamily="34" charset="-120"/>
              </a:rPr>
              <a:t>100% ingestion coverage across PDF / XLSX / TXT / RTF</a:t>
            </a:r>
            <a:endParaRPr lang="en-US" sz="1150" dirty="0"/>
          </a:p>
        </p:txBody>
      </p:sp>
      <p:sp>
        <p:nvSpPr>
          <p:cNvPr id="20" name="Shape 18"/>
          <p:cNvSpPr/>
          <p:nvPr/>
        </p:nvSpPr>
        <p:spPr>
          <a:xfrm>
            <a:off x="7269480" y="3474720"/>
            <a:ext cx="4297680" cy="713232"/>
          </a:xfrm>
          <a:prstGeom prst="roundRect">
            <a:avLst>
              <a:gd name="adj" fmla="val 7692"/>
            </a:avLst>
          </a:prstGeom>
          <a:solidFill>
            <a:srgbClr val="F4F6F9"/>
          </a:solidFill>
          <a:ln w="12700">
            <a:solidFill>
              <a:srgbClr val="E1E6ED"/>
            </a:solidFill>
            <a:prstDash val="solid"/>
          </a:ln>
        </p:spPr>
      </p:sp>
      <p:sp>
        <p:nvSpPr>
          <p:cNvPr id="21" name="Shape 19"/>
          <p:cNvSpPr/>
          <p:nvPr/>
        </p:nvSpPr>
        <p:spPr>
          <a:xfrm>
            <a:off x="7397496" y="3602736"/>
            <a:ext cx="457200" cy="457200"/>
          </a:xfrm>
          <a:prstGeom prst="ellipse">
            <a:avLst/>
          </a:prstGeom>
          <a:solidFill>
            <a:srgbClr val="1B2F4E"/>
          </a:solidFill>
          <a:ln w="12700">
            <a:solidFill>
              <a:srgbClr val="1B2F4E"/>
            </a:solidFill>
            <a:prstDash val="solid"/>
          </a:ln>
        </p:spPr>
      </p:sp>
      <p:sp>
        <p:nvSpPr>
          <p:cNvPr id="22" name="Text 20"/>
          <p:cNvSpPr/>
          <p:nvPr/>
        </p:nvSpPr>
        <p:spPr>
          <a:xfrm>
            <a:off x="7397496" y="3602736"/>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3" name="Text 21"/>
          <p:cNvSpPr/>
          <p:nvPr/>
        </p:nvSpPr>
        <p:spPr>
          <a:xfrm>
            <a:off x="7982712" y="3474720"/>
            <a:ext cx="3429000" cy="713232"/>
          </a:xfrm>
          <a:prstGeom prst="rect">
            <a:avLst/>
          </a:prstGeom>
          <a:noFill/>
          <a:ln/>
        </p:spPr>
        <p:txBody>
          <a:bodyPr wrap="square" rtlCol="0" anchor="ctr"/>
          <a:lstStyle/>
          <a:p>
            <a:pPr marL="0" indent="0">
              <a:lnSpc>
                <a:spcPct val="110000"/>
              </a:lnSpc>
              <a:buNone/>
            </a:pPr>
            <a:r>
              <a:rPr lang="en-US" sz="1150" dirty="0">
                <a:solidFill>
                  <a:srgbClr val="1C2733"/>
                </a:solidFill>
                <a:latin typeface="Calibri" pitchFamily="34" charset="0"/>
                <a:ea typeface="Calibri" pitchFamily="34" charset="-122"/>
                <a:cs typeface="Calibri" pitchFamily="34" charset="-120"/>
              </a:rPr>
              <a:t>Milestone extraction accuracy above 95%</a:t>
            </a:r>
            <a:endParaRPr lang="en-US" sz="1150" dirty="0"/>
          </a:p>
        </p:txBody>
      </p:sp>
      <p:sp>
        <p:nvSpPr>
          <p:cNvPr id="24" name="Shape 22"/>
          <p:cNvSpPr/>
          <p:nvPr/>
        </p:nvSpPr>
        <p:spPr>
          <a:xfrm>
            <a:off x="7269480" y="4297680"/>
            <a:ext cx="4297680" cy="713232"/>
          </a:xfrm>
          <a:prstGeom prst="roundRect">
            <a:avLst>
              <a:gd name="adj" fmla="val 7692"/>
            </a:avLst>
          </a:prstGeom>
          <a:solidFill>
            <a:srgbClr val="FFFFFF"/>
          </a:solidFill>
          <a:ln w="12700">
            <a:solidFill>
              <a:srgbClr val="E1E6ED"/>
            </a:solidFill>
            <a:prstDash val="solid"/>
          </a:ln>
        </p:spPr>
      </p:sp>
      <p:sp>
        <p:nvSpPr>
          <p:cNvPr id="25" name="Shape 23"/>
          <p:cNvSpPr/>
          <p:nvPr/>
        </p:nvSpPr>
        <p:spPr>
          <a:xfrm>
            <a:off x="7397496" y="4425696"/>
            <a:ext cx="457200" cy="457200"/>
          </a:xfrm>
          <a:prstGeom prst="ellipse">
            <a:avLst/>
          </a:prstGeom>
          <a:solidFill>
            <a:srgbClr val="1B2F4E"/>
          </a:solidFill>
          <a:ln w="12700">
            <a:solidFill>
              <a:srgbClr val="1B2F4E"/>
            </a:solidFill>
            <a:prstDash val="solid"/>
          </a:ln>
        </p:spPr>
      </p:sp>
      <p:sp>
        <p:nvSpPr>
          <p:cNvPr id="26" name="Text 24"/>
          <p:cNvSpPr/>
          <p:nvPr/>
        </p:nvSpPr>
        <p:spPr>
          <a:xfrm>
            <a:off x="7397496" y="4425696"/>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7" name="Text 25"/>
          <p:cNvSpPr/>
          <p:nvPr/>
        </p:nvSpPr>
        <p:spPr>
          <a:xfrm>
            <a:off x="7982712" y="4297680"/>
            <a:ext cx="3429000" cy="713232"/>
          </a:xfrm>
          <a:prstGeom prst="rect">
            <a:avLst/>
          </a:prstGeom>
          <a:noFill/>
          <a:ln/>
        </p:spPr>
        <p:txBody>
          <a:bodyPr wrap="square" rtlCol="0" anchor="ctr"/>
          <a:lstStyle/>
          <a:p>
            <a:pPr marL="0" indent="0">
              <a:lnSpc>
                <a:spcPct val="110000"/>
              </a:lnSpc>
              <a:buNone/>
            </a:pPr>
            <a:r>
              <a:rPr lang="en-US" sz="1150" dirty="0">
                <a:solidFill>
                  <a:srgbClr val="1C2733"/>
                </a:solidFill>
                <a:latin typeface="Calibri" pitchFamily="34" charset="0"/>
                <a:ea typeface="Calibri" pitchFamily="34" charset="-122"/>
                <a:cs typeface="Calibri" pitchFamily="34" charset="-120"/>
              </a:rPr>
              <a:t>5+ hours of TPM manual time saved per plan</a:t>
            </a:r>
            <a:endParaRPr lang="en-US" sz="1150" dirty="0"/>
          </a:p>
        </p:txBody>
      </p:sp>
      <p:sp>
        <p:nvSpPr>
          <p:cNvPr id="28" name="Shape 26"/>
          <p:cNvSpPr/>
          <p:nvPr/>
        </p:nvSpPr>
        <p:spPr>
          <a:xfrm>
            <a:off x="7269480" y="5120640"/>
            <a:ext cx="4297680" cy="713232"/>
          </a:xfrm>
          <a:prstGeom prst="roundRect">
            <a:avLst>
              <a:gd name="adj" fmla="val 7692"/>
            </a:avLst>
          </a:prstGeom>
          <a:solidFill>
            <a:srgbClr val="F4F6F9"/>
          </a:solidFill>
          <a:ln w="12700">
            <a:solidFill>
              <a:srgbClr val="E1E6ED"/>
            </a:solidFill>
            <a:prstDash val="solid"/>
          </a:ln>
        </p:spPr>
      </p:sp>
      <p:sp>
        <p:nvSpPr>
          <p:cNvPr id="29" name="Shape 27"/>
          <p:cNvSpPr/>
          <p:nvPr/>
        </p:nvSpPr>
        <p:spPr>
          <a:xfrm>
            <a:off x="7397496" y="5248656"/>
            <a:ext cx="457200" cy="457200"/>
          </a:xfrm>
          <a:prstGeom prst="ellipse">
            <a:avLst/>
          </a:prstGeom>
          <a:solidFill>
            <a:srgbClr val="1B2F4E"/>
          </a:solidFill>
          <a:ln w="12700">
            <a:solidFill>
              <a:srgbClr val="1B2F4E"/>
            </a:solidFill>
            <a:prstDash val="solid"/>
          </a:ln>
        </p:spPr>
      </p:sp>
      <p:sp>
        <p:nvSpPr>
          <p:cNvPr id="30" name="Text 28"/>
          <p:cNvSpPr/>
          <p:nvPr/>
        </p:nvSpPr>
        <p:spPr>
          <a:xfrm>
            <a:off x="7397496" y="5248656"/>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31" name="Text 29"/>
          <p:cNvSpPr/>
          <p:nvPr/>
        </p:nvSpPr>
        <p:spPr>
          <a:xfrm>
            <a:off x="7982712" y="5120640"/>
            <a:ext cx="3429000" cy="713232"/>
          </a:xfrm>
          <a:prstGeom prst="rect">
            <a:avLst/>
          </a:prstGeom>
          <a:noFill/>
          <a:ln/>
        </p:spPr>
        <p:txBody>
          <a:bodyPr wrap="square" rtlCol="0" anchor="ctr"/>
          <a:lstStyle/>
          <a:p>
            <a:pPr marL="0" indent="0">
              <a:lnSpc>
                <a:spcPct val="110000"/>
              </a:lnSpc>
              <a:buNone/>
            </a:pPr>
            <a:r>
              <a:rPr lang="en-US" sz="1150" dirty="0">
                <a:solidFill>
                  <a:srgbClr val="1C2733"/>
                </a:solidFill>
                <a:latin typeface="Calibri" pitchFamily="34" charset="0"/>
                <a:ea typeface="Calibri" pitchFamily="34" charset="-122"/>
                <a:cs typeface="Calibri" pitchFamily="34" charset="-120"/>
              </a:rPr>
              <a:t>100% downstream email delivery rate</a:t>
            </a:r>
            <a:endParaRPr lang="en-US" sz="1150" dirty="0"/>
          </a:p>
        </p:txBody>
      </p:sp>
      <p:sp>
        <p:nvSpPr>
          <p:cNvPr id="32" name="Text 30"/>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MIRA — Multi-Agent PMO Orchestrator</a:t>
            </a:r>
            <a:endParaRPr lang="en-US" sz="900" dirty="0"/>
          </a:p>
        </p:txBody>
      </p:sp>
      <p:sp>
        <p:nvSpPr>
          <p:cNvPr id="33" name="Text 31"/>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D6B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A3A2C65-332F-F0B1-9E38-97DA6402DA8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CDE4395-838F-A137-A4EE-E3F89F59DF5F}"/>
              </a:ext>
            </a:extLst>
          </p:cNvPr>
          <p:cNvSpPr/>
          <p:nvPr/>
        </p:nvSpPr>
        <p:spPr>
          <a:xfrm>
            <a:off x="640080" y="384048"/>
            <a:ext cx="7315200" cy="292608"/>
          </a:xfrm>
          <a:prstGeom prst="rect">
            <a:avLst/>
          </a:prstGeom>
          <a:noFill/>
          <a:ln/>
        </p:spPr>
        <p:txBody>
          <a:bodyPr wrap="square" rtlCol="0" anchor="ctr"/>
          <a:lstStyle/>
          <a:p>
            <a:pPr marL="0" indent="0" algn="l">
              <a:buNone/>
            </a:pPr>
            <a:r>
              <a:rPr lang="en-US" sz="1250" b="1" kern="0" spc="200" dirty="0">
                <a:solidFill>
                  <a:srgbClr val="3E6B8A"/>
                </a:solidFill>
                <a:latin typeface="Calibri" pitchFamily="34" charset="0"/>
                <a:ea typeface="Calibri" pitchFamily="34" charset="-122"/>
                <a:cs typeface="Calibri" pitchFamily="34" charset="-120"/>
              </a:rPr>
              <a:t>USE CASE 01</a:t>
            </a:r>
            <a:endParaRPr lang="en-US" sz="1250" dirty="0"/>
          </a:p>
        </p:txBody>
      </p:sp>
      <p:sp>
        <p:nvSpPr>
          <p:cNvPr id="3" name="Text 1">
            <a:extLst>
              <a:ext uri="{FF2B5EF4-FFF2-40B4-BE49-F238E27FC236}">
                <a16:creationId xmlns:a16="http://schemas.microsoft.com/office/drawing/2014/main" id="{D9B866E7-049C-DE66-0548-4CE548630266}"/>
              </a:ext>
            </a:extLst>
          </p:cNvPr>
          <p:cNvSpPr/>
          <p:nvPr/>
        </p:nvSpPr>
        <p:spPr>
          <a:xfrm>
            <a:off x="2484409" y="141901"/>
            <a:ext cx="7315200" cy="534755"/>
          </a:xfrm>
          <a:prstGeom prst="rect">
            <a:avLst/>
          </a:prstGeom>
          <a:noFill/>
          <a:ln/>
        </p:spPr>
        <p:txBody>
          <a:bodyPr wrap="square" rtlCol="0" anchor="ctr"/>
          <a:lstStyle/>
          <a:p>
            <a:pPr marL="0" indent="0" algn="l">
              <a:buNone/>
            </a:pPr>
            <a:r>
              <a:rPr lang="en-US" sz="3200" b="1" dirty="0">
                <a:solidFill>
                  <a:srgbClr val="1B2F4E"/>
                </a:solidFill>
                <a:latin typeface="Cambria" pitchFamily="34" charset="0"/>
                <a:ea typeface="Cambria" pitchFamily="34" charset="-122"/>
                <a:cs typeface="Cambria" pitchFamily="34" charset="-120"/>
              </a:rPr>
              <a:t>Autonomous Project Plan Flow Chart</a:t>
            </a:r>
            <a:endParaRPr lang="en-US" sz="3200" dirty="0"/>
          </a:p>
        </p:txBody>
      </p:sp>
      <p:sp>
        <p:nvSpPr>
          <p:cNvPr id="32" name="Text 30">
            <a:extLst>
              <a:ext uri="{FF2B5EF4-FFF2-40B4-BE49-F238E27FC236}">
                <a16:creationId xmlns:a16="http://schemas.microsoft.com/office/drawing/2014/main" id="{2E43EC58-0A08-0851-B89E-34DAACC6B7F7}"/>
              </a:ext>
            </a:extLst>
          </p:cNvPr>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MIRA — Multi-Agent PMO Orchestrator</a:t>
            </a:r>
            <a:endParaRPr lang="en-US" sz="900" dirty="0"/>
          </a:p>
        </p:txBody>
      </p:sp>
      <p:sp>
        <p:nvSpPr>
          <p:cNvPr id="33" name="Text 31">
            <a:extLst>
              <a:ext uri="{FF2B5EF4-FFF2-40B4-BE49-F238E27FC236}">
                <a16:creationId xmlns:a16="http://schemas.microsoft.com/office/drawing/2014/main" id="{65D4CA48-229A-3879-1F5A-33CAB8F43D6A}"/>
              </a:ext>
            </a:extLst>
          </p:cNvPr>
          <p:cNvSpPr/>
          <p:nvPr/>
        </p:nvSpPr>
        <p:spPr>
          <a:xfrm>
            <a:off x="11277295" y="6510528"/>
            <a:ext cx="457200" cy="274320"/>
          </a:xfrm>
          <a:prstGeom prst="rect">
            <a:avLst/>
          </a:prstGeom>
          <a:noFill/>
          <a:ln/>
        </p:spPr>
        <p:txBody>
          <a:bodyPr wrap="square" rtlCol="0" anchor="ctr"/>
          <a:lstStyle/>
          <a:p>
            <a:pPr marL="0" indent="0" algn="r">
              <a:buNone/>
            </a:pPr>
            <a:r>
              <a:rPr lang="en-US" sz="900" dirty="0"/>
              <a:t>10</a:t>
            </a:r>
          </a:p>
        </p:txBody>
      </p:sp>
      <p:pic>
        <p:nvPicPr>
          <p:cNvPr id="34" name="Picture 33">
            <a:extLst>
              <a:ext uri="{FF2B5EF4-FFF2-40B4-BE49-F238E27FC236}">
                <a16:creationId xmlns:a16="http://schemas.microsoft.com/office/drawing/2014/main" id="{00D7C3ED-8D8C-E3EE-0D79-11C6B0B27B5C}"/>
              </a:ext>
            </a:extLst>
          </p:cNvPr>
          <p:cNvPicPr>
            <a:picLocks noChangeAspect="1"/>
          </p:cNvPicPr>
          <p:nvPr/>
        </p:nvPicPr>
        <p:blipFill>
          <a:blip r:embed="rId3"/>
          <a:srcRect/>
          <a:stretch>
            <a:fillRect/>
          </a:stretch>
        </p:blipFill>
        <p:spPr bwMode="auto">
          <a:xfrm>
            <a:off x="640080" y="793463"/>
            <a:ext cx="5123575" cy="5621935"/>
          </a:xfrm>
          <a:prstGeom prst="rect">
            <a:avLst/>
          </a:prstGeom>
        </p:spPr>
      </p:pic>
      <p:graphicFrame>
        <p:nvGraphicFramePr>
          <p:cNvPr id="37" name="Table 36">
            <a:extLst>
              <a:ext uri="{FF2B5EF4-FFF2-40B4-BE49-F238E27FC236}">
                <a16:creationId xmlns:a16="http://schemas.microsoft.com/office/drawing/2014/main" id="{B2289758-F323-D469-3E32-E08386D64CD7}"/>
              </a:ext>
            </a:extLst>
          </p:cNvPr>
          <p:cNvGraphicFramePr>
            <a:graphicFrameLocks noGrp="1"/>
          </p:cNvGraphicFramePr>
          <p:nvPr>
            <p:extLst>
              <p:ext uri="{D42A27DB-BD31-4B8C-83A1-F6EECF244321}">
                <p14:modId xmlns:p14="http://schemas.microsoft.com/office/powerpoint/2010/main" val="3209556424"/>
              </p:ext>
            </p:extLst>
          </p:nvPr>
        </p:nvGraphicFramePr>
        <p:xfrm>
          <a:off x="5883214" y="800268"/>
          <a:ext cx="5668706" cy="5615130"/>
        </p:xfrm>
        <a:graphic>
          <a:graphicData uri="http://schemas.openxmlformats.org/drawingml/2006/table">
            <a:tbl>
              <a:tblPr firstRow="1" firstCol="1" bandRow="1"/>
              <a:tblGrid>
                <a:gridCol w="405443">
                  <a:extLst>
                    <a:ext uri="{9D8B030D-6E8A-4147-A177-3AD203B41FA5}">
                      <a16:colId xmlns:a16="http://schemas.microsoft.com/office/drawing/2014/main" val="1321140046"/>
                    </a:ext>
                  </a:extLst>
                </a:gridCol>
                <a:gridCol w="2337758">
                  <a:extLst>
                    <a:ext uri="{9D8B030D-6E8A-4147-A177-3AD203B41FA5}">
                      <a16:colId xmlns:a16="http://schemas.microsoft.com/office/drawing/2014/main" val="1143540577"/>
                    </a:ext>
                  </a:extLst>
                </a:gridCol>
                <a:gridCol w="2925505">
                  <a:extLst>
                    <a:ext uri="{9D8B030D-6E8A-4147-A177-3AD203B41FA5}">
                      <a16:colId xmlns:a16="http://schemas.microsoft.com/office/drawing/2014/main" val="694935319"/>
                    </a:ext>
                  </a:extLst>
                </a:gridCol>
              </a:tblGrid>
              <a:tr h="326298">
                <a:tc>
                  <a:txBody>
                    <a:bodyPr/>
                    <a:lstStyle/>
                    <a:p>
                      <a:pPr>
                        <a:buNone/>
                      </a:pPr>
                      <a:r>
                        <a:rPr lang="en-IN" sz="800" b="1">
                          <a:solidFill>
                            <a:srgbClr val="FFFFFF"/>
                          </a:solidFill>
                          <a:effectLst/>
                          <a:latin typeface="Times New Roman" panose="02020603050405020304" pitchFamily="18" charset="0"/>
                          <a:ea typeface="Times New Roman" panose="02020603050405020304" pitchFamily="18" charset="0"/>
                        </a:rPr>
                        <a:t>Step</a:t>
                      </a:r>
                      <a:endParaRPr lang="en-IN" sz="80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C5F8A"/>
                    </a:solidFill>
                  </a:tcPr>
                </a:tc>
                <a:tc>
                  <a:txBody>
                    <a:bodyPr/>
                    <a:lstStyle/>
                    <a:p>
                      <a:pPr>
                        <a:buNone/>
                      </a:pPr>
                      <a:r>
                        <a:rPr lang="en-IN" sz="800" b="1">
                          <a:solidFill>
                            <a:srgbClr val="FFFFFF"/>
                          </a:solidFill>
                          <a:effectLst/>
                          <a:latin typeface="Times New Roman" panose="02020603050405020304" pitchFamily="18" charset="0"/>
                          <a:ea typeface="Times New Roman" panose="02020603050405020304" pitchFamily="18" charset="0"/>
                        </a:rPr>
                        <a:t>Node / Component</a:t>
                      </a:r>
                      <a:endParaRPr lang="en-IN" sz="80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C5F8A"/>
                    </a:solidFill>
                  </a:tcPr>
                </a:tc>
                <a:tc>
                  <a:txBody>
                    <a:bodyPr/>
                    <a:lstStyle/>
                    <a:p>
                      <a:pPr>
                        <a:buNone/>
                      </a:pPr>
                      <a:r>
                        <a:rPr lang="en-IN" sz="800" b="1">
                          <a:solidFill>
                            <a:srgbClr val="FFFFFF"/>
                          </a:solidFill>
                          <a:effectLst/>
                          <a:latin typeface="Times New Roman" panose="02020603050405020304" pitchFamily="18" charset="0"/>
                          <a:ea typeface="Times New Roman" panose="02020603050405020304" pitchFamily="18" charset="0"/>
                        </a:rPr>
                        <a:t>Function</a:t>
                      </a:r>
                      <a:endParaRPr lang="en-IN" sz="80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C5F8A"/>
                    </a:solidFill>
                  </a:tcPr>
                </a:tc>
                <a:extLst>
                  <a:ext uri="{0D108BD9-81ED-4DB2-BD59-A6C34878D82A}">
                    <a16:rowId xmlns:a16="http://schemas.microsoft.com/office/drawing/2014/main" val="2191669846"/>
                  </a:ext>
                </a:extLst>
              </a:tr>
              <a:tr h="499375">
                <a:tc>
                  <a:txBody>
                    <a:bodyPr/>
                    <a:lstStyle/>
                    <a:p>
                      <a:pPr>
                        <a:buNone/>
                      </a:pPr>
                      <a:r>
                        <a:rPr lang="en-IN" sz="700" b="1">
                          <a:solidFill>
                            <a:srgbClr val="2C5F8A"/>
                          </a:solidFill>
                          <a:effectLst/>
                          <a:latin typeface="Times New Roman" panose="02020603050405020304" pitchFamily="18" charset="0"/>
                          <a:ea typeface="Times New Roman" panose="02020603050405020304" pitchFamily="18" charset="0"/>
                        </a:rPr>
                        <a:t>1</a:t>
                      </a:r>
                      <a:endParaRPr lang="en-IN" sz="80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8FC"/>
                    </a:solidFill>
                  </a:tcPr>
                </a:tc>
                <a:tc>
                  <a:txBody>
                    <a:bodyPr/>
                    <a:lstStyle/>
                    <a:p>
                      <a:pPr>
                        <a:buNone/>
                      </a:pPr>
                      <a:r>
                        <a:rPr lang="en-IN" sz="700" b="1">
                          <a:solidFill>
                            <a:srgbClr val="000000"/>
                          </a:solidFill>
                          <a:effectLst/>
                          <a:latin typeface="Times New Roman" panose="02020603050405020304" pitchFamily="18" charset="0"/>
                          <a:ea typeface="Times New Roman" panose="02020603050405020304" pitchFamily="18" charset="0"/>
                        </a:rPr>
                        <a:t>Manual / Drive Webhook Trigger</a:t>
                      </a:r>
                      <a:endParaRPr lang="en-IN" sz="80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8FC"/>
                    </a:solidFill>
                  </a:tcPr>
                </a:tc>
                <a:tc>
                  <a:txBody>
                    <a:bodyPr/>
                    <a:lstStyle/>
                    <a:p>
                      <a:pPr>
                        <a:buNone/>
                      </a:pPr>
                      <a:r>
                        <a:rPr lang="en-IN" sz="700">
                          <a:solidFill>
                            <a:srgbClr val="000000"/>
                          </a:solidFill>
                          <a:effectLst/>
                          <a:latin typeface="Times New Roman" panose="02020603050405020304" pitchFamily="18" charset="0"/>
                          <a:ea typeface="Times New Roman" panose="02020603050405020304" pitchFamily="18" charset="0"/>
                        </a:rPr>
                        <a:t>Kicks off plan generation on demand or when new onboarding files land in Drive.</a:t>
                      </a:r>
                      <a:endParaRPr lang="en-IN" sz="80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8FC"/>
                    </a:solidFill>
                  </a:tcPr>
                </a:tc>
                <a:extLst>
                  <a:ext uri="{0D108BD9-81ED-4DB2-BD59-A6C34878D82A}">
                    <a16:rowId xmlns:a16="http://schemas.microsoft.com/office/drawing/2014/main" val="4155528348"/>
                  </a:ext>
                </a:extLst>
              </a:tr>
              <a:tr h="1053875">
                <a:tc>
                  <a:txBody>
                    <a:bodyPr/>
                    <a:lstStyle/>
                    <a:p>
                      <a:pPr>
                        <a:buNone/>
                      </a:pPr>
                      <a:r>
                        <a:rPr lang="en-IN" sz="700" b="1">
                          <a:solidFill>
                            <a:srgbClr val="2C5F8A"/>
                          </a:solidFill>
                          <a:effectLst/>
                          <a:latin typeface="Times New Roman" panose="02020603050405020304" pitchFamily="18" charset="0"/>
                          <a:ea typeface="Times New Roman" panose="02020603050405020304" pitchFamily="18" charset="0"/>
                        </a:rPr>
                        <a:t>2</a:t>
                      </a:r>
                      <a:endParaRPr lang="en-IN" sz="80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buNone/>
                      </a:pPr>
                      <a:r>
                        <a:rPr lang="en-IN" sz="700" b="1">
                          <a:solidFill>
                            <a:srgbClr val="000000"/>
                          </a:solidFill>
                          <a:effectLst/>
                          <a:latin typeface="Times New Roman" panose="02020603050405020304" pitchFamily="18" charset="0"/>
                          <a:ea typeface="Times New Roman" panose="02020603050405020304" pitchFamily="18" charset="0"/>
                        </a:rPr>
                        <a:t>Format-Specific Extraction Nodes (XLSX, PDF, TXT, DOCX)</a:t>
                      </a:r>
                      <a:endParaRPr lang="en-IN" sz="80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buNone/>
                      </a:pPr>
                      <a:r>
                        <a:rPr lang="en-IN" sz="700">
                          <a:solidFill>
                            <a:srgbClr val="000000"/>
                          </a:solidFill>
                          <a:effectLst/>
                          <a:latin typeface="Times New Roman" panose="02020603050405020304" pitchFamily="18" charset="0"/>
                          <a:ea typeface="Times New Roman" panose="02020603050405020304" pitchFamily="18" charset="0"/>
                        </a:rPr>
                        <a:t>Four parallel nodes convert each binary file into a standardized JSON/text payload; an item-count sanity check catches silent data loss (the root cause of the earlier RTF bug) before it reaches the LLM.</a:t>
                      </a:r>
                      <a:endParaRPr lang="en-IN" sz="80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4409819"/>
                  </a:ext>
                </a:extLst>
              </a:tr>
              <a:tr h="499375">
                <a:tc>
                  <a:txBody>
                    <a:bodyPr/>
                    <a:lstStyle/>
                    <a:p>
                      <a:pPr>
                        <a:buNone/>
                      </a:pPr>
                      <a:r>
                        <a:rPr lang="en-IN" sz="700" b="1">
                          <a:solidFill>
                            <a:srgbClr val="2C5F8A"/>
                          </a:solidFill>
                          <a:effectLst/>
                          <a:latin typeface="Times New Roman" panose="02020603050405020304" pitchFamily="18" charset="0"/>
                          <a:ea typeface="Times New Roman" panose="02020603050405020304" pitchFamily="18" charset="0"/>
                        </a:rPr>
                        <a:t>3</a:t>
                      </a:r>
                      <a:endParaRPr lang="en-IN" sz="80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8FC"/>
                    </a:solidFill>
                  </a:tcPr>
                </a:tc>
                <a:tc>
                  <a:txBody>
                    <a:bodyPr/>
                    <a:lstStyle/>
                    <a:p>
                      <a:pPr>
                        <a:buNone/>
                      </a:pPr>
                      <a:r>
                        <a:rPr lang="en-IN" sz="700" b="1">
                          <a:solidFill>
                            <a:srgbClr val="000000"/>
                          </a:solidFill>
                          <a:effectLst/>
                          <a:latin typeface="Times New Roman" panose="02020603050405020304" pitchFamily="18" charset="0"/>
                          <a:ea typeface="Times New Roman" panose="02020603050405020304" pitchFamily="18" charset="0"/>
                        </a:rPr>
                        <a:t>Merge (Append) Node</a:t>
                      </a:r>
                      <a:endParaRPr lang="en-IN" sz="80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8FC"/>
                    </a:solidFill>
                  </a:tcPr>
                </a:tc>
                <a:tc>
                  <a:txBody>
                    <a:bodyPr/>
                    <a:lstStyle/>
                    <a:p>
                      <a:pPr>
                        <a:buNone/>
                      </a:pPr>
                      <a:r>
                        <a:rPr lang="en-IN" sz="700">
                          <a:solidFill>
                            <a:srgbClr val="000000"/>
                          </a:solidFill>
                          <a:effectLst/>
                          <a:latin typeface="Times New Roman" panose="02020603050405020304" pitchFamily="18" charset="0"/>
                          <a:ea typeface="Times New Roman" panose="02020603050405020304" pitchFamily="18" charset="0"/>
                        </a:rPr>
                        <a:t>Combines the four extraction outputs into a single ordered list of ~19 context items.</a:t>
                      </a:r>
                      <a:endParaRPr lang="en-IN" sz="80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8FC"/>
                    </a:solidFill>
                  </a:tcPr>
                </a:tc>
                <a:extLst>
                  <a:ext uri="{0D108BD9-81ED-4DB2-BD59-A6C34878D82A}">
                    <a16:rowId xmlns:a16="http://schemas.microsoft.com/office/drawing/2014/main" val="157664"/>
                  </a:ext>
                </a:extLst>
              </a:tr>
              <a:tr h="499375">
                <a:tc>
                  <a:txBody>
                    <a:bodyPr/>
                    <a:lstStyle/>
                    <a:p>
                      <a:pPr>
                        <a:buNone/>
                      </a:pPr>
                      <a:r>
                        <a:rPr lang="en-IN" sz="700" b="1">
                          <a:solidFill>
                            <a:srgbClr val="2C5F8A"/>
                          </a:solidFill>
                          <a:effectLst/>
                          <a:latin typeface="Times New Roman" panose="02020603050405020304" pitchFamily="18" charset="0"/>
                          <a:ea typeface="Times New Roman" panose="02020603050405020304" pitchFamily="18" charset="0"/>
                        </a:rPr>
                        <a:t>4</a:t>
                      </a:r>
                      <a:endParaRPr lang="en-IN" sz="80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buNone/>
                      </a:pPr>
                      <a:r>
                        <a:rPr lang="en-IN" sz="700" b="1">
                          <a:solidFill>
                            <a:srgbClr val="000000"/>
                          </a:solidFill>
                          <a:effectLst/>
                          <a:latin typeface="Times New Roman" panose="02020603050405020304" pitchFamily="18" charset="0"/>
                          <a:ea typeface="Times New Roman" panose="02020603050405020304" pitchFamily="18" charset="0"/>
                        </a:rPr>
                        <a:t>Aggregate Node</a:t>
                      </a:r>
                      <a:endParaRPr lang="en-IN" sz="80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buNone/>
                      </a:pPr>
                      <a:r>
                        <a:rPr lang="en-IN" sz="700">
                          <a:solidFill>
                            <a:srgbClr val="000000"/>
                          </a:solidFill>
                          <a:effectLst/>
                          <a:latin typeface="Times New Roman" panose="02020603050405020304" pitchFamily="18" charset="0"/>
                          <a:ea typeface="Times New Roman" panose="02020603050405020304" pitchFamily="18" charset="0"/>
                        </a:rPr>
                        <a:t>Flattens the merged items into one context payload sized for the agent's context window.</a:t>
                      </a:r>
                      <a:endParaRPr lang="en-IN" sz="80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43302998"/>
                  </a:ext>
                </a:extLst>
              </a:tr>
              <a:tr h="869041">
                <a:tc>
                  <a:txBody>
                    <a:bodyPr/>
                    <a:lstStyle/>
                    <a:p>
                      <a:pPr>
                        <a:buNone/>
                      </a:pPr>
                      <a:r>
                        <a:rPr lang="en-IN" sz="700" b="1">
                          <a:solidFill>
                            <a:srgbClr val="2C5F8A"/>
                          </a:solidFill>
                          <a:effectLst/>
                          <a:latin typeface="Times New Roman" panose="02020603050405020304" pitchFamily="18" charset="0"/>
                          <a:ea typeface="Times New Roman" panose="02020603050405020304" pitchFamily="18" charset="0"/>
                        </a:rPr>
                        <a:t>5</a:t>
                      </a:r>
                      <a:endParaRPr lang="en-IN" sz="80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8FC"/>
                    </a:solidFill>
                  </a:tcPr>
                </a:tc>
                <a:tc>
                  <a:txBody>
                    <a:bodyPr/>
                    <a:lstStyle/>
                    <a:p>
                      <a:pPr>
                        <a:buNone/>
                      </a:pPr>
                      <a:r>
                        <a:rPr lang="en-IN" sz="700" b="1" dirty="0">
                          <a:solidFill>
                            <a:srgbClr val="000000"/>
                          </a:solidFill>
                          <a:effectLst/>
                          <a:latin typeface="Times New Roman" panose="02020603050405020304" pitchFamily="18" charset="0"/>
                          <a:ea typeface="Times New Roman" panose="02020603050405020304" pitchFamily="18" charset="0"/>
                        </a:rPr>
                        <a:t>AI Agent — Mira Project Planner</a:t>
                      </a:r>
                      <a:endParaRPr lang="en-IN" sz="800" dirty="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8FC"/>
                    </a:solidFill>
                  </a:tcPr>
                </a:tc>
                <a:tc>
                  <a:txBody>
                    <a:bodyPr/>
                    <a:lstStyle/>
                    <a:p>
                      <a:pPr>
                        <a:buNone/>
                      </a:pPr>
                      <a:r>
                        <a:rPr lang="en-IN" sz="700">
                          <a:solidFill>
                            <a:srgbClr val="000000"/>
                          </a:solidFill>
                          <a:effectLst/>
                          <a:latin typeface="Times New Roman" panose="02020603050405020304" pitchFamily="18" charset="0"/>
                          <a:ea typeface="Times New Roman" panose="02020603050405020304" pitchFamily="18" charset="0"/>
                        </a:rPr>
                        <a:t>Isolated OpenAI Chat Model node (never shared with Workflow B) reasons over the full context and drafts the structured project plan under a strict output contract.</a:t>
                      </a:r>
                      <a:endParaRPr lang="en-IN" sz="80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8FC"/>
                    </a:solidFill>
                  </a:tcPr>
                </a:tc>
                <a:extLst>
                  <a:ext uri="{0D108BD9-81ED-4DB2-BD59-A6C34878D82A}">
                    <a16:rowId xmlns:a16="http://schemas.microsoft.com/office/drawing/2014/main" val="4098371019"/>
                  </a:ext>
                </a:extLst>
              </a:tr>
              <a:tr h="684208">
                <a:tc>
                  <a:txBody>
                    <a:bodyPr/>
                    <a:lstStyle/>
                    <a:p>
                      <a:pPr>
                        <a:buNone/>
                      </a:pPr>
                      <a:r>
                        <a:rPr lang="en-IN" sz="700" b="1">
                          <a:solidFill>
                            <a:srgbClr val="2C5F8A"/>
                          </a:solidFill>
                          <a:effectLst/>
                          <a:latin typeface="Times New Roman" panose="02020603050405020304" pitchFamily="18" charset="0"/>
                          <a:ea typeface="Times New Roman" panose="02020603050405020304" pitchFamily="18" charset="0"/>
                        </a:rPr>
                        <a:t>6</a:t>
                      </a:r>
                      <a:endParaRPr lang="en-IN" sz="80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buNone/>
                      </a:pPr>
                      <a:r>
                        <a:rPr lang="en-IN" sz="700" b="1">
                          <a:solidFill>
                            <a:srgbClr val="000000"/>
                          </a:solidFill>
                          <a:effectLst/>
                          <a:latin typeface="Times New Roman" panose="02020603050405020304" pitchFamily="18" charset="0"/>
                          <a:ea typeface="Times New Roman" panose="02020603050405020304" pitchFamily="18" charset="0"/>
                        </a:rPr>
                        <a:t>Self-Check</a:t>
                      </a:r>
                      <a:endParaRPr lang="en-IN" sz="80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buNone/>
                      </a:pPr>
                      <a:r>
                        <a:rPr lang="en-IN" sz="700">
                          <a:solidFill>
                            <a:srgbClr val="000000"/>
                          </a:solidFill>
                          <a:effectLst/>
                          <a:latin typeface="Times New Roman" panose="02020603050405020304" pitchFamily="18" charset="0"/>
                          <a:ea typeface="Times New Roman" panose="02020603050405020304" pitchFamily="18" charset="0"/>
                        </a:rPr>
                        <a:t>Code node verifies the plan covers all required phases/milestones and rejects incomplete or fabricated output before it is formatted.</a:t>
                      </a:r>
                      <a:endParaRPr lang="en-IN" sz="80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22505483"/>
                  </a:ext>
                </a:extLst>
              </a:tr>
              <a:tr h="684208">
                <a:tc>
                  <a:txBody>
                    <a:bodyPr/>
                    <a:lstStyle/>
                    <a:p>
                      <a:pPr>
                        <a:buNone/>
                      </a:pPr>
                      <a:r>
                        <a:rPr lang="en-IN" sz="700" b="1">
                          <a:solidFill>
                            <a:srgbClr val="2C5F8A"/>
                          </a:solidFill>
                          <a:effectLst/>
                          <a:latin typeface="Times New Roman" panose="02020603050405020304" pitchFamily="18" charset="0"/>
                          <a:ea typeface="Times New Roman" panose="02020603050405020304" pitchFamily="18" charset="0"/>
                        </a:rPr>
                        <a:t>7</a:t>
                      </a:r>
                      <a:endParaRPr lang="en-IN" sz="80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8FC"/>
                    </a:solidFill>
                  </a:tcPr>
                </a:tc>
                <a:tc>
                  <a:txBody>
                    <a:bodyPr/>
                    <a:lstStyle/>
                    <a:p>
                      <a:pPr>
                        <a:buNone/>
                      </a:pPr>
                      <a:r>
                        <a:rPr lang="en-IN" sz="700" b="1">
                          <a:solidFill>
                            <a:srgbClr val="000000"/>
                          </a:solidFill>
                          <a:effectLst/>
                          <a:latin typeface="Times New Roman" panose="02020603050405020304" pitchFamily="18" charset="0"/>
                          <a:ea typeface="Times New Roman" panose="02020603050405020304" pitchFamily="18" charset="0"/>
                        </a:rPr>
                        <a:t>Convert to File</a:t>
                      </a:r>
                      <a:endParaRPr lang="en-IN" sz="80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8FC"/>
                    </a:solidFill>
                  </a:tcPr>
                </a:tc>
                <a:tc>
                  <a:txBody>
                    <a:bodyPr/>
                    <a:lstStyle/>
                    <a:p>
                      <a:pPr>
                        <a:buNone/>
                      </a:pPr>
                      <a:r>
                        <a:rPr lang="en-IN" sz="700">
                          <a:solidFill>
                            <a:srgbClr val="000000"/>
                          </a:solidFill>
                          <a:effectLst/>
                          <a:latin typeface="Times New Roman" panose="02020603050405020304" pitchFamily="18" charset="0"/>
                          <a:ea typeface="Times New Roman" panose="02020603050405020304" pitchFamily="18" charset="0"/>
                        </a:rPr>
                        <a:t>Renders the validated plan as an HTML document with fully inline styles for email-client compatibility.</a:t>
                      </a:r>
                      <a:endParaRPr lang="en-IN" sz="80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8FC"/>
                    </a:solidFill>
                  </a:tcPr>
                </a:tc>
                <a:extLst>
                  <a:ext uri="{0D108BD9-81ED-4DB2-BD59-A6C34878D82A}">
                    <a16:rowId xmlns:a16="http://schemas.microsoft.com/office/drawing/2014/main" val="312613000"/>
                  </a:ext>
                </a:extLst>
              </a:tr>
              <a:tr h="499375">
                <a:tc>
                  <a:txBody>
                    <a:bodyPr/>
                    <a:lstStyle/>
                    <a:p>
                      <a:pPr>
                        <a:buNone/>
                      </a:pPr>
                      <a:r>
                        <a:rPr lang="en-IN" sz="700" b="1">
                          <a:solidFill>
                            <a:srgbClr val="2C5F8A"/>
                          </a:solidFill>
                          <a:effectLst/>
                          <a:latin typeface="Times New Roman" panose="02020603050405020304" pitchFamily="18" charset="0"/>
                          <a:ea typeface="Times New Roman" panose="02020603050405020304" pitchFamily="18" charset="0"/>
                        </a:rPr>
                        <a:t>8</a:t>
                      </a:r>
                      <a:endParaRPr lang="en-IN" sz="80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buNone/>
                      </a:pPr>
                      <a:r>
                        <a:rPr lang="en-IN" sz="700" b="1">
                          <a:solidFill>
                            <a:srgbClr val="000000"/>
                          </a:solidFill>
                          <a:effectLst/>
                          <a:latin typeface="Times New Roman" panose="02020603050405020304" pitchFamily="18" charset="0"/>
                          <a:ea typeface="Times New Roman" panose="02020603050405020304" pitchFamily="18" charset="0"/>
                        </a:rPr>
                        <a:t>Upload File (Drive) + Send Email (Gmail)</a:t>
                      </a:r>
                      <a:endParaRPr lang="en-IN" sz="80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buNone/>
                      </a:pPr>
                      <a:r>
                        <a:rPr lang="en-IN" sz="700" dirty="0">
                          <a:solidFill>
                            <a:srgbClr val="000000"/>
                          </a:solidFill>
                          <a:effectLst/>
                          <a:latin typeface="Times New Roman" panose="02020603050405020304" pitchFamily="18" charset="0"/>
                          <a:ea typeface="Times New Roman" panose="02020603050405020304" pitchFamily="18" charset="0"/>
                        </a:rPr>
                        <a:t>Persists the plan to Google Drive and delivers it to stakeholders with zero manual PM involvement.</a:t>
                      </a:r>
                      <a:endParaRPr lang="en-IN" sz="800" dirty="0">
                        <a:effectLst/>
                        <a:latin typeface="Times New Roman" panose="02020603050405020304" pitchFamily="18" charset="0"/>
                        <a:ea typeface="Times New Roman" panose="02020603050405020304" pitchFamily="18" charset="0"/>
                      </a:endParaRPr>
                    </a:p>
                  </a:txBody>
                  <a:tcPr marL="62844" marR="62844" marT="50275" marB="5027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25610559"/>
                  </a:ext>
                </a:extLst>
              </a:tr>
            </a:tbl>
          </a:graphicData>
        </a:graphic>
      </p:graphicFrame>
      <p:sp>
        <p:nvSpPr>
          <p:cNvPr id="38" name="Rectangle 2">
            <a:extLst>
              <a:ext uri="{FF2B5EF4-FFF2-40B4-BE49-F238E27FC236}">
                <a16:creationId xmlns:a16="http://schemas.microsoft.com/office/drawing/2014/main" id="{EAFE0C79-7CFD-1F36-CDBD-48846DF55510}"/>
              </a:ext>
            </a:extLst>
          </p:cNvPr>
          <p:cNvSpPr>
            <a:spLocks noChangeArrowheads="1"/>
          </p:cNvSpPr>
          <p:nvPr/>
        </p:nvSpPr>
        <p:spPr bwMode="auto">
          <a:xfrm>
            <a:off x="3205163" y="1808597"/>
            <a:ext cx="11537380" cy="69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52352" rIns="91440" bIns="7617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2C5F8A"/>
                </a:solidFill>
                <a:effectLst/>
                <a:latin typeface="Times New Roman" panose="02020603050405020304" pitchFamily="18" charset="0"/>
                <a:cs typeface="Times New Roman" panose="02020603050405020304" pitchFamily="18" charset="0"/>
              </a:rPr>
              <a:t>Step-by-Step Breakdown</a:t>
            </a:r>
            <a:endParaRPr kumimoji="0" lang="en-US" altLang="en-US" sz="1300" b="0" i="0" u="none" strike="noStrike" cap="none" normalizeH="0" baseline="0">
              <a:ln>
                <a:noFill/>
              </a:ln>
              <a:solidFill>
                <a:srgbClr val="2E74B5"/>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17887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rtlCol="0" anchor="ctr"/>
          <a:lstStyle/>
          <a:p>
            <a:pPr marL="0" indent="0" algn="l">
              <a:buNone/>
            </a:pPr>
            <a:r>
              <a:rPr lang="en-US" sz="1250" b="1" kern="0" spc="200" dirty="0">
                <a:solidFill>
                  <a:srgbClr val="3E6B8A"/>
                </a:solidFill>
                <a:latin typeface="Calibri" pitchFamily="34" charset="0"/>
                <a:ea typeface="Calibri" pitchFamily="34" charset="-122"/>
                <a:cs typeface="Calibri" pitchFamily="34" charset="-120"/>
              </a:rPr>
              <a:t>USE CASE 02</a:t>
            </a:r>
            <a:endParaRPr lang="en-US" sz="1250" dirty="0"/>
          </a:p>
        </p:txBody>
      </p:sp>
      <p:sp>
        <p:nvSpPr>
          <p:cNvPr id="3" name="Text 1"/>
          <p:cNvSpPr/>
          <p:nvPr/>
        </p:nvSpPr>
        <p:spPr>
          <a:xfrm>
            <a:off x="640080" y="658368"/>
            <a:ext cx="10607040" cy="658368"/>
          </a:xfrm>
          <a:prstGeom prst="rect">
            <a:avLst/>
          </a:prstGeom>
          <a:noFill/>
          <a:ln/>
        </p:spPr>
        <p:txBody>
          <a:bodyPr wrap="square" rtlCol="0" anchor="ctr"/>
          <a:lstStyle/>
          <a:p>
            <a:pPr marL="0" indent="0" algn="l">
              <a:buNone/>
            </a:pPr>
            <a:r>
              <a:rPr lang="en-US" sz="3200" b="1" dirty="0">
                <a:solidFill>
                  <a:srgbClr val="1B2F4E"/>
                </a:solidFill>
                <a:latin typeface="Cambria" pitchFamily="34" charset="0"/>
                <a:ea typeface="Cambria" pitchFamily="34" charset="-122"/>
                <a:cs typeface="Cambria" pitchFamily="34" charset="-120"/>
              </a:rPr>
              <a:t>Live Kanban Sync &amp; Executive Briefing</a:t>
            </a:r>
            <a:endParaRPr lang="en-US" sz="3200" dirty="0"/>
          </a:p>
        </p:txBody>
      </p:sp>
      <p:sp>
        <p:nvSpPr>
          <p:cNvPr id="4" name="Text 2"/>
          <p:cNvSpPr/>
          <p:nvPr/>
        </p:nvSpPr>
        <p:spPr>
          <a:xfrm>
            <a:off x="640080" y="1417320"/>
            <a:ext cx="6309360" cy="256032"/>
          </a:xfrm>
          <a:prstGeom prst="rect">
            <a:avLst/>
          </a:prstGeom>
          <a:noFill/>
          <a:ln/>
        </p:spPr>
        <p:txBody>
          <a:bodyPr wrap="square" rtlCol="0" anchor="ctr"/>
          <a:lstStyle/>
          <a:p>
            <a:pPr marL="0" indent="0">
              <a:buNone/>
            </a:pPr>
            <a:r>
              <a:rPr lang="en-US" sz="1150" b="1" kern="0" spc="100" dirty="0">
                <a:solidFill>
                  <a:srgbClr val="B84A3E"/>
                </a:solidFill>
                <a:latin typeface="Calibri" pitchFamily="34" charset="0"/>
                <a:ea typeface="Calibri" pitchFamily="34" charset="-122"/>
                <a:cs typeface="Calibri" pitchFamily="34" charset="-120"/>
              </a:rPr>
              <a:t>PAIN POINT</a:t>
            </a:r>
            <a:endParaRPr lang="en-US" sz="1150" dirty="0"/>
          </a:p>
        </p:txBody>
      </p:sp>
      <p:sp>
        <p:nvSpPr>
          <p:cNvPr id="5" name="Text 3"/>
          <p:cNvSpPr/>
          <p:nvPr/>
        </p:nvSpPr>
        <p:spPr>
          <a:xfrm>
            <a:off x="640080" y="1691640"/>
            <a:ext cx="6309360" cy="777240"/>
          </a:xfrm>
          <a:prstGeom prst="rect">
            <a:avLst/>
          </a:prstGeom>
          <a:noFill/>
          <a:ln/>
        </p:spPr>
        <p:txBody>
          <a:bodyPr wrap="square" rtlCol="0" anchor="ctr"/>
          <a:lstStyle/>
          <a:p>
            <a:pPr marL="0" indent="0">
              <a:lnSpc>
                <a:spcPct val="125000"/>
              </a:lnSpc>
              <a:buNone/>
            </a:pPr>
            <a:r>
              <a:rPr lang="en-US" sz="1300" dirty="0">
                <a:solidFill>
                  <a:srgbClr val="1C2733"/>
                </a:solidFill>
                <a:latin typeface="Calibri" pitchFamily="34" charset="0"/>
                <a:ea typeface="Calibri" pitchFamily="34" charset="-122"/>
                <a:cs typeface="Calibri" pitchFamily="34" charset="-120"/>
              </a:rPr>
              <a:t>Tracking live Kanban board shifts and compiling weekly reports by hand leads to stale reporting and delayed risk escalation.</a:t>
            </a:r>
            <a:endParaRPr lang="en-US" sz="1300" dirty="0"/>
          </a:p>
        </p:txBody>
      </p:sp>
      <p:sp>
        <p:nvSpPr>
          <p:cNvPr id="6" name="Text 4"/>
          <p:cNvSpPr/>
          <p:nvPr/>
        </p:nvSpPr>
        <p:spPr>
          <a:xfrm>
            <a:off x="640080" y="2560320"/>
            <a:ext cx="6309360" cy="256032"/>
          </a:xfrm>
          <a:prstGeom prst="rect">
            <a:avLst/>
          </a:prstGeom>
          <a:noFill/>
          <a:ln/>
        </p:spPr>
        <p:txBody>
          <a:bodyPr wrap="square" rtlCol="0" anchor="ctr"/>
          <a:lstStyle/>
          <a:p>
            <a:pPr marL="0" indent="0">
              <a:buNone/>
            </a:pPr>
            <a:r>
              <a:rPr lang="en-US" sz="1150" b="1" kern="0" spc="100" dirty="0">
                <a:solidFill>
                  <a:srgbClr val="3E8E63"/>
                </a:solidFill>
                <a:latin typeface="Calibri" pitchFamily="34" charset="0"/>
                <a:ea typeface="Calibri" pitchFamily="34" charset="-122"/>
                <a:cs typeface="Calibri" pitchFamily="34" charset="-120"/>
              </a:rPr>
              <a:t>BUSINESS IMPACT</a:t>
            </a:r>
            <a:endParaRPr lang="en-US" sz="1150" dirty="0"/>
          </a:p>
        </p:txBody>
      </p:sp>
      <p:sp>
        <p:nvSpPr>
          <p:cNvPr id="7" name="Text 5"/>
          <p:cNvSpPr/>
          <p:nvPr/>
        </p:nvSpPr>
        <p:spPr>
          <a:xfrm>
            <a:off x="640080" y="2834640"/>
            <a:ext cx="6309360" cy="777240"/>
          </a:xfrm>
          <a:prstGeom prst="rect">
            <a:avLst/>
          </a:prstGeom>
          <a:noFill/>
          <a:ln/>
        </p:spPr>
        <p:txBody>
          <a:bodyPr wrap="square" rtlCol="0" anchor="ctr"/>
          <a:lstStyle/>
          <a:p>
            <a:pPr marL="0" indent="0">
              <a:lnSpc>
                <a:spcPct val="125000"/>
              </a:lnSpc>
              <a:buNone/>
            </a:pPr>
            <a:r>
              <a:rPr lang="en-US" sz="1300" dirty="0">
                <a:solidFill>
                  <a:srgbClr val="1C2733"/>
                </a:solidFill>
                <a:latin typeface="Calibri" pitchFamily="34" charset="0"/>
                <a:ea typeface="Calibri" pitchFamily="34" charset="-122"/>
                <a:cs typeface="Calibri" pitchFamily="34" charset="-120"/>
              </a:rPr>
              <a:t>Delivers real-time executive visibility and proactive risk mitigation without a PM in the loop.</a:t>
            </a:r>
            <a:endParaRPr lang="en-US" sz="1300" dirty="0"/>
          </a:p>
        </p:txBody>
      </p:sp>
      <p:sp>
        <p:nvSpPr>
          <p:cNvPr id="8" name="Shape 6"/>
          <p:cNvSpPr/>
          <p:nvPr/>
        </p:nvSpPr>
        <p:spPr>
          <a:xfrm>
            <a:off x="640080" y="3840480"/>
            <a:ext cx="6309360" cy="1691640"/>
          </a:xfrm>
          <a:prstGeom prst="roundRect">
            <a:avLst>
              <a:gd name="adj" fmla="val 3784"/>
            </a:avLst>
          </a:prstGeom>
          <a:solidFill>
            <a:srgbClr val="F4F6F9"/>
          </a:solidFill>
          <a:ln w="12700">
            <a:solidFill>
              <a:srgbClr val="E1E6ED"/>
            </a:solidFill>
            <a:prstDash val="solid"/>
          </a:ln>
        </p:spPr>
      </p:sp>
      <p:sp>
        <p:nvSpPr>
          <p:cNvPr id="9" name="Text 7"/>
          <p:cNvSpPr/>
          <p:nvPr/>
        </p:nvSpPr>
        <p:spPr>
          <a:xfrm>
            <a:off x="868680" y="4005072"/>
            <a:ext cx="5852160" cy="256032"/>
          </a:xfrm>
          <a:prstGeom prst="rect">
            <a:avLst/>
          </a:prstGeom>
          <a:noFill/>
          <a:ln/>
        </p:spPr>
        <p:txBody>
          <a:bodyPr wrap="square" rtlCol="0" anchor="ctr"/>
          <a:lstStyle/>
          <a:p>
            <a:pPr marL="0" indent="0">
              <a:buNone/>
            </a:pPr>
            <a:r>
              <a:rPr lang="en-US" sz="1100" b="1" kern="0" spc="100" dirty="0">
                <a:solidFill>
                  <a:srgbClr val="3E6B8A"/>
                </a:solidFill>
                <a:latin typeface="Calibri" pitchFamily="34" charset="0"/>
                <a:ea typeface="Calibri" pitchFamily="34" charset="-122"/>
                <a:cs typeface="Calibri" pitchFamily="34" charset="-120"/>
              </a:rPr>
              <a:t>KNOWLEDGE BASE</a:t>
            </a:r>
            <a:endParaRPr lang="en-US" sz="1100" dirty="0"/>
          </a:p>
        </p:txBody>
      </p:sp>
      <p:sp>
        <p:nvSpPr>
          <p:cNvPr id="10" name="Text 8"/>
          <p:cNvSpPr/>
          <p:nvPr/>
        </p:nvSpPr>
        <p:spPr>
          <a:xfrm>
            <a:off x="868680" y="4270248"/>
            <a:ext cx="5852160" cy="1188720"/>
          </a:xfrm>
          <a:prstGeom prst="rect">
            <a:avLst/>
          </a:prstGeom>
          <a:noFill/>
          <a:ln/>
        </p:spPr>
        <p:txBody>
          <a:bodyPr wrap="square" rtlCol="0" anchor="ctr"/>
          <a:lstStyle/>
          <a:p>
            <a:pPr marL="0" indent="0">
              <a:lnSpc>
                <a:spcPct val="125000"/>
              </a:lnSpc>
              <a:buNone/>
            </a:pPr>
            <a:r>
              <a:rPr lang="en-US" sz="1150" dirty="0">
                <a:solidFill>
                  <a:srgbClr val="5D6B7A"/>
                </a:solidFill>
                <a:latin typeface="Calibri" pitchFamily="34" charset="0"/>
                <a:ea typeface="Calibri" pitchFamily="34" charset="-122"/>
                <a:cs typeface="Calibri" pitchFamily="34" charset="-120"/>
              </a:rPr>
              <a:t>Trello board webhooks, workflow lists, owner-assignment logs, SLA thresholds, historical velocity data.</a:t>
            </a:r>
            <a:endParaRPr lang="en-US" sz="1150" dirty="0"/>
          </a:p>
        </p:txBody>
      </p:sp>
      <p:sp>
        <p:nvSpPr>
          <p:cNvPr id="11" name="Text 9"/>
          <p:cNvSpPr/>
          <p:nvPr/>
        </p:nvSpPr>
        <p:spPr>
          <a:xfrm>
            <a:off x="7269480" y="1417320"/>
            <a:ext cx="4297680" cy="274320"/>
          </a:xfrm>
          <a:prstGeom prst="rect">
            <a:avLst/>
          </a:prstGeom>
          <a:noFill/>
          <a:ln/>
        </p:spPr>
        <p:txBody>
          <a:bodyPr wrap="square" rtlCol="0" anchor="ctr"/>
          <a:lstStyle/>
          <a:p>
            <a:pPr marL="0" indent="0">
              <a:buNone/>
            </a:pPr>
            <a:r>
              <a:rPr lang="en-US" sz="1200" b="1" kern="0" spc="100" dirty="0">
                <a:solidFill>
                  <a:srgbClr val="D98E2B"/>
                </a:solidFill>
                <a:latin typeface="Calibri" pitchFamily="34" charset="0"/>
                <a:ea typeface="Calibri" pitchFamily="34" charset="-122"/>
                <a:cs typeface="Calibri" pitchFamily="34" charset="-120"/>
              </a:rPr>
              <a:t>5 SUCCESS METRICS</a:t>
            </a:r>
            <a:endParaRPr lang="en-US" sz="1200" dirty="0"/>
          </a:p>
        </p:txBody>
      </p:sp>
      <p:sp>
        <p:nvSpPr>
          <p:cNvPr id="12" name="Shape 10"/>
          <p:cNvSpPr/>
          <p:nvPr/>
        </p:nvSpPr>
        <p:spPr>
          <a:xfrm>
            <a:off x="7269480" y="1828800"/>
            <a:ext cx="4297680" cy="713232"/>
          </a:xfrm>
          <a:prstGeom prst="roundRect">
            <a:avLst>
              <a:gd name="adj" fmla="val 7692"/>
            </a:avLst>
          </a:prstGeom>
          <a:solidFill>
            <a:srgbClr val="F4F6F9"/>
          </a:solidFill>
          <a:ln w="12700">
            <a:solidFill>
              <a:srgbClr val="E1E6ED"/>
            </a:solidFill>
            <a:prstDash val="solid"/>
          </a:ln>
        </p:spPr>
      </p:sp>
      <p:sp>
        <p:nvSpPr>
          <p:cNvPr id="13" name="Shape 11"/>
          <p:cNvSpPr/>
          <p:nvPr/>
        </p:nvSpPr>
        <p:spPr>
          <a:xfrm>
            <a:off x="7397496" y="1956816"/>
            <a:ext cx="457200" cy="457200"/>
          </a:xfrm>
          <a:prstGeom prst="ellipse">
            <a:avLst/>
          </a:prstGeom>
          <a:solidFill>
            <a:srgbClr val="1B2F4E"/>
          </a:solidFill>
          <a:ln w="12700">
            <a:solidFill>
              <a:srgbClr val="1B2F4E"/>
            </a:solidFill>
            <a:prstDash val="solid"/>
          </a:ln>
        </p:spPr>
      </p:sp>
      <p:sp>
        <p:nvSpPr>
          <p:cNvPr id="14" name="Text 12"/>
          <p:cNvSpPr/>
          <p:nvPr/>
        </p:nvSpPr>
        <p:spPr>
          <a:xfrm>
            <a:off x="7397496" y="1956816"/>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5" name="Text 13"/>
          <p:cNvSpPr/>
          <p:nvPr/>
        </p:nvSpPr>
        <p:spPr>
          <a:xfrm>
            <a:off x="7982712" y="1828800"/>
            <a:ext cx="3429000" cy="713232"/>
          </a:xfrm>
          <a:prstGeom prst="rect">
            <a:avLst/>
          </a:prstGeom>
          <a:noFill/>
          <a:ln/>
        </p:spPr>
        <p:txBody>
          <a:bodyPr wrap="square" rtlCol="0" anchor="ctr"/>
          <a:lstStyle/>
          <a:p>
            <a:pPr marL="0" indent="0">
              <a:lnSpc>
                <a:spcPct val="110000"/>
              </a:lnSpc>
              <a:buNone/>
            </a:pPr>
            <a:r>
              <a:rPr lang="en-US" sz="1150" dirty="0">
                <a:solidFill>
                  <a:srgbClr val="1C2733"/>
                </a:solidFill>
                <a:latin typeface="Calibri" pitchFamily="34" charset="0"/>
                <a:ea typeface="Calibri" pitchFamily="34" charset="-122"/>
                <a:cs typeface="Calibri" pitchFamily="34" charset="-120"/>
              </a:rPr>
              <a:t>Trello REST API sync latency under 3 seconds</a:t>
            </a:r>
            <a:endParaRPr lang="en-US" sz="1150" dirty="0"/>
          </a:p>
        </p:txBody>
      </p:sp>
      <p:sp>
        <p:nvSpPr>
          <p:cNvPr id="16" name="Shape 14"/>
          <p:cNvSpPr/>
          <p:nvPr/>
        </p:nvSpPr>
        <p:spPr>
          <a:xfrm>
            <a:off x="7269480" y="2651760"/>
            <a:ext cx="4297680" cy="713232"/>
          </a:xfrm>
          <a:prstGeom prst="roundRect">
            <a:avLst>
              <a:gd name="adj" fmla="val 7692"/>
            </a:avLst>
          </a:prstGeom>
          <a:solidFill>
            <a:srgbClr val="FFFFFF"/>
          </a:solidFill>
          <a:ln w="12700">
            <a:solidFill>
              <a:srgbClr val="E1E6ED"/>
            </a:solidFill>
            <a:prstDash val="solid"/>
          </a:ln>
        </p:spPr>
      </p:sp>
      <p:sp>
        <p:nvSpPr>
          <p:cNvPr id="17" name="Shape 15"/>
          <p:cNvSpPr/>
          <p:nvPr/>
        </p:nvSpPr>
        <p:spPr>
          <a:xfrm>
            <a:off x="7397496" y="2779776"/>
            <a:ext cx="457200" cy="457200"/>
          </a:xfrm>
          <a:prstGeom prst="ellipse">
            <a:avLst/>
          </a:prstGeom>
          <a:solidFill>
            <a:srgbClr val="1B2F4E"/>
          </a:solidFill>
          <a:ln w="12700">
            <a:solidFill>
              <a:srgbClr val="1B2F4E"/>
            </a:solidFill>
            <a:prstDash val="solid"/>
          </a:ln>
        </p:spPr>
      </p:sp>
      <p:sp>
        <p:nvSpPr>
          <p:cNvPr id="18" name="Text 16"/>
          <p:cNvSpPr/>
          <p:nvPr/>
        </p:nvSpPr>
        <p:spPr>
          <a:xfrm>
            <a:off x="7397496" y="2779776"/>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9" name="Text 17"/>
          <p:cNvSpPr/>
          <p:nvPr/>
        </p:nvSpPr>
        <p:spPr>
          <a:xfrm>
            <a:off x="7982712" y="2651760"/>
            <a:ext cx="3429000" cy="713232"/>
          </a:xfrm>
          <a:prstGeom prst="rect">
            <a:avLst/>
          </a:prstGeom>
          <a:noFill/>
          <a:ln/>
        </p:spPr>
        <p:txBody>
          <a:bodyPr wrap="square" rtlCol="0" anchor="ctr"/>
          <a:lstStyle/>
          <a:p>
            <a:pPr marL="0" indent="0">
              <a:lnSpc>
                <a:spcPct val="110000"/>
              </a:lnSpc>
              <a:buNone/>
            </a:pPr>
            <a:r>
              <a:rPr lang="en-US" sz="1150" dirty="0">
                <a:solidFill>
                  <a:srgbClr val="1C2733"/>
                </a:solidFill>
                <a:latin typeface="Calibri" pitchFamily="34" charset="0"/>
                <a:ea typeface="Calibri" pitchFamily="34" charset="-122"/>
                <a:cs typeface="Calibri" pitchFamily="34" charset="-120"/>
              </a:rPr>
              <a:t>100% board parity in status report generation</a:t>
            </a:r>
            <a:endParaRPr lang="en-US" sz="1150" dirty="0"/>
          </a:p>
        </p:txBody>
      </p:sp>
      <p:sp>
        <p:nvSpPr>
          <p:cNvPr id="20" name="Shape 18"/>
          <p:cNvSpPr/>
          <p:nvPr/>
        </p:nvSpPr>
        <p:spPr>
          <a:xfrm>
            <a:off x="7269480" y="3474720"/>
            <a:ext cx="4297680" cy="713232"/>
          </a:xfrm>
          <a:prstGeom prst="roundRect">
            <a:avLst>
              <a:gd name="adj" fmla="val 7692"/>
            </a:avLst>
          </a:prstGeom>
          <a:solidFill>
            <a:srgbClr val="F4F6F9"/>
          </a:solidFill>
          <a:ln w="12700">
            <a:solidFill>
              <a:srgbClr val="E1E6ED"/>
            </a:solidFill>
            <a:prstDash val="solid"/>
          </a:ln>
        </p:spPr>
      </p:sp>
      <p:sp>
        <p:nvSpPr>
          <p:cNvPr id="21" name="Shape 19"/>
          <p:cNvSpPr/>
          <p:nvPr/>
        </p:nvSpPr>
        <p:spPr>
          <a:xfrm>
            <a:off x="7397496" y="3602736"/>
            <a:ext cx="457200" cy="457200"/>
          </a:xfrm>
          <a:prstGeom prst="ellipse">
            <a:avLst/>
          </a:prstGeom>
          <a:solidFill>
            <a:srgbClr val="1B2F4E"/>
          </a:solidFill>
          <a:ln w="12700">
            <a:solidFill>
              <a:srgbClr val="1B2F4E"/>
            </a:solidFill>
            <a:prstDash val="solid"/>
          </a:ln>
        </p:spPr>
      </p:sp>
      <p:sp>
        <p:nvSpPr>
          <p:cNvPr id="22" name="Text 20"/>
          <p:cNvSpPr/>
          <p:nvPr/>
        </p:nvSpPr>
        <p:spPr>
          <a:xfrm>
            <a:off x="7397496" y="3602736"/>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3" name="Text 21"/>
          <p:cNvSpPr/>
          <p:nvPr/>
        </p:nvSpPr>
        <p:spPr>
          <a:xfrm>
            <a:off x="7982712" y="3474720"/>
            <a:ext cx="3429000" cy="713232"/>
          </a:xfrm>
          <a:prstGeom prst="rect">
            <a:avLst/>
          </a:prstGeom>
          <a:noFill/>
          <a:ln/>
        </p:spPr>
        <p:txBody>
          <a:bodyPr wrap="square" rtlCol="0" anchor="ctr"/>
          <a:lstStyle/>
          <a:p>
            <a:pPr marL="0" indent="0">
              <a:lnSpc>
                <a:spcPct val="110000"/>
              </a:lnSpc>
              <a:buNone/>
            </a:pPr>
            <a:r>
              <a:rPr lang="en-US" sz="1150" dirty="0">
                <a:solidFill>
                  <a:srgbClr val="1C2733"/>
                </a:solidFill>
                <a:latin typeface="Calibri" pitchFamily="34" charset="0"/>
                <a:ea typeface="Calibri" pitchFamily="34" charset="-122"/>
                <a:cs typeface="Calibri" pitchFamily="34" charset="-120"/>
              </a:rPr>
              <a:t>Immediate blocked-card escalation</a:t>
            </a:r>
            <a:endParaRPr lang="en-US" sz="1150" dirty="0"/>
          </a:p>
        </p:txBody>
      </p:sp>
      <p:sp>
        <p:nvSpPr>
          <p:cNvPr id="24" name="Shape 22"/>
          <p:cNvSpPr/>
          <p:nvPr/>
        </p:nvSpPr>
        <p:spPr>
          <a:xfrm>
            <a:off x="7269480" y="4297680"/>
            <a:ext cx="4297680" cy="713232"/>
          </a:xfrm>
          <a:prstGeom prst="roundRect">
            <a:avLst>
              <a:gd name="adj" fmla="val 7692"/>
            </a:avLst>
          </a:prstGeom>
          <a:solidFill>
            <a:srgbClr val="FFFFFF"/>
          </a:solidFill>
          <a:ln w="12700">
            <a:solidFill>
              <a:srgbClr val="E1E6ED"/>
            </a:solidFill>
            <a:prstDash val="solid"/>
          </a:ln>
        </p:spPr>
      </p:sp>
      <p:sp>
        <p:nvSpPr>
          <p:cNvPr id="25" name="Shape 23"/>
          <p:cNvSpPr/>
          <p:nvPr/>
        </p:nvSpPr>
        <p:spPr>
          <a:xfrm>
            <a:off x="7397496" y="4425696"/>
            <a:ext cx="457200" cy="457200"/>
          </a:xfrm>
          <a:prstGeom prst="ellipse">
            <a:avLst/>
          </a:prstGeom>
          <a:solidFill>
            <a:srgbClr val="1B2F4E"/>
          </a:solidFill>
          <a:ln w="12700">
            <a:solidFill>
              <a:srgbClr val="1B2F4E"/>
            </a:solidFill>
            <a:prstDash val="solid"/>
          </a:ln>
        </p:spPr>
      </p:sp>
      <p:sp>
        <p:nvSpPr>
          <p:cNvPr id="26" name="Text 24"/>
          <p:cNvSpPr/>
          <p:nvPr/>
        </p:nvSpPr>
        <p:spPr>
          <a:xfrm>
            <a:off x="7397496" y="4425696"/>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7" name="Text 25"/>
          <p:cNvSpPr/>
          <p:nvPr/>
        </p:nvSpPr>
        <p:spPr>
          <a:xfrm>
            <a:off x="7982712" y="4297680"/>
            <a:ext cx="3429000" cy="713232"/>
          </a:xfrm>
          <a:prstGeom prst="rect">
            <a:avLst/>
          </a:prstGeom>
          <a:noFill/>
          <a:ln/>
        </p:spPr>
        <p:txBody>
          <a:bodyPr wrap="square" rtlCol="0" anchor="ctr"/>
          <a:lstStyle/>
          <a:p>
            <a:pPr marL="0" indent="0">
              <a:lnSpc>
                <a:spcPct val="110000"/>
              </a:lnSpc>
              <a:buNone/>
            </a:pPr>
            <a:r>
              <a:rPr lang="en-US" sz="1150" dirty="0">
                <a:solidFill>
                  <a:srgbClr val="1C2733"/>
                </a:solidFill>
                <a:latin typeface="Calibri" pitchFamily="34" charset="0"/>
                <a:ea typeface="Calibri" pitchFamily="34" charset="-122"/>
                <a:cs typeface="Calibri" pitchFamily="34" charset="-120"/>
              </a:rPr>
              <a:t>Zero manual PM copy-paste overhead</a:t>
            </a:r>
            <a:endParaRPr lang="en-US" sz="1150" dirty="0"/>
          </a:p>
        </p:txBody>
      </p:sp>
      <p:sp>
        <p:nvSpPr>
          <p:cNvPr id="28" name="Shape 26"/>
          <p:cNvSpPr/>
          <p:nvPr/>
        </p:nvSpPr>
        <p:spPr>
          <a:xfrm>
            <a:off x="7269480" y="5120640"/>
            <a:ext cx="4297680" cy="713232"/>
          </a:xfrm>
          <a:prstGeom prst="roundRect">
            <a:avLst>
              <a:gd name="adj" fmla="val 7692"/>
            </a:avLst>
          </a:prstGeom>
          <a:solidFill>
            <a:srgbClr val="F4F6F9"/>
          </a:solidFill>
          <a:ln w="12700">
            <a:solidFill>
              <a:srgbClr val="E1E6ED"/>
            </a:solidFill>
            <a:prstDash val="solid"/>
          </a:ln>
        </p:spPr>
      </p:sp>
      <p:sp>
        <p:nvSpPr>
          <p:cNvPr id="29" name="Shape 27"/>
          <p:cNvSpPr/>
          <p:nvPr/>
        </p:nvSpPr>
        <p:spPr>
          <a:xfrm>
            <a:off x="7397496" y="5248656"/>
            <a:ext cx="457200" cy="457200"/>
          </a:xfrm>
          <a:prstGeom prst="ellipse">
            <a:avLst/>
          </a:prstGeom>
          <a:solidFill>
            <a:srgbClr val="1B2F4E"/>
          </a:solidFill>
          <a:ln w="12700">
            <a:solidFill>
              <a:srgbClr val="1B2F4E"/>
            </a:solidFill>
            <a:prstDash val="solid"/>
          </a:ln>
        </p:spPr>
      </p:sp>
      <p:sp>
        <p:nvSpPr>
          <p:cNvPr id="30" name="Text 28"/>
          <p:cNvSpPr/>
          <p:nvPr/>
        </p:nvSpPr>
        <p:spPr>
          <a:xfrm>
            <a:off x="7397496" y="5248656"/>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31" name="Text 29"/>
          <p:cNvSpPr/>
          <p:nvPr/>
        </p:nvSpPr>
        <p:spPr>
          <a:xfrm>
            <a:off x="7982712" y="5120640"/>
            <a:ext cx="3429000" cy="713232"/>
          </a:xfrm>
          <a:prstGeom prst="rect">
            <a:avLst/>
          </a:prstGeom>
          <a:noFill/>
          <a:ln/>
        </p:spPr>
        <p:txBody>
          <a:bodyPr wrap="square" rtlCol="0" anchor="ctr"/>
          <a:lstStyle/>
          <a:p>
            <a:pPr marL="0" indent="0">
              <a:lnSpc>
                <a:spcPct val="110000"/>
              </a:lnSpc>
              <a:buNone/>
            </a:pPr>
            <a:r>
              <a:rPr lang="en-US" sz="1150" dirty="0">
                <a:solidFill>
                  <a:srgbClr val="1C2733"/>
                </a:solidFill>
                <a:latin typeface="Calibri" pitchFamily="34" charset="0"/>
                <a:ea typeface="Calibri" pitchFamily="34" charset="-122"/>
                <a:cs typeface="Calibri" pitchFamily="34" charset="-120"/>
              </a:rPr>
              <a:t>Stakeholder on-time delivery above 98%</a:t>
            </a:r>
            <a:endParaRPr lang="en-US" sz="1150" dirty="0"/>
          </a:p>
        </p:txBody>
      </p:sp>
      <p:sp>
        <p:nvSpPr>
          <p:cNvPr id="32" name="Text 30"/>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MIRA — Multi-Agent PMO Orchestrator</a:t>
            </a:r>
            <a:endParaRPr lang="en-US" sz="900" dirty="0"/>
          </a:p>
        </p:txBody>
      </p:sp>
      <p:sp>
        <p:nvSpPr>
          <p:cNvPr id="33" name="Text 31"/>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D6B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3C15463-A1D5-4BF5-0E8F-68022C64ABC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7BCB561-BFFD-4C65-F294-7B3A2B723CBF}"/>
              </a:ext>
            </a:extLst>
          </p:cNvPr>
          <p:cNvSpPr/>
          <p:nvPr/>
        </p:nvSpPr>
        <p:spPr>
          <a:xfrm>
            <a:off x="640080" y="384048"/>
            <a:ext cx="7315200" cy="292608"/>
          </a:xfrm>
          <a:prstGeom prst="rect">
            <a:avLst/>
          </a:prstGeom>
          <a:noFill/>
          <a:ln/>
        </p:spPr>
        <p:txBody>
          <a:bodyPr wrap="square" rtlCol="0" anchor="ctr"/>
          <a:lstStyle/>
          <a:p>
            <a:pPr marL="0" indent="0" algn="l">
              <a:buNone/>
            </a:pPr>
            <a:r>
              <a:rPr lang="en-US" sz="1250" b="1" kern="0" spc="200" dirty="0">
                <a:solidFill>
                  <a:srgbClr val="3E6B8A"/>
                </a:solidFill>
                <a:latin typeface="Calibri" pitchFamily="34" charset="0"/>
                <a:ea typeface="Calibri" pitchFamily="34" charset="-122"/>
                <a:cs typeface="Calibri" pitchFamily="34" charset="-120"/>
              </a:rPr>
              <a:t>USE CASE 02</a:t>
            </a:r>
            <a:endParaRPr lang="en-US" sz="1250" dirty="0"/>
          </a:p>
        </p:txBody>
      </p:sp>
      <p:sp>
        <p:nvSpPr>
          <p:cNvPr id="3" name="Text 1">
            <a:extLst>
              <a:ext uri="{FF2B5EF4-FFF2-40B4-BE49-F238E27FC236}">
                <a16:creationId xmlns:a16="http://schemas.microsoft.com/office/drawing/2014/main" id="{8478DBEC-F6CE-EE2E-8D1B-4B2CDE17655F}"/>
              </a:ext>
            </a:extLst>
          </p:cNvPr>
          <p:cNvSpPr/>
          <p:nvPr/>
        </p:nvSpPr>
        <p:spPr>
          <a:xfrm>
            <a:off x="3632296" y="8422"/>
            <a:ext cx="10607040" cy="658368"/>
          </a:xfrm>
          <a:prstGeom prst="rect">
            <a:avLst/>
          </a:prstGeom>
          <a:noFill/>
          <a:ln/>
        </p:spPr>
        <p:txBody>
          <a:bodyPr wrap="square" rtlCol="0" anchor="ctr"/>
          <a:lstStyle/>
          <a:p>
            <a:pPr marL="0" indent="0" algn="l">
              <a:buNone/>
            </a:pPr>
            <a:r>
              <a:rPr lang="en-US" sz="3200" b="1" dirty="0">
                <a:solidFill>
                  <a:srgbClr val="1B2F4E"/>
                </a:solidFill>
                <a:latin typeface="Cambria" pitchFamily="34" charset="0"/>
                <a:ea typeface="Cambria" pitchFamily="34" charset="-122"/>
              </a:rPr>
              <a:t>KANBAN Sync Flow Chart</a:t>
            </a:r>
            <a:endParaRPr lang="en-US" sz="3200" dirty="0"/>
          </a:p>
        </p:txBody>
      </p:sp>
      <p:sp>
        <p:nvSpPr>
          <p:cNvPr id="32" name="Text 30">
            <a:extLst>
              <a:ext uri="{FF2B5EF4-FFF2-40B4-BE49-F238E27FC236}">
                <a16:creationId xmlns:a16="http://schemas.microsoft.com/office/drawing/2014/main" id="{FC0AB3A2-4705-E5EF-E680-BB0E8B7238A4}"/>
              </a:ext>
            </a:extLst>
          </p:cNvPr>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MIRA — Multi-Agent PMO Orchestrator</a:t>
            </a:r>
            <a:endParaRPr lang="en-US" sz="900" dirty="0"/>
          </a:p>
        </p:txBody>
      </p:sp>
      <p:sp>
        <p:nvSpPr>
          <p:cNvPr id="33" name="Text 31">
            <a:extLst>
              <a:ext uri="{FF2B5EF4-FFF2-40B4-BE49-F238E27FC236}">
                <a16:creationId xmlns:a16="http://schemas.microsoft.com/office/drawing/2014/main" id="{34894B17-FC73-F6DC-FB74-5ECE7EE21C43}"/>
              </a:ext>
            </a:extLst>
          </p:cNvPr>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D6B7A"/>
                </a:solidFill>
                <a:latin typeface="Calibri" pitchFamily="34" charset="0"/>
                <a:ea typeface="Calibri" pitchFamily="34" charset="-122"/>
                <a:cs typeface="Calibri" pitchFamily="34" charset="-120"/>
              </a:rPr>
              <a:t>10</a:t>
            </a:r>
            <a:endParaRPr lang="en-US" sz="900" dirty="0"/>
          </a:p>
        </p:txBody>
      </p:sp>
      <p:pic>
        <p:nvPicPr>
          <p:cNvPr id="34" name="Picture 33">
            <a:extLst>
              <a:ext uri="{FF2B5EF4-FFF2-40B4-BE49-F238E27FC236}">
                <a16:creationId xmlns:a16="http://schemas.microsoft.com/office/drawing/2014/main" id="{94E18B93-146B-13EC-5C97-1CA71F293E3F}"/>
              </a:ext>
            </a:extLst>
          </p:cNvPr>
          <p:cNvPicPr>
            <a:picLocks noChangeAspect="1"/>
          </p:cNvPicPr>
          <p:nvPr/>
        </p:nvPicPr>
        <p:blipFill>
          <a:blip r:embed="rId3"/>
          <a:srcRect/>
          <a:stretch>
            <a:fillRect/>
          </a:stretch>
        </p:blipFill>
        <p:spPr bwMode="auto">
          <a:xfrm>
            <a:off x="640080" y="727693"/>
            <a:ext cx="5229225" cy="5746259"/>
          </a:xfrm>
          <a:prstGeom prst="rect">
            <a:avLst/>
          </a:prstGeom>
        </p:spPr>
      </p:pic>
      <p:graphicFrame>
        <p:nvGraphicFramePr>
          <p:cNvPr id="35" name="Table 34">
            <a:extLst>
              <a:ext uri="{FF2B5EF4-FFF2-40B4-BE49-F238E27FC236}">
                <a16:creationId xmlns:a16="http://schemas.microsoft.com/office/drawing/2014/main" id="{2FC3EDBB-7EE6-9C0F-4200-CE7CA5060382}"/>
              </a:ext>
            </a:extLst>
          </p:cNvPr>
          <p:cNvGraphicFramePr>
            <a:graphicFrameLocks noGrp="1"/>
          </p:cNvGraphicFramePr>
          <p:nvPr>
            <p:extLst>
              <p:ext uri="{D42A27DB-BD31-4B8C-83A1-F6EECF244321}">
                <p14:modId xmlns:p14="http://schemas.microsoft.com/office/powerpoint/2010/main" val="4274454366"/>
              </p:ext>
            </p:extLst>
          </p:nvPr>
        </p:nvGraphicFramePr>
        <p:xfrm>
          <a:off x="6137137" y="728962"/>
          <a:ext cx="5597358" cy="5689021"/>
        </p:xfrm>
        <a:graphic>
          <a:graphicData uri="http://schemas.openxmlformats.org/drawingml/2006/table">
            <a:tbl>
              <a:tblPr firstRow="1" firstCol="1" bandRow="1"/>
              <a:tblGrid>
                <a:gridCol w="1486024">
                  <a:extLst>
                    <a:ext uri="{9D8B030D-6E8A-4147-A177-3AD203B41FA5}">
                      <a16:colId xmlns:a16="http://schemas.microsoft.com/office/drawing/2014/main" val="1095030186"/>
                    </a:ext>
                  </a:extLst>
                </a:gridCol>
                <a:gridCol w="1634627">
                  <a:extLst>
                    <a:ext uri="{9D8B030D-6E8A-4147-A177-3AD203B41FA5}">
                      <a16:colId xmlns:a16="http://schemas.microsoft.com/office/drawing/2014/main" val="2301324679"/>
                    </a:ext>
                  </a:extLst>
                </a:gridCol>
                <a:gridCol w="2476707">
                  <a:extLst>
                    <a:ext uri="{9D8B030D-6E8A-4147-A177-3AD203B41FA5}">
                      <a16:colId xmlns:a16="http://schemas.microsoft.com/office/drawing/2014/main" val="3974620884"/>
                    </a:ext>
                  </a:extLst>
                </a:gridCol>
              </a:tblGrid>
              <a:tr h="326044">
                <a:tc>
                  <a:txBody>
                    <a:bodyPr/>
                    <a:lstStyle/>
                    <a:p>
                      <a:pPr>
                        <a:buNone/>
                      </a:pPr>
                      <a:r>
                        <a:rPr lang="en-IN" sz="1000" b="1">
                          <a:solidFill>
                            <a:srgbClr val="FFFFFF"/>
                          </a:solidFill>
                          <a:effectLst/>
                          <a:latin typeface="Times New Roman" panose="02020603050405020304" pitchFamily="18" charset="0"/>
                          <a:ea typeface="Times New Roman" panose="02020603050405020304" pitchFamily="18" charset="0"/>
                        </a:rPr>
                        <a:t>Step</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C5F8A"/>
                    </a:solidFill>
                  </a:tcPr>
                </a:tc>
                <a:tc>
                  <a:txBody>
                    <a:bodyPr/>
                    <a:lstStyle/>
                    <a:p>
                      <a:pPr>
                        <a:buNone/>
                      </a:pPr>
                      <a:r>
                        <a:rPr lang="en-IN" sz="1000" b="1">
                          <a:solidFill>
                            <a:srgbClr val="FFFFFF"/>
                          </a:solidFill>
                          <a:effectLst/>
                          <a:latin typeface="Times New Roman" panose="02020603050405020304" pitchFamily="18" charset="0"/>
                          <a:ea typeface="Times New Roman" panose="02020603050405020304" pitchFamily="18" charset="0"/>
                        </a:rPr>
                        <a:t>Node / Component</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C5F8A"/>
                    </a:solidFill>
                  </a:tcPr>
                </a:tc>
                <a:tc>
                  <a:txBody>
                    <a:bodyPr/>
                    <a:lstStyle/>
                    <a:p>
                      <a:pPr>
                        <a:buNone/>
                      </a:pPr>
                      <a:r>
                        <a:rPr lang="en-IN" sz="1000" b="1">
                          <a:solidFill>
                            <a:srgbClr val="FFFFFF"/>
                          </a:solidFill>
                          <a:effectLst/>
                          <a:latin typeface="Times New Roman" panose="02020603050405020304" pitchFamily="18" charset="0"/>
                          <a:ea typeface="Times New Roman" panose="02020603050405020304" pitchFamily="18" charset="0"/>
                        </a:rPr>
                        <a:t>Function</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C5F8A"/>
                    </a:solidFill>
                  </a:tcPr>
                </a:tc>
                <a:extLst>
                  <a:ext uri="{0D108BD9-81ED-4DB2-BD59-A6C34878D82A}">
                    <a16:rowId xmlns:a16="http://schemas.microsoft.com/office/drawing/2014/main" val="3709110234"/>
                  </a:ext>
                </a:extLst>
              </a:tr>
              <a:tr h="670372">
                <a:tc>
                  <a:txBody>
                    <a:bodyPr/>
                    <a:lstStyle/>
                    <a:p>
                      <a:pPr>
                        <a:buNone/>
                      </a:pPr>
                      <a:r>
                        <a:rPr lang="en-IN" sz="900" b="1">
                          <a:solidFill>
                            <a:srgbClr val="2C5F8A"/>
                          </a:solidFill>
                          <a:effectLst/>
                          <a:latin typeface="Times New Roman" panose="02020603050405020304" pitchFamily="18" charset="0"/>
                          <a:ea typeface="Times New Roman" panose="02020603050405020304" pitchFamily="18" charset="0"/>
                        </a:rPr>
                        <a:t>1</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8FC"/>
                    </a:solidFill>
                  </a:tcPr>
                </a:tc>
                <a:tc>
                  <a:txBody>
                    <a:bodyPr/>
                    <a:lstStyle/>
                    <a:p>
                      <a:pPr>
                        <a:buNone/>
                      </a:pPr>
                      <a:r>
                        <a:rPr lang="en-IN" sz="900" b="1">
                          <a:solidFill>
                            <a:srgbClr val="000000"/>
                          </a:solidFill>
                          <a:effectLst/>
                          <a:latin typeface="Times New Roman" panose="02020603050405020304" pitchFamily="18" charset="0"/>
                          <a:ea typeface="Times New Roman" panose="02020603050405020304" pitchFamily="18" charset="0"/>
                        </a:rPr>
                        <a:t>Schedule Trigger (+ Error Trigger)</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8FC"/>
                    </a:solidFill>
                  </a:tcPr>
                </a:tc>
                <a:tc>
                  <a:txBody>
                    <a:bodyPr/>
                    <a:lstStyle/>
                    <a:p>
                      <a:pPr>
                        <a:buNone/>
                      </a:pPr>
                      <a:r>
                        <a:rPr lang="en-IN" sz="900">
                          <a:solidFill>
                            <a:srgbClr val="000000"/>
                          </a:solidFill>
                          <a:effectLst/>
                          <a:latin typeface="Times New Roman" panose="02020603050405020304" pitchFamily="18" charset="0"/>
                          <a:ea typeface="Times New Roman" panose="02020603050405020304" pitchFamily="18" charset="0"/>
                        </a:rPr>
                        <a:t>Runs automatically on a weekly cadence with no manual kickoff; the parallel Error Trigger node captures and alerts on any run failure.</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8FC"/>
                    </a:solidFill>
                  </a:tcPr>
                </a:tc>
                <a:extLst>
                  <a:ext uri="{0D108BD9-81ED-4DB2-BD59-A6C34878D82A}">
                    <a16:rowId xmlns:a16="http://schemas.microsoft.com/office/drawing/2014/main" val="1530693563"/>
                  </a:ext>
                </a:extLst>
              </a:tr>
              <a:tr h="489277">
                <a:tc>
                  <a:txBody>
                    <a:bodyPr/>
                    <a:lstStyle/>
                    <a:p>
                      <a:pPr>
                        <a:buNone/>
                      </a:pPr>
                      <a:r>
                        <a:rPr lang="en-IN" sz="900" b="1">
                          <a:solidFill>
                            <a:srgbClr val="2C5F8A"/>
                          </a:solidFill>
                          <a:effectLst/>
                          <a:latin typeface="Times New Roman" panose="02020603050405020304" pitchFamily="18" charset="0"/>
                          <a:ea typeface="Times New Roman" panose="02020603050405020304" pitchFamily="18" charset="0"/>
                        </a:rPr>
                        <a:t>2</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buNone/>
                      </a:pPr>
                      <a:r>
                        <a:rPr lang="en-IN" sz="900" b="1">
                          <a:solidFill>
                            <a:srgbClr val="000000"/>
                          </a:solidFill>
                          <a:effectLst/>
                          <a:latin typeface="Times New Roman" panose="02020603050405020304" pitchFamily="18" charset="0"/>
                          <a:ea typeface="Times New Roman" panose="02020603050405020304" pitchFamily="18" charset="0"/>
                        </a:rPr>
                        <a:t>Trello KANBAN Card Extractor</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buNone/>
                      </a:pPr>
                      <a:r>
                        <a:rPr lang="en-IN" sz="900">
                          <a:solidFill>
                            <a:srgbClr val="000000"/>
                          </a:solidFill>
                          <a:effectLst/>
                          <a:latin typeface="Times New Roman" panose="02020603050405020304" pitchFamily="18" charset="0"/>
                          <a:ea typeface="Times New Roman" panose="02020603050405020304" pitchFamily="18" charset="0"/>
                        </a:rPr>
                        <a:t>GET boards/{id}/cards against the Trello REST API pulls the live state of every card on the board.</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37436004"/>
                  </a:ext>
                </a:extLst>
              </a:tr>
              <a:tr h="670372">
                <a:tc>
                  <a:txBody>
                    <a:bodyPr/>
                    <a:lstStyle/>
                    <a:p>
                      <a:pPr>
                        <a:buNone/>
                      </a:pPr>
                      <a:r>
                        <a:rPr lang="en-IN" sz="900" b="1">
                          <a:solidFill>
                            <a:srgbClr val="2C5F8A"/>
                          </a:solidFill>
                          <a:effectLst/>
                          <a:latin typeface="Times New Roman" panose="02020603050405020304" pitchFamily="18" charset="0"/>
                          <a:ea typeface="Times New Roman" panose="02020603050405020304" pitchFamily="18" charset="0"/>
                        </a:rPr>
                        <a:t>3</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8FC"/>
                    </a:solidFill>
                  </a:tcPr>
                </a:tc>
                <a:tc>
                  <a:txBody>
                    <a:bodyPr/>
                    <a:lstStyle/>
                    <a:p>
                      <a:pPr>
                        <a:buNone/>
                      </a:pPr>
                      <a:r>
                        <a:rPr lang="en-IN" sz="900" b="1">
                          <a:solidFill>
                            <a:srgbClr val="000000"/>
                          </a:solidFill>
                          <a:effectLst/>
                          <a:latin typeface="Times New Roman" panose="02020603050405020304" pitchFamily="18" charset="0"/>
                          <a:ea typeface="Times New Roman" panose="02020603050405020304" pitchFamily="18" charset="0"/>
                        </a:rPr>
                        <a:t>Trello Lists Fetch</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8FC"/>
                    </a:solidFill>
                  </a:tcPr>
                </a:tc>
                <a:tc>
                  <a:txBody>
                    <a:bodyPr/>
                    <a:lstStyle/>
                    <a:p>
                      <a:pPr>
                        <a:buNone/>
                      </a:pPr>
                      <a:r>
                        <a:rPr lang="en-IN" sz="900">
                          <a:solidFill>
                            <a:srgbClr val="000000"/>
                          </a:solidFill>
                          <a:effectLst/>
                          <a:latin typeface="Times New Roman" panose="02020603050405020304" pitchFamily="18" charset="0"/>
                          <a:ea typeface="Times New Roman" panose="02020603050405020304" pitchFamily="18" charset="0"/>
                        </a:rPr>
                        <a:t>GET lists retrieves the board's canonical status columns (To Do / In Progress / Done / Blocked) used to bucket cards accurately.</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8FC"/>
                    </a:solidFill>
                  </a:tcPr>
                </a:tc>
                <a:extLst>
                  <a:ext uri="{0D108BD9-81ED-4DB2-BD59-A6C34878D82A}">
                    <a16:rowId xmlns:a16="http://schemas.microsoft.com/office/drawing/2014/main" val="736774389"/>
                  </a:ext>
                </a:extLst>
              </a:tr>
              <a:tr h="851468">
                <a:tc>
                  <a:txBody>
                    <a:bodyPr/>
                    <a:lstStyle/>
                    <a:p>
                      <a:pPr>
                        <a:buNone/>
                      </a:pPr>
                      <a:r>
                        <a:rPr lang="en-IN" sz="900" b="1">
                          <a:solidFill>
                            <a:srgbClr val="2C5F8A"/>
                          </a:solidFill>
                          <a:effectLst/>
                          <a:latin typeface="Times New Roman" panose="02020603050405020304" pitchFamily="18" charset="0"/>
                          <a:ea typeface="Times New Roman" panose="02020603050405020304" pitchFamily="18" charset="0"/>
                        </a:rPr>
                        <a:t>4</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buNone/>
                      </a:pPr>
                      <a:r>
                        <a:rPr lang="en-IN" sz="900" b="1">
                          <a:solidFill>
                            <a:srgbClr val="000000"/>
                          </a:solidFill>
                          <a:effectLst/>
                          <a:latin typeface="Times New Roman" panose="02020603050405020304" pitchFamily="18" charset="0"/>
                          <a:ea typeface="Times New Roman" panose="02020603050405020304" pitchFamily="18" charset="0"/>
                        </a:rPr>
                        <a:t>KANBAN Aggregate Node</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buNone/>
                      </a:pPr>
                      <a:r>
                        <a:rPr lang="en-IN" sz="900">
                          <a:solidFill>
                            <a:srgbClr val="000000"/>
                          </a:solidFill>
                          <a:effectLst/>
                          <a:latin typeface="Times New Roman" panose="02020603050405020304" pitchFamily="18" charset="0"/>
                          <a:ea typeface="Times New Roman" panose="02020603050405020304" pitchFamily="18" charset="0"/>
                        </a:rPr>
                        <a:t>Normalizes cards by listName, flags overdue/blocked items, and sanitizes the listName field via a JS Code node (fix for the earlier report-inaccuracy bug).</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57440957"/>
                  </a:ext>
                </a:extLst>
              </a:tr>
              <a:tr h="670372">
                <a:tc>
                  <a:txBody>
                    <a:bodyPr/>
                    <a:lstStyle/>
                    <a:p>
                      <a:pPr>
                        <a:buNone/>
                      </a:pPr>
                      <a:r>
                        <a:rPr lang="en-IN" sz="900" b="1">
                          <a:solidFill>
                            <a:srgbClr val="2C5F8A"/>
                          </a:solidFill>
                          <a:effectLst/>
                          <a:latin typeface="Times New Roman" panose="02020603050405020304" pitchFamily="18" charset="0"/>
                          <a:ea typeface="Times New Roman" panose="02020603050405020304" pitchFamily="18" charset="0"/>
                        </a:rPr>
                        <a:t>5</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8FC"/>
                    </a:solidFill>
                  </a:tcPr>
                </a:tc>
                <a:tc>
                  <a:txBody>
                    <a:bodyPr/>
                    <a:lstStyle/>
                    <a:p>
                      <a:pPr>
                        <a:buNone/>
                      </a:pPr>
                      <a:r>
                        <a:rPr lang="en-IN" sz="900" b="1">
                          <a:solidFill>
                            <a:srgbClr val="000000"/>
                          </a:solidFill>
                          <a:effectLst/>
                          <a:latin typeface="Times New Roman" panose="02020603050405020304" pitchFamily="18" charset="0"/>
                          <a:ea typeface="Times New Roman" panose="02020603050405020304" pitchFamily="18" charset="0"/>
                        </a:rPr>
                        <a:t>AI Agent — Mira Weekly Reporting</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8FC"/>
                    </a:solidFill>
                  </a:tcPr>
                </a:tc>
                <a:tc>
                  <a:txBody>
                    <a:bodyPr/>
                    <a:lstStyle/>
                    <a:p>
                      <a:pPr>
                        <a:buNone/>
                      </a:pPr>
                      <a:r>
                        <a:rPr lang="en-IN" sz="900">
                          <a:solidFill>
                            <a:srgbClr val="000000"/>
                          </a:solidFill>
                          <a:effectLst/>
                          <a:latin typeface="Times New Roman" panose="02020603050405020304" pitchFamily="18" charset="0"/>
                          <a:ea typeface="Times New Roman" panose="02020603050405020304" pitchFamily="18" charset="0"/>
                        </a:rPr>
                        <a:t>Isolated OpenAI Chat Model node synthesizes board metrics into a plain-English progress, risk, and next-steps narrative.</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8FC"/>
                    </a:solidFill>
                  </a:tcPr>
                </a:tc>
                <a:extLst>
                  <a:ext uri="{0D108BD9-81ED-4DB2-BD59-A6C34878D82A}">
                    <a16:rowId xmlns:a16="http://schemas.microsoft.com/office/drawing/2014/main" val="1967861671"/>
                  </a:ext>
                </a:extLst>
              </a:tr>
              <a:tr h="670372">
                <a:tc>
                  <a:txBody>
                    <a:bodyPr/>
                    <a:lstStyle/>
                    <a:p>
                      <a:pPr>
                        <a:buNone/>
                      </a:pPr>
                      <a:r>
                        <a:rPr lang="en-IN" sz="900" b="1">
                          <a:solidFill>
                            <a:srgbClr val="2C5F8A"/>
                          </a:solidFill>
                          <a:effectLst/>
                          <a:latin typeface="Times New Roman" panose="02020603050405020304" pitchFamily="18" charset="0"/>
                          <a:ea typeface="Times New Roman" panose="02020603050405020304" pitchFamily="18" charset="0"/>
                        </a:rPr>
                        <a:t>6</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buNone/>
                      </a:pPr>
                      <a:r>
                        <a:rPr lang="en-IN" sz="900" b="1">
                          <a:solidFill>
                            <a:srgbClr val="000000"/>
                          </a:solidFill>
                          <a:effectLst/>
                          <a:latin typeface="Times New Roman" panose="02020603050405020304" pitchFamily="18" charset="0"/>
                          <a:ea typeface="Times New Roman" panose="02020603050405020304" pitchFamily="18" charset="0"/>
                        </a:rPr>
                        <a:t>Self-Check</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buNone/>
                      </a:pPr>
                      <a:r>
                        <a:rPr lang="en-IN" sz="900">
                          <a:solidFill>
                            <a:srgbClr val="000000"/>
                          </a:solidFill>
                          <a:effectLst/>
                          <a:latin typeface="Times New Roman" panose="02020603050405020304" pitchFamily="18" charset="0"/>
                          <a:ea typeface="Times New Roman" panose="02020603050405020304" pitchFamily="18" charset="0"/>
                        </a:rPr>
                        <a:t>Validates 100% board parity and confirms no tasks were invented before the report leaves the agent.</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25208346"/>
                  </a:ext>
                </a:extLst>
              </a:tr>
              <a:tr h="670372">
                <a:tc>
                  <a:txBody>
                    <a:bodyPr/>
                    <a:lstStyle/>
                    <a:p>
                      <a:pPr>
                        <a:buNone/>
                      </a:pPr>
                      <a:r>
                        <a:rPr lang="en-IN" sz="900" b="1">
                          <a:solidFill>
                            <a:srgbClr val="2C5F8A"/>
                          </a:solidFill>
                          <a:effectLst/>
                          <a:latin typeface="Times New Roman" panose="02020603050405020304" pitchFamily="18" charset="0"/>
                          <a:ea typeface="Times New Roman" panose="02020603050405020304" pitchFamily="18" charset="0"/>
                        </a:rPr>
                        <a:t>7</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8FC"/>
                    </a:solidFill>
                  </a:tcPr>
                </a:tc>
                <a:tc>
                  <a:txBody>
                    <a:bodyPr/>
                    <a:lstStyle/>
                    <a:p>
                      <a:pPr>
                        <a:buNone/>
                      </a:pPr>
                      <a:r>
                        <a:rPr lang="en-IN" sz="900" b="1">
                          <a:solidFill>
                            <a:srgbClr val="000000"/>
                          </a:solidFill>
                          <a:effectLst/>
                          <a:latin typeface="Times New Roman" panose="02020603050405020304" pitchFamily="18" charset="0"/>
                          <a:ea typeface="Times New Roman" panose="02020603050405020304" pitchFamily="18" charset="0"/>
                        </a:rPr>
                        <a:t>HTML Formatter Node</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8FC"/>
                    </a:solidFill>
                  </a:tcPr>
                </a:tc>
                <a:tc>
                  <a:txBody>
                    <a:bodyPr/>
                    <a:lstStyle/>
                    <a:p>
                      <a:pPr>
                        <a:buNone/>
                      </a:pPr>
                      <a:r>
                        <a:rPr lang="en-IN" sz="900">
                          <a:solidFill>
                            <a:srgbClr val="000000"/>
                          </a:solidFill>
                          <a:effectLst/>
                          <a:latin typeface="Times New Roman" panose="02020603050405020304" pitchFamily="18" charset="0"/>
                          <a:ea typeface="Times New Roman" panose="02020603050405020304" pitchFamily="18" charset="0"/>
                        </a:rPr>
                        <a:t>Builds the final executive-ready HTML report with inline styles for consistent rendering across email clients.</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8FC"/>
                    </a:solidFill>
                  </a:tcPr>
                </a:tc>
                <a:extLst>
                  <a:ext uri="{0D108BD9-81ED-4DB2-BD59-A6C34878D82A}">
                    <a16:rowId xmlns:a16="http://schemas.microsoft.com/office/drawing/2014/main" val="260641381"/>
                  </a:ext>
                </a:extLst>
              </a:tr>
              <a:tr h="670372">
                <a:tc>
                  <a:txBody>
                    <a:bodyPr/>
                    <a:lstStyle/>
                    <a:p>
                      <a:pPr>
                        <a:buNone/>
                      </a:pPr>
                      <a:r>
                        <a:rPr lang="en-IN" sz="900" b="1">
                          <a:solidFill>
                            <a:srgbClr val="2C5F8A"/>
                          </a:solidFill>
                          <a:effectLst/>
                          <a:latin typeface="Times New Roman" panose="02020603050405020304" pitchFamily="18" charset="0"/>
                          <a:ea typeface="Times New Roman" panose="02020603050405020304" pitchFamily="18" charset="0"/>
                        </a:rPr>
                        <a:t>8</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buNone/>
                      </a:pPr>
                      <a:r>
                        <a:rPr lang="en-IN" sz="900" b="1">
                          <a:solidFill>
                            <a:srgbClr val="000000"/>
                          </a:solidFill>
                          <a:effectLst/>
                          <a:latin typeface="Times New Roman" panose="02020603050405020304" pitchFamily="18" charset="0"/>
                          <a:ea typeface="Times New Roman" panose="02020603050405020304" pitchFamily="18" charset="0"/>
                        </a:rPr>
                        <a:t>Send Email (Gmail)</a:t>
                      </a:r>
                      <a:endParaRPr lang="en-IN" sz="100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buNone/>
                      </a:pPr>
                      <a:r>
                        <a:rPr lang="en-IN" sz="900" dirty="0">
                          <a:solidFill>
                            <a:srgbClr val="000000"/>
                          </a:solidFill>
                          <a:effectLst/>
                          <a:latin typeface="Times New Roman" panose="02020603050405020304" pitchFamily="18" charset="0"/>
                          <a:ea typeface="Times New Roman" panose="02020603050405020304" pitchFamily="18" charset="0"/>
                        </a:rPr>
                        <a:t>Delivers the consolidated status report to leadership and client stakeholders on schedule, with zero manual copy-paste.</a:t>
                      </a:r>
                      <a:endParaRPr lang="en-IN" sz="1000" dirty="0">
                        <a:effectLst/>
                        <a:latin typeface="Times New Roman" panose="02020603050405020304" pitchFamily="18" charset="0"/>
                        <a:ea typeface="Times New Roman" panose="02020603050405020304" pitchFamily="18" charset="0"/>
                      </a:endParaRPr>
                    </a:p>
                  </a:txBody>
                  <a:tcPr marL="60841" marR="60841" marT="48673" marB="48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69029939"/>
                  </a:ext>
                </a:extLst>
              </a:tr>
            </a:tbl>
          </a:graphicData>
        </a:graphic>
      </p:graphicFrame>
    </p:spTree>
    <p:extLst>
      <p:ext uri="{BB962C8B-B14F-4D97-AF65-F5344CB8AC3E}">
        <p14:creationId xmlns:p14="http://schemas.microsoft.com/office/powerpoint/2010/main" val="3396562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1B2F4E"/>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rtlCol="0" anchor="ctr"/>
          <a:lstStyle/>
          <a:p>
            <a:pPr marL="0" indent="0" algn="l">
              <a:buNone/>
            </a:pPr>
            <a:r>
              <a:rPr lang="en-US" sz="1250" b="1" kern="0" spc="200" dirty="0">
                <a:solidFill>
                  <a:srgbClr val="D98E2B"/>
                </a:solidFill>
                <a:latin typeface="Calibri" pitchFamily="34" charset="0"/>
                <a:ea typeface="Calibri" pitchFamily="34" charset="-122"/>
                <a:cs typeface="Calibri" pitchFamily="34" charset="-120"/>
              </a:rPr>
              <a:t>SYSTEM DESIGN</a:t>
            </a:r>
            <a:endParaRPr lang="en-US" sz="1250" dirty="0"/>
          </a:p>
        </p:txBody>
      </p:sp>
      <p:sp>
        <p:nvSpPr>
          <p:cNvPr id="3" name="Text 1"/>
          <p:cNvSpPr/>
          <p:nvPr/>
        </p:nvSpPr>
        <p:spPr>
          <a:xfrm>
            <a:off x="640080" y="658368"/>
            <a:ext cx="10607040" cy="658368"/>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A Four-Layer Agentic Architecture</a:t>
            </a:r>
            <a:endParaRPr lang="en-US" sz="3200" dirty="0"/>
          </a:p>
        </p:txBody>
      </p:sp>
      <p:sp>
        <p:nvSpPr>
          <p:cNvPr id="4" name="Text 2"/>
          <p:cNvSpPr/>
          <p:nvPr/>
        </p:nvSpPr>
        <p:spPr>
          <a:xfrm>
            <a:off x="640080" y="1298448"/>
            <a:ext cx="10058400" cy="365760"/>
          </a:xfrm>
          <a:prstGeom prst="rect">
            <a:avLst/>
          </a:prstGeom>
          <a:noFill/>
          <a:ln/>
        </p:spPr>
        <p:txBody>
          <a:bodyPr wrap="square" rtlCol="0" anchor="ctr"/>
          <a:lstStyle/>
          <a:p>
            <a:pPr marL="0" indent="0">
              <a:buNone/>
            </a:pPr>
            <a:r>
              <a:rPr lang="en-US" sz="1300" dirty="0">
                <a:solidFill>
                  <a:srgbClr val="CBD9EE"/>
                </a:solidFill>
                <a:latin typeface="Calibri" pitchFamily="34" charset="0"/>
                <a:ea typeface="Calibri" pitchFamily="34" charset="-122"/>
                <a:cs typeface="Calibri" pitchFamily="34" charset="-120"/>
              </a:rPr>
              <a:t>One reasoning core, two entry points — documents on one side, live Kanban data on the other.</a:t>
            </a:r>
            <a:endParaRPr lang="en-US" sz="1300" dirty="0"/>
          </a:p>
        </p:txBody>
      </p:sp>
      <p:sp>
        <p:nvSpPr>
          <p:cNvPr id="5" name="Shape 3"/>
          <p:cNvSpPr/>
          <p:nvPr/>
        </p:nvSpPr>
        <p:spPr>
          <a:xfrm>
            <a:off x="640080" y="1965960"/>
            <a:ext cx="10881360" cy="960120"/>
          </a:xfrm>
          <a:prstGeom prst="roundRect">
            <a:avLst>
              <a:gd name="adj" fmla="val 6667"/>
            </a:avLst>
          </a:prstGeom>
          <a:solidFill>
            <a:srgbClr val="24406B"/>
          </a:solidFill>
          <a:ln/>
        </p:spPr>
      </p:sp>
      <p:sp>
        <p:nvSpPr>
          <p:cNvPr id="6" name="Text 4"/>
          <p:cNvSpPr/>
          <p:nvPr/>
        </p:nvSpPr>
        <p:spPr>
          <a:xfrm>
            <a:off x="868680" y="1965960"/>
            <a:ext cx="822960" cy="960120"/>
          </a:xfrm>
          <a:prstGeom prst="rect">
            <a:avLst/>
          </a:prstGeom>
          <a:noFill/>
          <a:ln/>
        </p:spPr>
        <p:txBody>
          <a:bodyPr wrap="square" rtlCol="0" anchor="ctr"/>
          <a:lstStyle/>
          <a:p>
            <a:pPr marL="0" indent="0">
              <a:buNone/>
            </a:pPr>
            <a:r>
              <a:rPr lang="en-US" sz="2600" b="1" dirty="0">
                <a:solidFill>
                  <a:srgbClr val="D98E2B"/>
                </a:solidFill>
                <a:latin typeface="Cambria" pitchFamily="34" charset="0"/>
                <a:ea typeface="Cambria" pitchFamily="34" charset="-122"/>
                <a:cs typeface="Cambria" pitchFamily="34" charset="-120"/>
              </a:rPr>
              <a:t>01</a:t>
            </a:r>
            <a:endParaRPr lang="en-US" sz="2600" dirty="0"/>
          </a:p>
        </p:txBody>
      </p:sp>
      <p:sp>
        <p:nvSpPr>
          <p:cNvPr id="7" name="Text 5"/>
          <p:cNvSpPr/>
          <p:nvPr/>
        </p:nvSpPr>
        <p:spPr>
          <a:xfrm>
            <a:off x="1783080" y="2075688"/>
            <a:ext cx="3931920" cy="740664"/>
          </a:xfrm>
          <a:prstGeom prst="rect">
            <a:avLst/>
          </a:prstGeom>
          <a:noFill/>
          <a:ln/>
        </p:spPr>
        <p:txBody>
          <a:bodyPr wrap="square" rtlCol="0" anchor="ctr"/>
          <a:lstStyle/>
          <a:p>
            <a:pPr marL="0" indent="0">
              <a:lnSpc>
                <a:spcPct val="105000"/>
              </a:lnSpc>
              <a:buNone/>
            </a:pPr>
            <a:r>
              <a:rPr lang="en-US" sz="1450" b="1" dirty="0">
                <a:solidFill>
                  <a:srgbClr val="FFFFFF"/>
                </a:solidFill>
                <a:latin typeface="Calibri" pitchFamily="34" charset="0"/>
                <a:ea typeface="Calibri" pitchFamily="34" charset="-122"/>
                <a:cs typeface="Calibri" pitchFamily="34" charset="-120"/>
              </a:rPr>
              <a:t>Multi-Source Ingestion</a:t>
            </a:r>
            <a:endParaRPr lang="en-US" sz="1450" dirty="0"/>
          </a:p>
        </p:txBody>
      </p:sp>
      <p:sp>
        <p:nvSpPr>
          <p:cNvPr id="8" name="Shape 6"/>
          <p:cNvSpPr/>
          <p:nvPr/>
        </p:nvSpPr>
        <p:spPr>
          <a:xfrm>
            <a:off x="5852160" y="2103120"/>
            <a:ext cx="0" cy="685800"/>
          </a:xfrm>
          <a:prstGeom prst="line">
            <a:avLst/>
          </a:prstGeom>
          <a:noFill/>
          <a:ln w="12700">
            <a:solidFill>
              <a:srgbClr val="3C5680"/>
            </a:solidFill>
            <a:prstDash val="solid"/>
          </a:ln>
        </p:spPr>
      </p:sp>
      <p:sp>
        <p:nvSpPr>
          <p:cNvPr id="9" name="Text 7"/>
          <p:cNvSpPr/>
          <p:nvPr/>
        </p:nvSpPr>
        <p:spPr>
          <a:xfrm>
            <a:off x="6080760" y="1965960"/>
            <a:ext cx="5212080" cy="960120"/>
          </a:xfrm>
          <a:prstGeom prst="rect">
            <a:avLst/>
          </a:prstGeom>
          <a:noFill/>
          <a:ln/>
        </p:spPr>
        <p:txBody>
          <a:bodyPr wrap="square" rtlCol="0" anchor="ctr"/>
          <a:lstStyle/>
          <a:p>
            <a:pPr marL="0" indent="0">
              <a:lnSpc>
                <a:spcPct val="115000"/>
              </a:lnSpc>
              <a:buNone/>
            </a:pPr>
            <a:r>
              <a:rPr lang="en-US" sz="1200" dirty="0">
                <a:solidFill>
                  <a:srgbClr val="CBD9EE"/>
                </a:solidFill>
                <a:latin typeface="Calibri" pitchFamily="34" charset="0"/>
                <a:ea typeface="Calibri" pitchFamily="34" charset="-122"/>
                <a:cs typeface="Calibri" pitchFamily="34" charset="-120"/>
              </a:rPr>
              <a:t>Google Drive API (XLSX, PDF, TXT, RTF) &amp; Trello REST API (live cards, assignees, due dates)</a:t>
            </a:r>
            <a:endParaRPr lang="en-US" sz="1200" dirty="0"/>
          </a:p>
        </p:txBody>
      </p:sp>
      <p:sp>
        <p:nvSpPr>
          <p:cNvPr id="10" name="Shape 8"/>
          <p:cNvSpPr/>
          <p:nvPr/>
        </p:nvSpPr>
        <p:spPr>
          <a:xfrm>
            <a:off x="640080" y="3063240"/>
            <a:ext cx="10881360" cy="960120"/>
          </a:xfrm>
          <a:prstGeom prst="roundRect">
            <a:avLst>
              <a:gd name="adj" fmla="val 6667"/>
            </a:avLst>
          </a:prstGeom>
          <a:solidFill>
            <a:srgbClr val="24406B"/>
          </a:solidFill>
          <a:ln/>
        </p:spPr>
      </p:sp>
      <p:sp>
        <p:nvSpPr>
          <p:cNvPr id="11" name="Text 9"/>
          <p:cNvSpPr/>
          <p:nvPr/>
        </p:nvSpPr>
        <p:spPr>
          <a:xfrm>
            <a:off x="868680" y="3063240"/>
            <a:ext cx="822960" cy="960120"/>
          </a:xfrm>
          <a:prstGeom prst="rect">
            <a:avLst/>
          </a:prstGeom>
          <a:noFill/>
          <a:ln/>
        </p:spPr>
        <p:txBody>
          <a:bodyPr wrap="square" rtlCol="0" anchor="ctr"/>
          <a:lstStyle/>
          <a:p>
            <a:pPr marL="0" indent="0">
              <a:buNone/>
            </a:pPr>
            <a:r>
              <a:rPr lang="en-US" sz="2600" b="1" dirty="0">
                <a:solidFill>
                  <a:srgbClr val="D98E2B"/>
                </a:solidFill>
                <a:latin typeface="Cambria" pitchFamily="34" charset="0"/>
                <a:ea typeface="Cambria" pitchFamily="34" charset="-122"/>
                <a:cs typeface="Cambria" pitchFamily="34" charset="-120"/>
              </a:rPr>
              <a:t>02</a:t>
            </a:r>
            <a:endParaRPr lang="en-US" sz="2600" dirty="0"/>
          </a:p>
        </p:txBody>
      </p:sp>
      <p:sp>
        <p:nvSpPr>
          <p:cNvPr id="12" name="Text 10"/>
          <p:cNvSpPr/>
          <p:nvPr/>
        </p:nvSpPr>
        <p:spPr>
          <a:xfrm>
            <a:off x="1783080" y="3172968"/>
            <a:ext cx="3931920" cy="740664"/>
          </a:xfrm>
          <a:prstGeom prst="rect">
            <a:avLst/>
          </a:prstGeom>
          <a:noFill/>
          <a:ln/>
        </p:spPr>
        <p:txBody>
          <a:bodyPr wrap="square" rtlCol="0" anchor="ctr"/>
          <a:lstStyle/>
          <a:p>
            <a:pPr marL="0" indent="0">
              <a:lnSpc>
                <a:spcPct val="105000"/>
              </a:lnSpc>
              <a:buNone/>
            </a:pPr>
            <a:r>
              <a:rPr lang="en-US" sz="1450" b="1" dirty="0">
                <a:solidFill>
                  <a:srgbClr val="FFFFFF"/>
                </a:solidFill>
                <a:latin typeface="Calibri" pitchFamily="34" charset="0"/>
                <a:ea typeface="Calibri" pitchFamily="34" charset="-122"/>
                <a:cs typeface="Calibri" pitchFamily="34" charset="-120"/>
              </a:rPr>
              <a:t>Extraction &amp; Normalization</a:t>
            </a:r>
            <a:endParaRPr lang="en-US" sz="1450" dirty="0"/>
          </a:p>
        </p:txBody>
      </p:sp>
      <p:sp>
        <p:nvSpPr>
          <p:cNvPr id="13" name="Shape 11"/>
          <p:cNvSpPr/>
          <p:nvPr/>
        </p:nvSpPr>
        <p:spPr>
          <a:xfrm>
            <a:off x="5852160" y="3200400"/>
            <a:ext cx="0" cy="685800"/>
          </a:xfrm>
          <a:prstGeom prst="line">
            <a:avLst/>
          </a:prstGeom>
          <a:noFill/>
          <a:ln w="12700">
            <a:solidFill>
              <a:srgbClr val="3C5680"/>
            </a:solidFill>
            <a:prstDash val="solid"/>
          </a:ln>
        </p:spPr>
      </p:sp>
      <p:sp>
        <p:nvSpPr>
          <p:cNvPr id="14" name="Text 12"/>
          <p:cNvSpPr/>
          <p:nvPr/>
        </p:nvSpPr>
        <p:spPr>
          <a:xfrm>
            <a:off x="6080760" y="3063240"/>
            <a:ext cx="5212080" cy="960120"/>
          </a:xfrm>
          <a:prstGeom prst="rect">
            <a:avLst/>
          </a:prstGeom>
          <a:noFill/>
          <a:ln/>
        </p:spPr>
        <p:txBody>
          <a:bodyPr wrap="square" rtlCol="0" anchor="ctr"/>
          <a:lstStyle/>
          <a:p>
            <a:pPr marL="0" indent="0">
              <a:lnSpc>
                <a:spcPct val="115000"/>
              </a:lnSpc>
              <a:buNone/>
            </a:pPr>
            <a:r>
              <a:rPr lang="en-US" sz="1200" dirty="0">
                <a:solidFill>
                  <a:srgbClr val="CBD9EE"/>
                </a:solidFill>
                <a:latin typeface="Calibri" pitchFamily="34" charset="0"/>
                <a:ea typeface="Calibri" pitchFamily="34" charset="-122"/>
                <a:cs typeface="Calibri" pitchFamily="34" charset="-120"/>
              </a:rPr>
              <a:t>Format-specific extraction nodes (XLSX / PDF / Text) feed a unified merge node</a:t>
            </a:r>
            <a:endParaRPr lang="en-US" sz="1200" dirty="0"/>
          </a:p>
        </p:txBody>
      </p:sp>
      <p:sp>
        <p:nvSpPr>
          <p:cNvPr id="15" name="Shape 13"/>
          <p:cNvSpPr/>
          <p:nvPr/>
        </p:nvSpPr>
        <p:spPr>
          <a:xfrm>
            <a:off x="640080" y="4160520"/>
            <a:ext cx="10881360" cy="960120"/>
          </a:xfrm>
          <a:prstGeom prst="roundRect">
            <a:avLst>
              <a:gd name="adj" fmla="val 6667"/>
            </a:avLst>
          </a:prstGeom>
          <a:solidFill>
            <a:srgbClr val="24406B"/>
          </a:solidFill>
          <a:ln/>
        </p:spPr>
      </p:sp>
      <p:sp>
        <p:nvSpPr>
          <p:cNvPr id="16" name="Text 14"/>
          <p:cNvSpPr/>
          <p:nvPr/>
        </p:nvSpPr>
        <p:spPr>
          <a:xfrm>
            <a:off x="868680" y="4160520"/>
            <a:ext cx="822960" cy="960120"/>
          </a:xfrm>
          <a:prstGeom prst="rect">
            <a:avLst/>
          </a:prstGeom>
          <a:noFill/>
          <a:ln/>
        </p:spPr>
        <p:txBody>
          <a:bodyPr wrap="square" rtlCol="0" anchor="ctr"/>
          <a:lstStyle/>
          <a:p>
            <a:pPr marL="0" indent="0">
              <a:buNone/>
            </a:pPr>
            <a:r>
              <a:rPr lang="en-US" sz="2600" b="1" dirty="0">
                <a:solidFill>
                  <a:srgbClr val="D98E2B"/>
                </a:solidFill>
                <a:latin typeface="Cambria" pitchFamily="34" charset="0"/>
                <a:ea typeface="Cambria" pitchFamily="34" charset="-122"/>
                <a:cs typeface="Cambria" pitchFamily="34" charset="-120"/>
              </a:rPr>
              <a:t>03</a:t>
            </a:r>
            <a:endParaRPr lang="en-US" sz="2600" dirty="0"/>
          </a:p>
        </p:txBody>
      </p:sp>
      <p:sp>
        <p:nvSpPr>
          <p:cNvPr id="17" name="Text 15"/>
          <p:cNvSpPr/>
          <p:nvPr/>
        </p:nvSpPr>
        <p:spPr>
          <a:xfrm>
            <a:off x="1783080" y="4270248"/>
            <a:ext cx="3931920" cy="740664"/>
          </a:xfrm>
          <a:prstGeom prst="rect">
            <a:avLst/>
          </a:prstGeom>
          <a:noFill/>
          <a:ln/>
        </p:spPr>
        <p:txBody>
          <a:bodyPr wrap="square" rtlCol="0" anchor="ctr"/>
          <a:lstStyle/>
          <a:p>
            <a:pPr marL="0" indent="0">
              <a:lnSpc>
                <a:spcPct val="105000"/>
              </a:lnSpc>
              <a:buNone/>
            </a:pPr>
            <a:r>
              <a:rPr lang="en-US" sz="1450" b="1" dirty="0">
                <a:solidFill>
                  <a:srgbClr val="FFFFFF"/>
                </a:solidFill>
                <a:latin typeface="Calibri" pitchFamily="34" charset="0"/>
                <a:ea typeface="Calibri" pitchFamily="34" charset="-122"/>
                <a:cs typeface="Calibri" pitchFamily="34" charset="-120"/>
              </a:rPr>
              <a:t>Agentic Reasoning Core — Mira</a:t>
            </a:r>
            <a:endParaRPr lang="en-US" sz="1450" dirty="0"/>
          </a:p>
        </p:txBody>
      </p:sp>
      <p:sp>
        <p:nvSpPr>
          <p:cNvPr id="18" name="Shape 16"/>
          <p:cNvSpPr/>
          <p:nvPr/>
        </p:nvSpPr>
        <p:spPr>
          <a:xfrm>
            <a:off x="5852160" y="4297680"/>
            <a:ext cx="0" cy="685800"/>
          </a:xfrm>
          <a:prstGeom prst="line">
            <a:avLst/>
          </a:prstGeom>
          <a:noFill/>
          <a:ln w="12700">
            <a:solidFill>
              <a:srgbClr val="3C5680"/>
            </a:solidFill>
            <a:prstDash val="solid"/>
          </a:ln>
        </p:spPr>
      </p:sp>
      <p:sp>
        <p:nvSpPr>
          <p:cNvPr id="19" name="Text 17"/>
          <p:cNvSpPr/>
          <p:nvPr/>
        </p:nvSpPr>
        <p:spPr>
          <a:xfrm>
            <a:off x="6080760" y="4160520"/>
            <a:ext cx="5212080" cy="960120"/>
          </a:xfrm>
          <a:prstGeom prst="rect">
            <a:avLst/>
          </a:prstGeom>
          <a:noFill/>
          <a:ln/>
        </p:spPr>
        <p:txBody>
          <a:bodyPr wrap="square" rtlCol="0" anchor="ctr"/>
          <a:lstStyle/>
          <a:p>
            <a:pPr marL="0" indent="0">
              <a:lnSpc>
                <a:spcPct val="115000"/>
              </a:lnSpc>
              <a:buNone/>
            </a:pPr>
            <a:r>
              <a:rPr lang="en-US" sz="1200" dirty="0">
                <a:solidFill>
                  <a:srgbClr val="CBD9EE"/>
                </a:solidFill>
                <a:latin typeface="Calibri" pitchFamily="34" charset="0"/>
                <a:ea typeface="Calibri" pitchFamily="34" charset="-122"/>
                <a:cs typeface="Calibri" pitchFamily="34" charset="-120"/>
              </a:rPr>
              <a:t>OpenAI LLM chat model with short-term memory and external tool-calling</a:t>
            </a:r>
            <a:endParaRPr lang="en-US" sz="1200" dirty="0"/>
          </a:p>
        </p:txBody>
      </p:sp>
      <p:sp>
        <p:nvSpPr>
          <p:cNvPr id="20" name="Shape 18"/>
          <p:cNvSpPr/>
          <p:nvPr/>
        </p:nvSpPr>
        <p:spPr>
          <a:xfrm>
            <a:off x="640080" y="5257800"/>
            <a:ext cx="10881360" cy="960120"/>
          </a:xfrm>
          <a:prstGeom prst="roundRect">
            <a:avLst>
              <a:gd name="adj" fmla="val 6667"/>
            </a:avLst>
          </a:prstGeom>
          <a:solidFill>
            <a:srgbClr val="24406B"/>
          </a:solidFill>
          <a:ln/>
        </p:spPr>
      </p:sp>
      <p:sp>
        <p:nvSpPr>
          <p:cNvPr id="21" name="Text 19"/>
          <p:cNvSpPr/>
          <p:nvPr/>
        </p:nvSpPr>
        <p:spPr>
          <a:xfrm>
            <a:off x="868680" y="5257800"/>
            <a:ext cx="822960" cy="960120"/>
          </a:xfrm>
          <a:prstGeom prst="rect">
            <a:avLst/>
          </a:prstGeom>
          <a:noFill/>
          <a:ln/>
        </p:spPr>
        <p:txBody>
          <a:bodyPr wrap="square" rtlCol="0" anchor="ctr"/>
          <a:lstStyle/>
          <a:p>
            <a:pPr marL="0" indent="0">
              <a:buNone/>
            </a:pPr>
            <a:r>
              <a:rPr lang="en-US" sz="2600" b="1" dirty="0">
                <a:solidFill>
                  <a:srgbClr val="D98E2B"/>
                </a:solidFill>
                <a:latin typeface="Cambria" pitchFamily="34" charset="0"/>
                <a:ea typeface="Cambria" pitchFamily="34" charset="-122"/>
                <a:cs typeface="Cambria" pitchFamily="34" charset="-120"/>
              </a:rPr>
              <a:t>04</a:t>
            </a:r>
            <a:endParaRPr lang="en-US" sz="2600" dirty="0"/>
          </a:p>
        </p:txBody>
      </p:sp>
      <p:sp>
        <p:nvSpPr>
          <p:cNvPr id="22" name="Text 20"/>
          <p:cNvSpPr/>
          <p:nvPr/>
        </p:nvSpPr>
        <p:spPr>
          <a:xfrm>
            <a:off x="1783080" y="5367528"/>
            <a:ext cx="3931920" cy="740664"/>
          </a:xfrm>
          <a:prstGeom prst="rect">
            <a:avLst/>
          </a:prstGeom>
          <a:noFill/>
          <a:ln/>
        </p:spPr>
        <p:txBody>
          <a:bodyPr wrap="square" rtlCol="0" anchor="ctr"/>
          <a:lstStyle/>
          <a:p>
            <a:pPr marL="0" indent="0">
              <a:lnSpc>
                <a:spcPct val="105000"/>
              </a:lnSpc>
              <a:buNone/>
            </a:pPr>
            <a:r>
              <a:rPr lang="en-US" sz="1450" b="1" dirty="0">
                <a:solidFill>
                  <a:srgbClr val="FFFFFF"/>
                </a:solidFill>
                <a:latin typeface="Calibri" pitchFamily="34" charset="0"/>
                <a:ea typeface="Calibri" pitchFamily="34" charset="-122"/>
                <a:cs typeface="Calibri" pitchFamily="34" charset="-120"/>
              </a:rPr>
              <a:t>Distribution &amp; Output</a:t>
            </a:r>
            <a:endParaRPr lang="en-US" sz="1450" dirty="0"/>
          </a:p>
        </p:txBody>
      </p:sp>
      <p:sp>
        <p:nvSpPr>
          <p:cNvPr id="23" name="Shape 21"/>
          <p:cNvSpPr/>
          <p:nvPr/>
        </p:nvSpPr>
        <p:spPr>
          <a:xfrm>
            <a:off x="5852160" y="5394960"/>
            <a:ext cx="0" cy="685800"/>
          </a:xfrm>
          <a:prstGeom prst="line">
            <a:avLst/>
          </a:prstGeom>
          <a:noFill/>
          <a:ln w="12700">
            <a:solidFill>
              <a:srgbClr val="3C5680"/>
            </a:solidFill>
            <a:prstDash val="solid"/>
          </a:ln>
        </p:spPr>
      </p:sp>
      <p:sp>
        <p:nvSpPr>
          <p:cNvPr id="24" name="Text 22"/>
          <p:cNvSpPr/>
          <p:nvPr/>
        </p:nvSpPr>
        <p:spPr>
          <a:xfrm>
            <a:off x="6080760" y="5257800"/>
            <a:ext cx="5212080" cy="960120"/>
          </a:xfrm>
          <a:prstGeom prst="rect">
            <a:avLst/>
          </a:prstGeom>
          <a:noFill/>
          <a:ln/>
        </p:spPr>
        <p:txBody>
          <a:bodyPr wrap="square" rtlCol="0" anchor="ctr"/>
          <a:lstStyle/>
          <a:p>
            <a:pPr marL="0" indent="0">
              <a:lnSpc>
                <a:spcPct val="115000"/>
              </a:lnSpc>
              <a:buNone/>
            </a:pPr>
            <a:r>
              <a:rPr lang="en-US" sz="1200" dirty="0">
                <a:solidFill>
                  <a:srgbClr val="CBD9EE"/>
                </a:solidFill>
                <a:latin typeface="Calibri" pitchFamily="34" charset="0"/>
                <a:ea typeface="Calibri" pitchFamily="34" charset="-122"/>
                <a:cs typeface="Calibri" pitchFamily="34" charset="-120"/>
              </a:rPr>
              <a:t>Auto text-file conversion, Google Drive upload, and Gmail API delivery</a:t>
            </a:r>
            <a:endParaRPr lang="en-US" sz="1200" dirty="0"/>
          </a:p>
        </p:txBody>
      </p:sp>
      <p:sp>
        <p:nvSpPr>
          <p:cNvPr id="25" name="Text 23"/>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MIRA — Multi-Agent PMO Orchestrator</a:t>
            </a:r>
            <a:endParaRPr lang="en-US" sz="900" dirty="0"/>
          </a:p>
        </p:txBody>
      </p:sp>
      <p:sp>
        <p:nvSpPr>
          <p:cNvPr id="26" name="Text 24"/>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D6B7A"/>
                </a:solidFill>
                <a:latin typeface="Calibri" pitchFamily="34" charset="0"/>
                <a:ea typeface="Calibri" pitchFamily="34" charset="-122"/>
                <a:cs typeface="Calibri" pitchFamily="34" charset="-120"/>
              </a:rPr>
              <a:t>11</a:t>
            </a:r>
            <a:endParaRPr lang="en-US" sz="900" dirty="0"/>
          </a:p>
        </p:txBody>
      </p:sp>
      <p:sp>
        <p:nvSpPr>
          <p:cNvPr id="27" name="Text 25"/>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8FA3C2"/>
                </a:solidFill>
                <a:latin typeface="Calibri" pitchFamily="34" charset="0"/>
                <a:ea typeface="Calibri" pitchFamily="34" charset="-122"/>
                <a:cs typeface="Calibri" pitchFamily="34" charset="-120"/>
              </a:rPr>
              <a:t>MIRA — Multi-Agent PMO Orchestrator</a:t>
            </a:r>
            <a:endParaRPr lang="en-US" sz="900" dirty="0"/>
          </a:p>
        </p:txBody>
      </p:sp>
      <p:sp>
        <p:nvSpPr>
          <p:cNvPr id="28" name="Text 26"/>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8FA3C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rtlCol="0" anchor="ctr"/>
          <a:lstStyle/>
          <a:p>
            <a:pPr marL="0" indent="0" algn="l">
              <a:buNone/>
            </a:pPr>
            <a:r>
              <a:rPr lang="en-US" sz="1250" b="1" kern="0" spc="200" dirty="0">
                <a:solidFill>
                  <a:srgbClr val="3E6B8A"/>
                </a:solidFill>
                <a:latin typeface="Calibri" pitchFamily="34" charset="0"/>
                <a:ea typeface="Calibri" pitchFamily="34" charset="-122"/>
                <a:cs typeface="Calibri" pitchFamily="34" charset="-120"/>
              </a:rPr>
              <a:t>N8N ORCHESTRATION PIPELINE · WORKFLOW 1</a:t>
            </a:r>
            <a:endParaRPr lang="en-US" sz="1250" dirty="0"/>
          </a:p>
        </p:txBody>
      </p:sp>
      <p:sp>
        <p:nvSpPr>
          <p:cNvPr id="3" name="Text 1"/>
          <p:cNvSpPr/>
          <p:nvPr/>
        </p:nvSpPr>
        <p:spPr>
          <a:xfrm>
            <a:off x="640080" y="658368"/>
            <a:ext cx="10607040" cy="658368"/>
          </a:xfrm>
          <a:prstGeom prst="rect">
            <a:avLst/>
          </a:prstGeom>
          <a:noFill/>
          <a:ln/>
        </p:spPr>
        <p:txBody>
          <a:bodyPr wrap="square" rtlCol="0" anchor="ctr"/>
          <a:lstStyle/>
          <a:p>
            <a:pPr marL="0" indent="0" algn="l">
              <a:buNone/>
            </a:pPr>
            <a:r>
              <a:rPr lang="en-US" sz="3200" b="1" dirty="0">
                <a:solidFill>
                  <a:srgbClr val="1B2F4E"/>
                </a:solidFill>
                <a:latin typeface="Cambria" pitchFamily="34" charset="0"/>
                <a:ea typeface="Cambria" pitchFamily="34" charset="-122"/>
                <a:cs typeface="Cambria" pitchFamily="34" charset="-120"/>
              </a:rPr>
              <a:t>Document Intelligence &amp; Plan Ingestion</a:t>
            </a:r>
            <a:endParaRPr lang="en-US" sz="3200" dirty="0"/>
          </a:p>
        </p:txBody>
      </p:sp>
      <p:sp>
        <p:nvSpPr>
          <p:cNvPr id="4" name="Text 2"/>
          <p:cNvSpPr/>
          <p:nvPr/>
        </p:nvSpPr>
        <p:spPr>
          <a:xfrm>
            <a:off x="640080" y="1298448"/>
            <a:ext cx="10424160" cy="365760"/>
          </a:xfrm>
          <a:prstGeom prst="rect">
            <a:avLst/>
          </a:prstGeom>
          <a:noFill/>
          <a:ln/>
        </p:spPr>
        <p:txBody>
          <a:bodyPr wrap="square" rtlCol="0" anchor="ctr"/>
          <a:lstStyle/>
          <a:p>
            <a:pPr marL="0" indent="0">
              <a:buNone/>
            </a:pPr>
            <a:r>
              <a:rPr lang="en-US" sz="1300" dirty="0">
                <a:solidFill>
                  <a:srgbClr val="5D6B7A"/>
                </a:solidFill>
                <a:latin typeface="Calibri" pitchFamily="34" charset="0"/>
                <a:ea typeface="Calibri" pitchFamily="34" charset="-122"/>
                <a:cs typeface="Calibri" pitchFamily="34" charset="-120"/>
              </a:rPr>
              <a:t>Four stages, one manual trigger — raw files in, an executive-ready plan out.</a:t>
            </a:r>
            <a:endParaRPr lang="en-US" sz="1300" dirty="0"/>
          </a:p>
        </p:txBody>
      </p:sp>
      <p:sp>
        <p:nvSpPr>
          <p:cNvPr id="5" name="Shape 3"/>
          <p:cNvSpPr/>
          <p:nvPr/>
        </p:nvSpPr>
        <p:spPr>
          <a:xfrm>
            <a:off x="640080" y="1965960"/>
            <a:ext cx="2528316" cy="4251960"/>
          </a:xfrm>
          <a:prstGeom prst="roundRect">
            <a:avLst>
              <a:gd name="adj" fmla="val 2893"/>
            </a:avLst>
          </a:prstGeom>
          <a:solidFill>
            <a:srgbClr val="F4F6F9"/>
          </a:solidFill>
          <a:ln w="12700">
            <a:solidFill>
              <a:srgbClr val="E1E6ED"/>
            </a:solidFill>
            <a:prstDash val="solid"/>
          </a:ln>
        </p:spPr>
      </p:sp>
      <p:sp>
        <p:nvSpPr>
          <p:cNvPr id="6" name="Shape 4"/>
          <p:cNvSpPr/>
          <p:nvPr/>
        </p:nvSpPr>
        <p:spPr>
          <a:xfrm>
            <a:off x="640080" y="1965960"/>
            <a:ext cx="2528316" cy="777240"/>
          </a:xfrm>
          <a:prstGeom prst="roundRect">
            <a:avLst>
              <a:gd name="adj" fmla="val 9412"/>
            </a:avLst>
          </a:prstGeom>
          <a:solidFill>
            <a:srgbClr val="3E6B8A"/>
          </a:solidFill>
          <a:ln/>
        </p:spPr>
      </p:sp>
      <p:sp>
        <p:nvSpPr>
          <p:cNvPr id="7" name="Shape 5"/>
          <p:cNvSpPr/>
          <p:nvPr/>
        </p:nvSpPr>
        <p:spPr>
          <a:xfrm>
            <a:off x="640080" y="2350008"/>
            <a:ext cx="2528316" cy="393192"/>
          </a:xfrm>
          <a:prstGeom prst="rect">
            <a:avLst/>
          </a:prstGeom>
          <a:solidFill>
            <a:srgbClr val="3E6B8A"/>
          </a:solidFill>
          <a:ln/>
        </p:spPr>
      </p:sp>
      <p:sp>
        <p:nvSpPr>
          <p:cNvPr id="8" name="Text 6"/>
          <p:cNvSpPr/>
          <p:nvPr/>
        </p:nvSpPr>
        <p:spPr>
          <a:xfrm>
            <a:off x="804672" y="2084832"/>
            <a:ext cx="2199132" cy="256032"/>
          </a:xfrm>
          <a:prstGeom prst="rect">
            <a:avLst/>
          </a:prstGeom>
          <a:noFill/>
          <a:ln/>
        </p:spPr>
        <p:txBody>
          <a:bodyPr wrap="square" rtlCol="0" anchor="ctr"/>
          <a:lstStyle/>
          <a:p>
            <a:pPr marL="0" indent="0">
              <a:buNone/>
            </a:pPr>
            <a:r>
              <a:rPr lang="en-US" sz="1050" b="1" kern="0" spc="100" dirty="0">
                <a:solidFill>
                  <a:srgbClr val="FFFFFF"/>
                </a:solidFill>
                <a:latin typeface="Calibri" pitchFamily="34" charset="0"/>
                <a:ea typeface="Calibri" pitchFamily="34" charset="-122"/>
                <a:cs typeface="Calibri" pitchFamily="34" charset="-120"/>
              </a:rPr>
              <a:t>STEP 1</a:t>
            </a:r>
            <a:endParaRPr lang="en-US" sz="1050" dirty="0"/>
          </a:p>
        </p:txBody>
      </p:sp>
      <p:sp>
        <p:nvSpPr>
          <p:cNvPr id="9" name="Text 7"/>
          <p:cNvSpPr/>
          <p:nvPr/>
        </p:nvSpPr>
        <p:spPr>
          <a:xfrm>
            <a:off x="804672" y="2313432"/>
            <a:ext cx="2199132" cy="384048"/>
          </a:xfrm>
          <a:prstGeom prst="rect">
            <a:avLst/>
          </a:prstGeom>
          <a:noFill/>
          <a:ln/>
        </p:spPr>
        <p:txBody>
          <a:bodyPr wrap="square" rtlCol="0" anchor="ctr"/>
          <a:lstStyle/>
          <a:p>
            <a:pPr marL="0" indent="0">
              <a:lnSpc>
                <a:spcPct val="95000"/>
              </a:lnSpc>
              <a:buNone/>
            </a:pPr>
            <a:r>
              <a:rPr lang="en-US" sz="1250" b="1" dirty="0">
                <a:solidFill>
                  <a:srgbClr val="FFFFFF"/>
                </a:solidFill>
                <a:latin typeface="Calibri" pitchFamily="34" charset="0"/>
                <a:ea typeface="Calibri" pitchFamily="34" charset="-122"/>
                <a:cs typeface="Calibri" pitchFamily="34" charset="-120"/>
              </a:rPr>
              <a:t>Trigger &amp; Drive Extraction</a:t>
            </a:r>
            <a:endParaRPr lang="en-US" sz="1250" dirty="0"/>
          </a:p>
        </p:txBody>
      </p:sp>
      <p:sp>
        <p:nvSpPr>
          <p:cNvPr id="10" name="Text 8"/>
          <p:cNvSpPr/>
          <p:nvPr/>
        </p:nvSpPr>
        <p:spPr>
          <a:xfrm>
            <a:off x="804672" y="2926080"/>
            <a:ext cx="2199132" cy="3108960"/>
          </a:xfrm>
          <a:prstGeom prst="rect">
            <a:avLst/>
          </a:prstGeom>
          <a:noFill/>
          <a:ln/>
        </p:spPr>
        <p:txBody>
          <a:bodyPr wrap="square" rtlCol="0" anchor="ctr"/>
          <a:lstStyle/>
          <a:p>
            <a:pPr marL="0" indent="0">
              <a:lnSpc>
                <a:spcPct val="125000"/>
              </a:lnSpc>
              <a:buNone/>
            </a:pPr>
            <a:r>
              <a:rPr lang="en-US" sz="1100" dirty="0">
                <a:solidFill>
                  <a:srgbClr val="1C2733"/>
                </a:solidFill>
                <a:latin typeface="Calibri" pitchFamily="34" charset="0"/>
                <a:ea typeface="Calibri" pitchFamily="34" charset="-122"/>
                <a:cs typeface="Calibri" pitchFamily="34" charset="-120"/>
              </a:rPr>
              <a:t>Manual execution or Drive webhook fetches four raw project-context files (XLSX, PDF, TXT, RTF) from Google Drive.</a:t>
            </a:r>
            <a:endParaRPr lang="en-US" sz="1100" dirty="0"/>
          </a:p>
        </p:txBody>
      </p:sp>
      <p:sp>
        <p:nvSpPr>
          <p:cNvPr id="11" name="Shape 9"/>
          <p:cNvSpPr/>
          <p:nvPr/>
        </p:nvSpPr>
        <p:spPr>
          <a:xfrm>
            <a:off x="3186684" y="3973068"/>
            <a:ext cx="219456" cy="237744"/>
          </a:xfrm>
          <a:prstGeom prst="rightArrow">
            <a:avLst/>
          </a:prstGeom>
          <a:solidFill>
            <a:srgbClr val="5D6B7A"/>
          </a:solidFill>
          <a:ln/>
        </p:spPr>
      </p:sp>
      <p:sp>
        <p:nvSpPr>
          <p:cNvPr id="12" name="Shape 10"/>
          <p:cNvSpPr/>
          <p:nvPr/>
        </p:nvSpPr>
        <p:spPr>
          <a:xfrm>
            <a:off x="3424428" y="1965960"/>
            <a:ext cx="2528316" cy="4251960"/>
          </a:xfrm>
          <a:prstGeom prst="roundRect">
            <a:avLst>
              <a:gd name="adj" fmla="val 2893"/>
            </a:avLst>
          </a:prstGeom>
          <a:solidFill>
            <a:srgbClr val="F4F6F9"/>
          </a:solidFill>
          <a:ln w="12700">
            <a:solidFill>
              <a:srgbClr val="E1E6ED"/>
            </a:solidFill>
            <a:prstDash val="solid"/>
          </a:ln>
        </p:spPr>
      </p:sp>
      <p:sp>
        <p:nvSpPr>
          <p:cNvPr id="13" name="Shape 11"/>
          <p:cNvSpPr/>
          <p:nvPr/>
        </p:nvSpPr>
        <p:spPr>
          <a:xfrm>
            <a:off x="3424428" y="1965960"/>
            <a:ext cx="2528316" cy="777240"/>
          </a:xfrm>
          <a:prstGeom prst="roundRect">
            <a:avLst>
              <a:gd name="adj" fmla="val 9412"/>
            </a:avLst>
          </a:prstGeom>
          <a:solidFill>
            <a:srgbClr val="3E6B8A"/>
          </a:solidFill>
          <a:ln/>
        </p:spPr>
      </p:sp>
      <p:sp>
        <p:nvSpPr>
          <p:cNvPr id="14" name="Shape 12"/>
          <p:cNvSpPr/>
          <p:nvPr/>
        </p:nvSpPr>
        <p:spPr>
          <a:xfrm>
            <a:off x="3424428" y="2350008"/>
            <a:ext cx="2528316" cy="393192"/>
          </a:xfrm>
          <a:prstGeom prst="rect">
            <a:avLst/>
          </a:prstGeom>
          <a:solidFill>
            <a:srgbClr val="3E6B8A"/>
          </a:solidFill>
          <a:ln/>
        </p:spPr>
      </p:sp>
      <p:sp>
        <p:nvSpPr>
          <p:cNvPr id="15" name="Text 13"/>
          <p:cNvSpPr/>
          <p:nvPr/>
        </p:nvSpPr>
        <p:spPr>
          <a:xfrm>
            <a:off x="3589020" y="2084832"/>
            <a:ext cx="2199132" cy="256032"/>
          </a:xfrm>
          <a:prstGeom prst="rect">
            <a:avLst/>
          </a:prstGeom>
          <a:noFill/>
          <a:ln/>
        </p:spPr>
        <p:txBody>
          <a:bodyPr wrap="square" rtlCol="0" anchor="ctr"/>
          <a:lstStyle/>
          <a:p>
            <a:pPr marL="0" indent="0">
              <a:buNone/>
            </a:pPr>
            <a:r>
              <a:rPr lang="en-US" sz="1050" b="1" kern="0" spc="100" dirty="0">
                <a:solidFill>
                  <a:srgbClr val="FFFFFF"/>
                </a:solidFill>
                <a:latin typeface="Calibri" pitchFamily="34" charset="0"/>
                <a:ea typeface="Calibri" pitchFamily="34" charset="-122"/>
                <a:cs typeface="Calibri" pitchFamily="34" charset="-120"/>
              </a:rPr>
              <a:t>STEP 2</a:t>
            </a:r>
            <a:endParaRPr lang="en-US" sz="1050" dirty="0"/>
          </a:p>
        </p:txBody>
      </p:sp>
      <p:sp>
        <p:nvSpPr>
          <p:cNvPr id="16" name="Text 14"/>
          <p:cNvSpPr/>
          <p:nvPr/>
        </p:nvSpPr>
        <p:spPr>
          <a:xfrm>
            <a:off x="3589020" y="2313432"/>
            <a:ext cx="2199132" cy="384048"/>
          </a:xfrm>
          <a:prstGeom prst="rect">
            <a:avLst/>
          </a:prstGeom>
          <a:noFill/>
          <a:ln/>
        </p:spPr>
        <p:txBody>
          <a:bodyPr wrap="square" rtlCol="0" anchor="ctr"/>
          <a:lstStyle/>
          <a:p>
            <a:pPr marL="0" indent="0">
              <a:lnSpc>
                <a:spcPct val="95000"/>
              </a:lnSpc>
              <a:buNone/>
            </a:pPr>
            <a:r>
              <a:rPr lang="en-US" sz="1250" b="1" dirty="0">
                <a:solidFill>
                  <a:srgbClr val="FFFFFF"/>
                </a:solidFill>
                <a:latin typeface="Calibri" pitchFamily="34" charset="0"/>
                <a:ea typeface="Calibri" pitchFamily="34" charset="-122"/>
                <a:cs typeface="Calibri" pitchFamily="34" charset="-120"/>
              </a:rPr>
              <a:t>Format-Specific Parsing</a:t>
            </a:r>
            <a:endParaRPr lang="en-US" sz="1250" dirty="0"/>
          </a:p>
        </p:txBody>
      </p:sp>
      <p:sp>
        <p:nvSpPr>
          <p:cNvPr id="17" name="Text 15"/>
          <p:cNvSpPr/>
          <p:nvPr/>
        </p:nvSpPr>
        <p:spPr>
          <a:xfrm>
            <a:off x="3589020" y="2926080"/>
            <a:ext cx="2199132" cy="3108960"/>
          </a:xfrm>
          <a:prstGeom prst="rect">
            <a:avLst/>
          </a:prstGeom>
          <a:noFill/>
          <a:ln/>
        </p:spPr>
        <p:txBody>
          <a:bodyPr wrap="square" rtlCol="0" anchor="ctr"/>
          <a:lstStyle/>
          <a:p>
            <a:pPr marL="0" indent="0">
              <a:lnSpc>
                <a:spcPct val="125000"/>
              </a:lnSpc>
              <a:buNone/>
            </a:pPr>
            <a:r>
              <a:rPr lang="en-US" sz="1100" dirty="0">
                <a:solidFill>
                  <a:srgbClr val="1C2733"/>
                </a:solidFill>
                <a:latin typeface="Calibri" pitchFamily="34" charset="0"/>
                <a:ea typeface="Calibri" pitchFamily="34" charset="-122"/>
                <a:cs typeface="Calibri" pitchFamily="34" charset="-120"/>
              </a:rPr>
              <a:t>Individual n8n extraction nodes process each binary stream into standardized JSON string payloads.</a:t>
            </a:r>
            <a:endParaRPr lang="en-US" sz="1100" dirty="0"/>
          </a:p>
        </p:txBody>
      </p:sp>
      <p:sp>
        <p:nvSpPr>
          <p:cNvPr id="18" name="Shape 16"/>
          <p:cNvSpPr/>
          <p:nvPr/>
        </p:nvSpPr>
        <p:spPr>
          <a:xfrm>
            <a:off x="5971032" y="3973068"/>
            <a:ext cx="219456" cy="237744"/>
          </a:xfrm>
          <a:prstGeom prst="rightArrow">
            <a:avLst/>
          </a:prstGeom>
          <a:solidFill>
            <a:srgbClr val="5D6B7A"/>
          </a:solidFill>
          <a:ln/>
        </p:spPr>
      </p:sp>
      <p:sp>
        <p:nvSpPr>
          <p:cNvPr id="19" name="Shape 17"/>
          <p:cNvSpPr/>
          <p:nvPr/>
        </p:nvSpPr>
        <p:spPr>
          <a:xfrm>
            <a:off x="6208776" y="1965960"/>
            <a:ext cx="2528316" cy="4251960"/>
          </a:xfrm>
          <a:prstGeom prst="roundRect">
            <a:avLst>
              <a:gd name="adj" fmla="val 2893"/>
            </a:avLst>
          </a:prstGeom>
          <a:solidFill>
            <a:srgbClr val="F4F6F9"/>
          </a:solidFill>
          <a:ln w="12700">
            <a:solidFill>
              <a:srgbClr val="E1E6ED"/>
            </a:solidFill>
            <a:prstDash val="solid"/>
          </a:ln>
        </p:spPr>
      </p:sp>
      <p:sp>
        <p:nvSpPr>
          <p:cNvPr id="20" name="Shape 18"/>
          <p:cNvSpPr/>
          <p:nvPr/>
        </p:nvSpPr>
        <p:spPr>
          <a:xfrm>
            <a:off x="6208776" y="1965960"/>
            <a:ext cx="2528316" cy="777240"/>
          </a:xfrm>
          <a:prstGeom prst="roundRect">
            <a:avLst>
              <a:gd name="adj" fmla="val 9412"/>
            </a:avLst>
          </a:prstGeom>
          <a:solidFill>
            <a:srgbClr val="3E6B8A"/>
          </a:solidFill>
          <a:ln/>
        </p:spPr>
      </p:sp>
      <p:sp>
        <p:nvSpPr>
          <p:cNvPr id="21" name="Shape 19"/>
          <p:cNvSpPr/>
          <p:nvPr/>
        </p:nvSpPr>
        <p:spPr>
          <a:xfrm>
            <a:off x="6208776" y="2350008"/>
            <a:ext cx="2528316" cy="393192"/>
          </a:xfrm>
          <a:prstGeom prst="rect">
            <a:avLst/>
          </a:prstGeom>
          <a:solidFill>
            <a:srgbClr val="3E6B8A"/>
          </a:solidFill>
          <a:ln/>
        </p:spPr>
      </p:sp>
      <p:sp>
        <p:nvSpPr>
          <p:cNvPr id="22" name="Text 20"/>
          <p:cNvSpPr/>
          <p:nvPr/>
        </p:nvSpPr>
        <p:spPr>
          <a:xfrm>
            <a:off x="6373368" y="2084832"/>
            <a:ext cx="2199132" cy="256032"/>
          </a:xfrm>
          <a:prstGeom prst="rect">
            <a:avLst/>
          </a:prstGeom>
          <a:noFill/>
          <a:ln/>
        </p:spPr>
        <p:txBody>
          <a:bodyPr wrap="square" rtlCol="0" anchor="ctr"/>
          <a:lstStyle/>
          <a:p>
            <a:pPr marL="0" indent="0">
              <a:buNone/>
            </a:pPr>
            <a:r>
              <a:rPr lang="en-US" sz="1050" b="1" kern="0" spc="100" dirty="0">
                <a:solidFill>
                  <a:srgbClr val="FFFFFF"/>
                </a:solidFill>
                <a:latin typeface="Calibri" pitchFamily="34" charset="0"/>
                <a:ea typeface="Calibri" pitchFamily="34" charset="-122"/>
                <a:cs typeface="Calibri" pitchFamily="34" charset="-120"/>
              </a:rPr>
              <a:t>STEP 3</a:t>
            </a:r>
            <a:endParaRPr lang="en-US" sz="1050" dirty="0"/>
          </a:p>
        </p:txBody>
      </p:sp>
      <p:sp>
        <p:nvSpPr>
          <p:cNvPr id="23" name="Text 21"/>
          <p:cNvSpPr/>
          <p:nvPr/>
        </p:nvSpPr>
        <p:spPr>
          <a:xfrm>
            <a:off x="6373368" y="2313432"/>
            <a:ext cx="2199132" cy="384048"/>
          </a:xfrm>
          <a:prstGeom prst="rect">
            <a:avLst/>
          </a:prstGeom>
          <a:noFill/>
          <a:ln/>
        </p:spPr>
        <p:txBody>
          <a:bodyPr wrap="square" rtlCol="0" anchor="ctr"/>
          <a:lstStyle/>
          <a:p>
            <a:pPr marL="0" indent="0">
              <a:lnSpc>
                <a:spcPct val="95000"/>
              </a:lnSpc>
              <a:buNone/>
            </a:pPr>
            <a:r>
              <a:rPr lang="en-US" sz="1250" b="1" dirty="0">
                <a:solidFill>
                  <a:srgbClr val="FFFFFF"/>
                </a:solidFill>
                <a:latin typeface="Calibri" pitchFamily="34" charset="0"/>
                <a:ea typeface="Calibri" pitchFamily="34" charset="-122"/>
                <a:cs typeface="Calibri" pitchFamily="34" charset="-120"/>
              </a:rPr>
              <a:t>Context Aggregation</a:t>
            </a:r>
            <a:endParaRPr lang="en-US" sz="1250" dirty="0"/>
          </a:p>
        </p:txBody>
      </p:sp>
      <p:sp>
        <p:nvSpPr>
          <p:cNvPr id="24" name="Text 22"/>
          <p:cNvSpPr/>
          <p:nvPr/>
        </p:nvSpPr>
        <p:spPr>
          <a:xfrm>
            <a:off x="6373368" y="2926080"/>
            <a:ext cx="2199132" cy="3108960"/>
          </a:xfrm>
          <a:prstGeom prst="rect">
            <a:avLst/>
          </a:prstGeom>
          <a:noFill/>
          <a:ln/>
        </p:spPr>
        <p:txBody>
          <a:bodyPr wrap="square" rtlCol="0" anchor="ctr"/>
          <a:lstStyle/>
          <a:p>
            <a:pPr marL="0" indent="0">
              <a:lnSpc>
                <a:spcPct val="125000"/>
              </a:lnSpc>
              <a:buNone/>
            </a:pPr>
            <a:r>
              <a:rPr lang="en-US" sz="1100" dirty="0">
                <a:solidFill>
                  <a:srgbClr val="1C2733"/>
                </a:solidFill>
                <a:latin typeface="Calibri" pitchFamily="34" charset="0"/>
                <a:ea typeface="Calibri" pitchFamily="34" charset="-122"/>
                <a:cs typeface="Calibri" pitchFamily="34" charset="-120"/>
              </a:rPr>
              <a:t>A Merge (Append) node combines 19 items into a single context payload, followed by an Aggregator node.</a:t>
            </a:r>
            <a:endParaRPr lang="en-US" sz="1100" dirty="0"/>
          </a:p>
        </p:txBody>
      </p:sp>
      <p:sp>
        <p:nvSpPr>
          <p:cNvPr id="25" name="Shape 23"/>
          <p:cNvSpPr/>
          <p:nvPr/>
        </p:nvSpPr>
        <p:spPr>
          <a:xfrm>
            <a:off x="8755380" y="3973068"/>
            <a:ext cx="219456" cy="237744"/>
          </a:xfrm>
          <a:prstGeom prst="rightArrow">
            <a:avLst/>
          </a:prstGeom>
          <a:solidFill>
            <a:srgbClr val="5D6B7A"/>
          </a:solidFill>
          <a:ln/>
        </p:spPr>
      </p:sp>
      <p:sp>
        <p:nvSpPr>
          <p:cNvPr id="26" name="Shape 24"/>
          <p:cNvSpPr/>
          <p:nvPr/>
        </p:nvSpPr>
        <p:spPr>
          <a:xfrm>
            <a:off x="8993124" y="1965960"/>
            <a:ext cx="2528316" cy="4251960"/>
          </a:xfrm>
          <a:prstGeom prst="roundRect">
            <a:avLst>
              <a:gd name="adj" fmla="val 2893"/>
            </a:avLst>
          </a:prstGeom>
          <a:solidFill>
            <a:srgbClr val="F4F6F9"/>
          </a:solidFill>
          <a:ln w="12700">
            <a:solidFill>
              <a:srgbClr val="E1E6ED"/>
            </a:solidFill>
            <a:prstDash val="solid"/>
          </a:ln>
        </p:spPr>
      </p:sp>
      <p:sp>
        <p:nvSpPr>
          <p:cNvPr id="27" name="Shape 25"/>
          <p:cNvSpPr/>
          <p:nvPr/>
        </p:nvSpPr>
        <p:spPr>
          <a:xfrm>
            <a:off x="8993124" y="1965960"/>
            <a:ext cx="2528316" cy="777240"/>
          </a:xfrm>
          <a:prstGeom prst="roundRect">
            <a:avLst>
              <a:gd name="adj" fmla="val 9412"/>
            </a:avLst>
          </a:prstGeom>
          <a:solidFill>
            <a:srgbClr val="3E6B8A"/>
          </a:solidFill>
          <a:ln/>
        </p:spPr>
      </p:sp>
      <p:sp>
        <p:nvSpPr>
          <p:cNvPr id="28" name="Shape 26"/>
          <p:cNvSpPr/>
          <p:nvPr/>
        </p:nvSpPr>
        <p:spPr>
          <a:xfrm>
            <a:off x="8993124" y="2350008"/>
            <a:ext cx="2528316" cy="393192"/>
          </a:xfrm>
          <a:prstGeom prst="rect">
            <a:avLst/>
          </a:prstGeom>
          <a:solidFill>
            <a:srgbClr val="3E6B8A"/>
          </a:solidFill>
          <a:ln/>
        </p:spPr>
      </p:sp>
      <p:sp>
        <p:nvSpPr>
          <p:cNvPr id="29" name="Text 27"/>
          <p:cNvSpPr/>
          <p:nvPr/>
        </p:nvSpPr>
        <p:spPr>
          <a:xfrm>
            <a:off x="9157716" y="2084832"/>
            <a:ext cx="2199132" cy="256032"/>
          </a:xfrm>
          <a:prstGeom prst="rect">
            <a:avLst/>
          </a:prstGeom>
          <a:noFill/>
          <a:ln/>
        </p:spPr>
        <p:txBody>
          <a:bodyPr wrap="square" rtlCol="0" anchor="ctr"/>
          <a:lstStyle/>
          <a:p>
            <a:pPr marL="0" indent="0">
              <a:buNone/>
            </a:pPr>
            <a:r>
              <a:rPr lang="en-US" sz="1050" b="1" kern="0" spc="100" dirty="0">
                <a:solidFill>
                  <a:srgbClr val="FFFFFF"/>
                </a:solidFill>
                <a:latin typeface="Calibri" pitchFamily="34" charset="0"/>
                <a:ea typeface="Calibri" pitchFamily="34" charset="-122"/>
                <a:cs typeface="Calibri" pitchFamily="34" charset="-120"/>
              </a:rPr>
              <a:t>STEP 4</a:t>
            </a:r>
            <a:endParaRPr lang="en-US" sz="1050" dirty="0"/>
          </a:p>
        </p:txBody>
      </p:sp>
      <p:sp>
        <p:nvSpPr>
          <p:cNvPr id="30" name="Text 28"/>
          <p:cNvSpPr/>
          <p:nvPr/>
        </p:nvSpPr>
        <p:spPr>
          <a:xfrm>
            <a:off x="9157716" y="2313432"/>
            <a:ext cx="2199132" cy="384048"/>
          </a:xfrm>
          <a:prstGeom prst="rect">
            <a:avLst/>
          </a:prstGeom>
          <a:noFill/>
          <a:ln/>
        </p:spPr>
        <p:txBody>
          <a:bodyPr wrap="square" rtlCol="0" anchor="ctr"/>
          <a:lstStyle/>
          <a:p>
            <a:pPr marL="0" indent="0">
              <a:lnSpc>
                <a:spcPct val="95000"/>
              </a:lnSpc>
              <a:buNone/>
            </a:pPr>
            <a:r>
              <a:rPr lang="en-US" sz="1250" b="1" dirty="0">
                <a:solidFill>
                  <a:srgbClr val="FFFFFF"/>
                </a:solidFill>
                <a:latin typeface="Calibri" pitchFamily="34" charset="0"/>
                <a:ea typeface="Calibri" pitchFamily="34" charset="-122"/>
                <a:cs typeface="Calibri" pitchFamily="34" charset="-120"/>
              </a:rPr>
              <a:t>Agent Reasoning &amp; Delivery</a:t>
            </a:r>
            <a:endParaRPr lang="en-US" sz="1250" dirty="0"/>
          </a:p>
        </p:txBody>
      </p:sp>
      <p:sp>
        <p:nvSpPr>
          <p:cNvPr id="31" name="Text 29"/>
          <p:cNvSpPr/>
          <p:nvPr/>
        </p:nvSpPr>
        <p:spPr>
          <a:xfrm>
            <a:off x="9157716" y="2926080"/>
            <a:ext cx="2199132" cy="3108960"/>
          </a:xfrm>
          <a:prstGeom prst="rect">
            <a:avLst/>
          </a:prstGeom>
          <a:noFill/>
          <a:ln/>
        </p:spPr>
        <p:txBody>
          <a:bodyPr wrap="square" rtlCol="0" anchor="ctr"/>
          <a:lstStyle/>
          <a:p>
            <a:pPr marL="0" indent="0">
              <a:lnSpc>
                <a:spcPct val="125000"/>
              </a:lnSpc>
              <a:buNone/>
            </a:pPr>
            <a:r>
              <a:rPr lang="en-US" sz="1100" dirty="0">
                <a:solidFill>
                  <a:srgbClr val="1C2733"/>
                </a:solidFill>
                <a:latin typeface="Calibri" pitchFamily="34" charset="0"/>
                <a:ea typeface="Calibri" pitchFamily="34" charset="-122"/>
                <a:cs typeface="Calibri" pitchFamily="34" charset="-120"/>
              </a:rPr>
              <a:t>The Mira LLM Agent processes the full context, generates a project plan, converts it to a file, uploads it to Drive, and emails stakeholders.</a:t>
            </a:r>
            <a:endParaRPr lang="en-US" sz="1100" dirty="0"/>
          </a:p>
        </p:txBody>
      </p:sp>
      <p:sp>
        <p:nvSpPr>
          <p:cNvPr id="32" name="Text 30"/>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MIRA — Multi-Agent PMO Orchestrator</a:t>
            </a:r>
            <a:endParaRPr lang="en-US" sz="900" dirty="0"/>
          </a:p>
        </p:txBody>
      </p:sp>
      <p:sp>
        <p:nvSpPr>
          <p:cNvPr id="33" name="Text 31"/>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D6B7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rtlCol="0" anchor="ctr"/>
          <a:lstStyle/>
          <a:p>
            <a:pPr marL="0" indent="0" algn="l">
              <a:buNone/>
            </a:pPr>
            <a:r>
              <a:rPr lang="en-US" sz="1250" b="1" kern="0" spc="200" dirty="0">
                <a:solidFill>
                  <a:srgbClr val="3E6B8A"/>
                </a:solidFill>
                <a:latin typeface="Calibri" pitchFamily="34" charset="0"/>
                <a:ea typeface="Calibri" pitchFamily="34" charset="-122"/>
                <a:cs typeface="Calibri" pitchFamily="34" charset="-120"/>
              </a:rPr>
              <a:t>N8N ORCHESTRATION PIPELINE · WORKFLOW 2</a:t>
            </a:r>
            <a:endParaRPr lang="en-US" sz="1250" dirty="0"/>
          </a:p>
        </p:txBody>
      </p:sp>
      <p:sp>
        <p:nvSpPr>
          <p:cNvPr id="3" name="Text 1"/>
          <p:cNvSpPr/>
          <p:nvPr/>
        </p:nvSpPr>
        <p:spPr>
          <a:xfrm>
            <a:off x="640080" y="658368"/>
            <a:ext cx="10607040" cy="658368"/>
          </a:xfrm>
          <a:prstGeom prst="rect">
            <a:avLst/>
          </a:prstGeom>
          <a:noFill/>
          <a:ln/>
        </p:spPr>
        <p:txBody>
          <a:bodyPr wrap="square" rtlCol="0" anchor="ctr"/>
          <a:lstStyle/>
          <a:p>
            <a:pPr marL="0" indent="0" algn="l">
              <a:buNone/>
            </a:pPr>
            <a:r>
              <a:rPr lang="en-US" sz="3200" b="1" dirty="0">
                <a:solidFill>
                  <a:srgbClr val="1B2F4E"/>
                </a:solidFill>
                <a:latin typeface="Cambria" pitchFamily="34" charset="0"/>
                <a:ea typeface="Cambria" pitchFamily="34" charset="-122"/>
                <a:cs typeface="Cambria" pitchFamily="34" charset="-120"/>
              </a:rPr>
              <a:t>Live Trello Sync &amp; Status Reporting</a:t>
            </a:r>
            <a:endParaRPr lang="en-US" sz="3200" dirty="0"/>
          </a:p>
        </p:txBody>
      </p:sp>
      <p:sp>
        <p:nvSpPr>
          <p:cNvPr id="4" name="Text 2"/>
          <p:cNvSpPr/>
          <p:nvPr/>
        </p:nvSpPr>
        <p:spPr>
          <a:xfrm>
            <a:off x="640080" y="1298448"/>
            <a:ext cx="10424160" cy="365760"/>
          </a:xfrm>
          <a:prstGeom prst="rect">
            <a:avLst/>
          </a:prstGeom>
          <a:noFill/>
          <a:ln/>
        </p:spPr>
        <p:txBody>
          <a:bodyPr wrap="square" rtlCol="0" anchor="ctr"/>
          <a:lstStyle/>
          <a:p>
            <a:pPr marL="0" indent="0">
              <a:buNone/>
            </a:pPr>
            <a:r>
              <a:rPr lang="en-US" sz="1300" dirty="0">
                <a:solidFill>
                  <a:srgbClr val="5D6B7A"/>
                </a:solidFill>
                <a:latin typeface="Calibri" pitchFamily="34" charset="0"/>
                <a:ea typeface="Calibri" pitchFamily="34" charset="-122"/>
                <a:cs typeface="Calibri" pitchFamily="34" charset="-120"/>
              </a:rPr>
              <a:t>Five phases, zero human kickoff — the board's current state becomes an executive briefing every week.</a:t>
            </a:r>
            <a:endParaRPr lang="en-US" sz="1300" dirty="0"/>
          </a:p>
        </p:txBody>
      </p:sp>
      <p:sp>
        <p:nvSpPr>
          <p:cNvPr id="5" name="Shape 3"/>
          <p:cNvSpPr/>
          <p:nvPr/>
        </p:nvSpPr>
        <p:spPr>
          <a:xfrm>
            <a:off x="640080" y="1965960"/>
            <a:ext cx="1971446" cy="4251960"/>
          </a:xfrm>
          <a:prstGeom prst="roundRect">
            <a:avLst>
              <a:gd name="adj" fmla="val 3711"/>
            </a:avLst>
          </a:prstGeom>
          <a:solidFill>
            <a:srgbClr val="F4F6F9"/>
          </a:solidFill>
          <a:ln w="12700">
            <a:solidFill>
              <a:srgbClr val="E1E6ED"/>
            </a:solidFill>
            <a:prstDash val="solid"/>
          </a:ln>
        </p:spPr>
      </p:sp>
      <p:sp>
        <p:nvSpPr>
          <p:cNvPr id="6" name="Shape 4"/>
          <p:cNvSpPr/>
          <p:nvPr/>
        </p:nvSpPr>
        <p:spPr>
          <a:xfrm>
            <a:off x="640080" y="1965960"/>
            <a:ext cx="1971446" cy="777240"/>
          </a:xfrm>
          <a:prstGeom prst="roundRect">
            <a:avLst>
              <a:gd name="adj" fmla="val 9412"/>
            </a:avLst>
          </a:prstGeom>
          <a:solidFill>
            <a:srgbClr val="D98E2B"/>
          </a:solidFill>
          <a:ln/>
        </p:spPr>
      </p:sp>
      <p:sp>
        <p:nvSpPr>
          <p:cNvPr id="7" name="Shape 5"/>
          <p:cNvSpPr/>
          <p:nvPr/>
        </p:nvSpPr>
        <p:spPr>
          <a:xfrm>
            <a:off x="640080" y="2350008"/>
            <a:ext cx="1971446" cy="393192"/>
          </a:xfrm>
          <a:prstGeom prst="rect">
            <a:avLst/>
          </a:prstGeom>
          <a:solidFill>
            <a:srgbClr val="D98E2B"/>
          </a:solidFill>
          <a:ln/>
        </p:spPr>
      </p:sp>
      <p:sp>
        <p:nvSpPr>
          <p:cNvPr id="8" name="Text 6"/>
          <p:cNvSpPr/>
          <p:nvPr/>
        </p:nvSpPr>
        <p:spPr>
          <a:xfrm>
            <a:off x="804672" y="2084832"/>
            <a:ext cx="1642262" cy="256032"/>
          </a:xfrm>
          <a:prstGeom prst="rect">
            <a:avLst/>
          </a:prstGeom>
          <a:noFill/>
          <a:ln/>
        </p:spPr>
        <p:txBody>
          <a:bodyPr wrap="square" rtlCol="0" anchor="ctr"/>
          <a:lstStyle/>
          <a:p>
            <a:pPr marL="0" indent="0">
              <a:buNone/>
            </a:pPr>
            <a:r>
              <a:rPr lang="en-US" sz="1050" b="1" kern="0" spc="100" dirty="0">
                <a:solidFill>
                  <a:srgbClr val="FFFFFF"/>
                </a:solidFill>
                <a:latin typeface="Calibri" pitchFamily="34" charset="0"/>
                <a:ea typeface="Calibri" pitchFamily="34" charset="-122"/>
                <a:cs typeface="Calibri" pitchFamily="34" charset="-120"/>
              </a:rPr>
              <a:t>STEP 1</a:t>
            </a:r>
            <a:endParaRPr lang="en-US" sz="1050" dirty="0"/>
          </a:p>
        </p:txBody>
      </p:sp>
      <p:sp>
        <p:nvSpPr>
          <p:cNvPr id="9" name="Text 7"/>
          <p:cNvSpPr/>
          <p:nvPr/>
        </p:nvSpPr>
        <p:spPr>
          <a:xfrm>
            <a:off x="804672" y="2313432"/>
            <a:ext cx="1642262" cy="384048"/>
          </a:xfrm>
          <a:prstGeom prst="rect">
            <a:avLst/>
          </a:prstGeom>
          <a:noFill/>
          <a:ln/>
        </p:spPr>
        <p:txBody>
          <a:bodyPr wrap="square" rtlCol="0" anchor="ctr"/>
          <a:lstStyle/>
          <a:p>
            <a:pPr marL="0" indent="0">
              <a:lnSpc>
                <a:spcPct val="95000"/>
              </a:lnSpc>
              <a:buNone/>
            </a:pPr>
            <a:r>
              <a:rPr lang="en-US" sz="1250" b="1" dirty="0">
                <a:solidFill>
                  <a:srgbClr val="FFFFFF"/>
                </a:solidFill>
                <a:latin typeface="Calibri" pitchFamily="34" charset="0"/>
                <a:ea typeface="Calibri" pitchFamily="34" charset="-122"/>
                <a:cs typeface="Calibri" pitchFamily="34" charset="-120"/>
              </a:rPr>
              <a:t>Schedule Trigger</a:t>
            </a:r>
            <a:endParaRPr lang="en-US" sz="1250" dirty="0"/>
          </a:p>
        </p:txBody>
      </p:sp>
      <p:sp>
        <p:nvSpPr>
          <p:cNvPr id="10" name="Text 8"/>
          <p:cNvSpPr/>
          <p:nvPr/>
        </p:nvSpPr>
        <p:spPr>
          <a:xfrm>
            <a:off x="804672" y="2926080"/>
            <a:ext cx="1642262" cy="3108960"/>
          </a:xfrm>
          <a:prstGeom prst="rect">
            <a:avLst/>
          </a:prstGeom>
          <a:noFill/>
          <a:ln/>
        </p:spPr>
        <p:txBody>
          <a:bodyPr wrap="square" rtlCol="0" anchor="ctr"/>
          <a:lstStyle/>
          <a:p>
            <a:pPr marL="0" indent="0">
              <a:lnSpc>
                <a:spcPct val="125000"/>
              </a:lnSpc>
              <a:buNone/>
            </a:pPr>
            <a:r>
              <a:rPr lang="en-US" sz="1100" dirty="0">
                <a:solidFill>
                  <a:srgbClr val="1C2733"/>
                </a:solidFill>
                <a:latin typeface="Calibri" pitchFamily="34" charset="0"/>
                <a:ea typeface="Calibri" pitchFamily="34" charset="-122"/>
                <a:cs typeface="Calibri" pitchFamily="34" charset="-120"/>
              </a:rPr>
              <a:t>A weekly recurring trigger runs automatically, with no human intervention.</a:t>
            </a:r>
            <a:endParaRPr lang="en-US" sz="1100" dirty="0"/>
          </a:p>
        </p:txBody>
      </p:sp>
      <p:sp>
        <p:nvSpPr>
          <p:cNvPr id="11" name="Shape 9"/>
          <p:cNvSpPr/>
          <p:nvPr/>
        </p:nvSpPr>
        <p:spPr>
          <a:xfrm>
            <a:off x="2629814" y="3973068"/>
            <a:ext cx="219456" cy="237744"/>
          </a:xfrm>
          <a:prstGeom prst="rightArrow">
            <a:avLst/>
          </a:prstGeom>
          <a:solidFill>
            <a:srgbClr val="5D6B7A"/>
          </a:solidFill>
          <a:ln/>
        </p:spPr>
      </p:sp>
      <p:sp>
        <p:nvSpPr>
          <p:cNvPr id="12" name="Shape 10"/>
          <p:cNvSpPr/>
          <p:nvPr/>
        </p:nvSpPr>
        <p:spPr>
          <a:xfrm>
            <a:off x="2867558" y="1965960"/>
            <a:ext cx="1971446" cy="4251960"/>
          </a:xfrm>
          <a:prstGeom prst="roundRect">
            <a:avLst>
              <a:gd name="adj" fmla="val 3711"/>
            </a:avLst>
          </a:prstGeom>
          <a:solidFill>
            <a:srgbClr val="F4F6F9"/>
          </a:solidFill>
          <a:ln w="12700">
            <a:solidFill>
              <a:srgbClr val="E1E6ED"/>
            </a:solidFill>
            <a:prstDash val="solid"/>
          </a:ln>
        </p:spPr>
      </p:sp>
      <p:sp>
        <p:nvSpPr>
          <p:cNvPr id="13" name="Shape 11"/>
          <p:cNvSpPr/>
          <p:nvPr/>
        </p:nvSpPr>
        <p:spPr>
          <a:xfrm>
            <a:off x="2867558" y="1965960"/>
            <a:ext cx="1971446" cy="777240"/>
          </a:xfrm>
          <a:prstGeom prst="roundRect">
            <a:avLst>
              <a:gd name="adj" fmla="val 9412"/>
            </a:avLst>
          </a:prstGeom>
          <a:solidFill>
            <a:srgbClr val="D98E2B"/>
          </a:solidFill>
          <a:ln/>
        </p:spPr>
      </p:sp>
      <p:sp>
        <p:nvSpPr>
          <p:cNvPr id="14" name="Shape 12"/>
          <p:cNvSpPr/>
          <p:nvPr/>
        </p:nvSpPr>
        <p:spPr>
          <a:xfrm>
            <a:off x="2867558" y="2350008"/>
            <a:ext cx="1971446" cy="393192"/>
          </a:xfrm>
          <a:prstGeom prst="rect">
            <a:avLst/>
          </a:prstGeom>
          <a:solidFill>
            <a:srgbClr val="D98E2B"/>
          </a:solidFill>
          <a:ln/>
        </p:spPr>
      </p:sp>
      <p:sp>
        <p:nvSpPr>
          <p:cNvPr id="15" name="Text 13"/>
          <p:cNvSpPr/>
          <p:nvPr/>
        </p:nvSpPr>
        <p:spPr>
          <a:xfrm>
            <a:off x="3032150" y="2084832"/>
            <a:ext cx="1642262" cy="256032"/>
          </a:xfrm>
          <a:prstGeom prst="rect">
            <a:avLst/>
          </a:prstGeom>
          <a:noFill/>
          <a:ln/>
        </p:spPr>
        <p:txBody>
          <a:bodyPr wrap="square" rtlCol="0" anchor="ctr"/>
          <a:lstStyle/>
          <a:p>
            <a:pPr marL="0" indent="0">
              <a:buNone/>
            </a:pPr>
            <a:r>
              <a:rPr lang="en-US" sz="1050" b="1" kern="0" spc="100" dirty="0">
                <a:solidFill>
                  <a:srgbClr val="FFFFFF"/>
                </a:solidFill>
                <a:latin typeface="Calibri" pitchFamily="34" charset="0"/>
                <a:ea typeface="Calibri" pitchFamily="34" charset="-122"/>
                <a:cs typeface="Calibri" pitchFamily="34" charset="-120"/>
              </a:rPr>
              <a:t>STEP 2</a:t>
            </a:r>
            <a:endParaRPr lang="en-US" sz="1050" dirty="0"/>
          </a:p>
        </p:txBody>
      </p:sp>
      <p:sp>
        <p:nvSpPr>
          <p:cNvPr id="16" name="Text 14"/>
          <p:cNvSpPr/>
          <p:nvPr/>
        </p:nvSpPr>
        <p:spPr>
          <a:xfrm>
            <a:off x="3032150" y="2313432"/>
            <a:ext cx="1642262" cy="384048"/>
          </a:xfrm>
          <a:prstGeom prst="rect">
            <a:avLst/>
          </a:prstGeom>
          <a:noFill/>
          <a:ln/>
        </p:spPr>
        <p:txBody>
          <a:bodyPr wrap="square" rtlCol="0" anchor="ctr"/>
          <a:lstStyle/>
          <a:p>
            <a:pPr marL="0" indent="0">
              <a:lnSpc>
                <a:spcPct val="95000"/>
              </a:lnSpc>
              <a:buNone/>
            </a:pPr>
            <a:r>
              <a:rPr lang="en-US" sz="1250" b="1" dirty="0">
                <a:solidFill>
                  <a:srgbClr val="FFFFFF"/>
                </a:solidFill>
                <a:latin typeface="Calibri" pitchFamily="34" charset="0"/>
                <a:ea typeface="Calibri" pitchFamily="34" charset="-122"/>
                <a:cs typeface="Calibri" pitchFamily="34" charset="-120"/>
              </a:rPr>
              <a:t>Trello Card Extractor</a:t>
            </a:r>
            <a:endParaRPr lang="en-US" sz="1250" dirty="0"/>
          </a:p>
        </p:txBody>
      </p:sp>
      <p:sp>
        <p:nvSpPr>
          <p:cNvPr id="17" name="Text 15"/>
          <p:cNvSpPr/>
          <p:nvPr/>
        </p:nvSpPr>
        <p:spPr>
          <a:xfrm>
            <a:off x="3032150" y="2926080"/>
            <a:ext cx="1642262" cy="3108960"/>
          </a:xfrm>
          <a:prstGeom prst="rect">
            <a:avLst/>
          </a:prstGeom>
          <a:noFill/>
          <a:ln/>
        </p:spPr>
        <p:txBody>
          <a:bodyPr wrap="square" rtlCol="0" anchor="ctr"/>
          <a:lstStyle/>
          <a:p>
            <a:pPr marL="0" indent="0">
              <a:lnSpc>
                <a:spcPct val="125000"/>
              </a:lnSpc>
              <a:buNone/>
            </a:pPr>
            <a:r>
              <a:rPr lang="en-US" sz="1100" dirty="0">
                <a:solidFill>
                  <a:srgbClr val="1C2733"/>
                </a:solidFill>
                <a:latin typeface="Calibri" pitchFamily="34" charset="0"/>
                <a:ea typeface="Calibri" pitchFamily="34" charset="-122"/>
                <a:cs typeface="Calibri" pitchFamily="34" charset="-120"/>
              </a:rPr>
              <a:t>A GET request to the Trello boards/cards endpoint pulls the live task-board state.</a:t>
            </a:r>
            <a:endParaRPr lang="en-US" sz="1100" dirty="0"/>
          </a:p>
        </p:txBody>
      </p:sp>
      <p:sp>
        <p:nvSpPr>
          <p:cNvPr id="18" name="Shape 16"/>
          <p:cNvSpPr/>
          <p:nvPr/>
        </p:nvSpPr>
        <p:spPr>
          <a:xfrm>
            <a:off x="4857293" y="3973068"/>
            <a:ext cx="219456" cy="237744"/>
          </a:xfrm>
          <a:prstGeom prst="rightArrow">
            <a:avLst/>
          </a:prstGeom>
          <a:solidFill>
            <a:srgbClr val="5D6B7A"/>
          </a:solidFill>
          <a:ln/>
        </p:spPr>
      </p:sp>
      <p:sp>
        <p:nvSpPr>
          <p:cNvPr id="19" name="Shape 17"/>
          <p:cNvSpPr/>
          <p:nvPr/>
        </p:nvSpPr>
        <p:spPr>
          <a:xfrm>
            <a:off x="5095037" y="1965960"/>
            <a:ext cx="1971446" cy="4251960"/>
          </a:xfrm>
          <a:prstGeom prst="roundRect">
            <a:avLst>
              <a:gd name="adj" fmla="val 3711"/>
            </a:avLst>
          </a:prstGeom>
          <a:solidFill>
            <a:srgbClr val="F4F6F9"/>
          </a:solidFill>
          <a:ln w="12700">
            <a:solidFill>
              <a:srgbClr val="E1E6ED"/>
            </a:solidFill>
            <a:prstDash val="solid"/>
          </a:ln>
        </p:spPr>
      </p:sp>
      <p:sp>
        <p:nvSpPr>
          <p:cNvPr id="20" name="Shape 18"/>
          <p:cNvSpPr/>
          <p:nvPr/>
        </p:nvSpPr>
        <p:spPr>
          <a:xfrm>
            <a:off x="5095037" y="1965960"/>
            <a:ext cx="1971446" cy="777240"/>
          </a:xfrm>
          <a:prstGeom prst="roundRect">
            <a:avLst>
              <a:gd name="adj" fmla="val 9412"/>
            </a:avLst>
          </a:prstGeom>
          <a:solidFill>
            <a:srgbClr val="D98E2B"/>
          </a:solidFill>
          <a:ln/>
        </p:spPr>
      </p:sp>
      <p:sp>
        <p:nvSpPr>
          <p:cNvPr id="21" name="Shape 19"/>
          <p:cNvSpPr/>
          <p:nvPr/>
        </p:nvSpPr>
        <p:spPr>
          <a:xfrm>
            <a:off x="5095037" y="2350008"/>
            <a:ext cx="1971446" cy="393192"/>
          </a:xfrm>
          <a:prstGeom prst="rect">
            <a:avLst/>
          </a:prstGeom>
          <a:solidFill>
            <a:srgbClr val="D98E2B"/>
          </a:solidFill>
          <a:ln/>
        </p:spPr>
      </p:sp>
      <p:sp>
        <p:nvSpPr>
          <p:cNvPr id="22" name="Text 20"/>
          <p:cNvSpPr/>
          <p:nvPr/>
        </p:nvSpPr>
        <p:spPr>
          <a:xfrm>
            <a:off x="5259629" y="2084832"/>
            <a:ext cx="1642262" cy="256032"/>
          </a:xfrm>
          <a:prstGeom prst="rect">
            <a:avLst/>
          </a:prstGeom>
          <a:noFill/>
          <a:ln/>
        </p:spPr>
        <p:txBody>
          <a:bodyPr wrap="square" rtlCol="0" anchor="ctr"/>
          <a:lstStyle/>
          <a:p>
            <a:pPr marL="0" indent="0">
              <a:buNone/>
            </a:pPr>
            <a:r>
              <a:rPr lang="en-US" sz="1050" b="1" kern="0" spc="100" dirty="0">
                <a:solidFill>
                  <a:srgbClr val="FFFFFF"/>
                </a:solidFill>
                <a:latin typeface="Calibri" pitchFamily="34" charset="0"/>
                <a:ea typeface="Calibri" pitchFamily="34" charset="-122"/>
                <a:cs typeface="Calibri" pitchFamily="34" charset="-120"/>
              </a:rPr>
              <a:t>STEP 3</a:t>
            </a:r>
            <a:endParaRPr lang="en-US" sz="1050" dirty="0"/>
          </a:p>
        </p:txBody>
      </p:sp>
      <p:sp>
        <p:nvSpPr>
          <p:cNvPr id="23" name="Text 21"/>
          <p:cNvSpPr/>
          <p:nvPr/>
        </p:nvSpPr>
        <p:spPr>
          <a:xfrm>
            <a:off x="5259629" y="2313432"/>
            <a:ext cx="1642262" cy="384048"/>
          </a:xfrm>
          <a:prstGeom prst="rect">
            <a:avLst/>
          </a:prstGeom>
          <a:noFill/>
          <a:ln/>
        </p:spPr>
        <p:txBody>
          <a:bodyPr wrap="square" rtlCol="0" anchor="ctr"/>
          <a:lstStyle/>
          <a:p>
            <a:pPr marL="0" indent="0">
              <a:lnSpc>
                <a:spcPct val="95000"/>
              </a:lnSpc>
              <a:buNone/>
            </a:pPr>
            <a:r>
              <a:rPr lang="en-US" sz="1250" b="1" dirty="0">
                <a:solidFill>
                  <a:srgbClr val="FFFFFF"/>
                </a:solidFill>
                <a:latin typeface="Calibri" pitchFamily="34" charset="0"/>
                <a:ea typeface="Calibri" pitchFamily="34" charset="-122"/>
                <a:cs typeface="Calibri" pitchFamily="34" charset="-120"/>
              </a:rPr>
              <a:t>KANBAN Aggregator</a:t>
            </a:r>
            <a:endParaRPr lang="en-US" sz="1250" dirty="0"/>
          </a:p>
        </p:txBody>
      </p:sp>
      <p:sp>
        <p:nvSpPr>
          <p:cNvPr id="24" name="Text 22"/>
          <p:cNvSpPr/>
          <p:nvPr/>
        </p:nvSpPr>
        <p:spPr>
          <a:xfrm>
            <a:off x="5259629" y="2926080"/>
            <a:ext cx="1642262" cy="3108960"/>
          </a:xfrm>
          <a:prstGeom prst="rect">
            <a:avLst/>
          </a:prstGeom>
          <a:noFill/>
          <a:ln/>
        </p:spPr>
        <p:txBody>
          <a:bodyPr wrap="square" rtlCol="0" anchor="ctr"/>
          <a:lstStyle/>
          <a:p>
            <a:pPr marL="0" indent="0">
              <a:lnSpc>
                <a:spcPct val="125000"/>
              </a:lnSpc>
              <a:buNone/>
            </a:pPr>
            <a:r>
              <a:rPr lang="en-US" sz="1100" dirty="0">
                <a:solidFill>
                  <a:srgbClr val="1C2733"/>
                </a:solidFill>
                <a:latin typeface="Calibri" pitchFamily="34" charset="0"/>
                <a:ea typeface="Calibri" pitchFamily="34" charset="-122"/>
                <a:cs typeface="Calibri" pitchFamily="34" charset="-120"/>
              </a:rPr>
              <a:t>Normalizes raw Trello card objects into structured status categories: Done, Doing, To Do, Blocked.</a:t>
            </a:r>
            <a:endParaRPr lang="en-US" sz="1100" dirty="0"/>
          </a:p>
        </p:txBody>
      </p:sp>
      <p:sp>
        <p:nvSpPr>
          <p:cNvPr id="25" name="Shape 23"/>
          <p:cNvSpPr/>
          <p:nvPr/>
        </p:nvSpPr>
        <p:spPr>
          <a:xfrm>
            <a:off x="7084771" y="3973068"/>
            <a:ext cx="219456" cy="237744"/>
          </a:xfrm>
          <a:prstGeom prst="rightArrow">
            <a:avLst/>
          </a:prstGeom>
          <a:solidFill>
            <a:srgbClr val="5D6B7A"/>
          </a:solidFill>
          <a:ln/>
        </p:spPr>
      </p:sp>
      <p:sp>
        <p:nvSpPr>
          <p:cNvPr id="26" name="Shape 24"/>
          <p:cNvSpPr/>
          <p:nvPr/>
        </p:nvSpPr>
        <p:spPr>
          <a:xfrm>
            <a:off x="7322515" y="1965960"/>
            <a:ext cx="1971446" cy="4251960"/>
          </a:xfrm>
          <a:prstGeom prst="roundRect">
            <a:avLst>
              <a:gd name="adj" fmla="val 3711"/>
            </a:avLst>
          </a:prstGeom>
          <a:solidFill>
            <a:srgbClr val="F4F6F9"/>
          </a:solidFill>
          <a:ln w="12700">
            <a:solidFill>
              <a:srgbClr val="E1E6ED"/>
            </a:solidFill>
            <a:prstDash val="solid"/>
          </a:ln>
        </p:spPr>
      </p:sp>
      <p:sp>
        <p:nvSpPr>
          <p:cNvPr id="27" name="Shape 25"/>
          <p:cNvSpPr/>
          <p:nvPr/>
        </p:nvSpPr>
        <p:spPr>
          <a:xfrm>
            <a:off x="7322515" y="1965960"/>
            <a:ext cx="1971446" cy="777240"/>
          </a:xfrm>
          <a:prstGeom prst="roundRect">
            <a:avLst>
              <a:gd name="adj" fmla="val 9412"/>
            </a:avLst>
          </a:prstGeom>
          <a:solidFill>
            <a:srgbClr val="D98E2B"/>
          </a:solidFill>
          <a:ln/>
        </p:spPr>
      </p:sp>
      <p:sp>
        <p:nvSpPr>
          <p:cNvPr id="28" name="Shape 26"/>
          <p:cNvSpPr/>
          <p:nvPr/>
        </p:nvSpPr>
        <p:spPr>
          <a:xfrm>
            <a:off x="7322515" y="2350008"/>
            <a:ext cx="1971446" cy="393192"/>
          </a:xfrm>
          <a:prstGeom prst="rect">
            <a:avLst/>
          </a:prstGeom>
          <a:solidFill>
            <a:srgbClr val="D98E2B"/>
          </a:solidFill>
          <a:ln/>
        </p:spPr>
      </p:sp>
      <p:sp>
        <p:nvSpPr>
          <p:cNvPr id="29" name="Text 27"/>
          <p:cNvSpPr/>
          <p:nvPr/>
        </p:nvSpPr>
        <p:spPr>
          <a:xfrm>
            <a:off x="7487107" y="2084832"/>
            <a:ext cx="1642262" cy="256032"/>
          </a:xfrm>
          <a:prstGeom prst="rect">
            <a:avLst/>
          </a:prstGeom>
          <a:noFill/>
          <a:ln/>
        </p:spPr>
        <p:txBody>
          <a:bodyPr wrap="square" rtlCol="0" anchor="ctr"/>
          <a:lstStyle/>
          <a:p>
            <a:pPr marL="0" indent="0">
              <a:buNone/>
            </a:pPr>
            <a:r>
              <a:rPr lang="en-US" sz="1050" b="1" kern="0" spc="100" dirty="0">
                <a:solidFill>
                  <a:srgbClr val="FFFFFF"/>
                </a:solidFill>
                <a:latin typeface="Calibri" pitchFamily="34" charset="0"/>
                <a:ea typeface="Calibri" pitchFamily="34" charset="-122"/>
                <a:cs typeface="Calibri" pitchFamily="34" charset="-120"/>
              </a:rPr>
              <a:t>STEP 4</a:t>
            </a:r>
            <a:endParaRPr lang="en-US" sz="1050" dirty="0"/>
          </a:p>
        </p:txBody>
      </p:sp>
      <p:sp>
        <p:nvSpPr>
          <p:cNvPr id="30" name="Text 28"/>
          <p:cNvSpPr/>
          <p:nvPr/>
        </p:nvSpPr>
        <p:spPr>
          <a:xfrm>
            <a:off x="7487107" y="2313432"/>
            <a:ext cx="1642262" cy="384048"/>
          </a:xfrm>
          <a:prstGeom prst="rect">
            <a:avLst/>
          </a:prstGeom>
          <a:noFill/>
          <a:ln/>
        </p:spPr>
        <p:txBody>
          <a:bodyPr wrap="square" rtlCol="0" anchor="ctr"/>
          <a:lstStyle/>
          <a:p>
            <a:pPr marL="0" indent="0">
              <a:lnSpc>
                <a:spcPct val="95000"/>
              </a:lnSpc>
              <a:buNone/>
            </a:pPr>
            <a:r>
              <a:rPr lang="en-US" sz="1250" b="1" dirty="0">
                <a:solidFill>
                  <a:srgbClr val="FFFFFF"/>
                </a:solidFill>
                <a:latin typeface="Calibri" pitchFamily="34" charset="0"/>
                <a:ea typeface="Calibri" pitchFamily="34" charset="-122"/>
                <a:cs typeface="Calibri" pitchFamily="34" charset="-120"/>
              </a:rPr>
              <a:t>Mira Reporting Agent</a:t>
            </a:r>
            <a:endParaRPr lang="en-US" sz="1250" dirty="0"/>
          </a:p>
        </p:txBody>
      </p:sp>
      <p:sp>
        <p:nvSpPr>
          <p:cNvPr id="31" name="Text 29"/>
          <p:cNvSpPr/>
          <p:nvPr/>
        </p:nvSpPr>
        <p:spPr>
          <a:xfrm>
            <a:off x="7487107" y="2926080"/>
            <a:ext cx="1642262" cy="3108960"/>
          </a:xfrm>
          <a:prstGeom prst="rect">
            <a:avLst/>
          </a:prstGeom>
          <a:noFill/>
          <a:ln/>
        </p:spPr>
        <p:txBody>
          <a:bodyPr wrap="square" rtlCol="0" anchor="ctr"/>
          <a:lstStyle/>
          <a:p>
            <a:pPr marL="0" indent="0">
              <a:lnSpc>
                <a:spcPct val="125000"/>
              </a:lnSpc>
              <a:buNone/>
            </a:pPr>
            <a:r>
              <a:rPr lang="en-US" sz="1100" dirty="0">
                <a:solidFill>
                  <a:srgbClr val="1C2733"/>
                </a:solidFill>
                <a:latin typeface="Calibri" pitchFamily="34" charset="0"/>
                <a:ea typeface="Calibri" pitchFamily="34" charset="-122"/>
                <a:cs typeface="Calibri" pitchFamily="34" charset="-120"/>
              </a:rPr>
              <a:t>The OpenAI chat model synthesizes board metrics into a clean, executive-ready HTML email report.</a:t>
            </a:r>
            <a:endParaRPr lang="en-US" sz="1100" dirty="0"/>
          </a:p>
        </p:txBody>
      </p:sp>
      <p:sp>
        <p:nvSpPr>
          <p:cNvPr id="32" name="Shape 30"/>
          <p:cNvSpPr/>
          <p:nvPr/>
        </p:nvSpPr>
        <p:spPr>
          <a:xfrm>
            <a:off x="9312250" y="3973068"/>
            <a:ext cx="219456" cy="237744"/>
          </a:xfrm>
          <a:prstGeom prst="rightArrow">
            <a:avLst/>
          </a:prstGeom>
          <a:solidFill>
            <a:srgbClr val="5D6B7A"/>
          </a:solidFill>
          <a:ln/>
        </p:spPr>
      </p:sp>
      <p:sp>
        <p:nvSpPr>
          <p:cNvPr id="33" name="Shape 31"/>
          <p:cNvSpPr/>
          <p:nvPr/>
        </p:nvSpPr>
        <p:spPr>
          <a:xfrm>
            <a:off x="9549994" y="1965960"/>
            <a:ext cx="1971446" cy="4251960"/>
          </a:xfrm>
          <a:prstGeom prst="roundRect">
            <a:avLst>
              <a:gd name="adj" fmla="val 3711"/>
            </a:avLst>
          </a:prstGeom>
          <a:solidFill>
            <a:srgbClr val="F4F6F9"/>
          </a:solidFill>
          <a:ln w="12700">
            <a:solidFill>
              <a:srgbClr val="E1E6ED"/>
            </a:solidFill>
            <a:prstDash val="solid"/>
          </a:ln>
        </p:spPr>
      </p:sp>
      <p:sp>
        <p:nvSpPr>
          <p:cNvPr id="34" name="Shape 32"/>
          <p:cNvSpPr/>
          <p:nvPr/>
        </p:nvSpPr>
        <p:spPr>
          <a:xfrm>
            <a:off x="9549994" y="1965960"/>
            <a:ext cx="1971446" cy="777240"/>
          </a:xfrm>
          <a:prstGeom prst="roundRect">
            <a:avLst>
              <a:gd name="adj" fmla="val 9412"/>
            </a:avLst>
          </a:prstGeom>
          <a:solidFill>
            <a:srgbClr val="D98E2B"/>
          </a:solidFill>
          <a:ln/>
        </p:spPr>
      </p:sp>
      <p:sp>
        <p:nvSpPr>
          <p:cNvPr id="35" name="Shape 33"/>
          <p:cNvSpPr/>
          <p:nvPr/>
        </p:nvSpPr>
        <p:spPr>
          <a:xfrm>
            <a:off x="9549994" y="2350008"/>
            <a:ext cx="1971446" cy="393192"/>
          </a:xfrm>
          <a:prstGeom prst="rect">
            <a:avLst/>
          </a:prstGeom>
          <a:solidFill>
            <a:srgbClr val="D98E2B"/>
          </a:solidFill>
          <a:ln/>
        </p:spPr>
      </p:sp>
      <p:sp>
        <p:nvSpPr>
          <p:cNvPr id="36" name="Text 34"/>
          <p:cNvSpPr/>
          <p:nvPr/>
        </p:nvSpPr>
        <p:spPr>
          <a:xfrm>
            <a:off x="9714586" y="2084832"/>
            <a:ext cx="1642262" cy="256032"/>
          </a:xfrm>
          <a:prstGeom prst="rect">
            <a:avLst/>
          </a:prstGeom>
          <a:noFill/>
          <a:ln/>
        </p:spPr>
        <p:txBody>
          <a:bodyPr wrap="square" rtlCol="0" anchor="ctr"/>
          <a:lstStyle/>
          <a:p>
            <a:pPr marL="0" indent="0">
              <a:buNone/>
            </a:pPr>
            <a:r>
              <a:rPr lang="en-US" sz="1050" b="1" kern="0" spc="100" dirty="0">
                <a:solidFill>
                  <a:srgbClr val="FFFFFF"/>
                </a:solidFill>
                <a:latin typeface="Calibri" pitchFamily="34" charset="0"/>
                <a:ea typeface="Calibri" pitchFamily="34" charset="-122"/>
                <a:cs typeface="Calibri" pitchFamily="34" charset="-120"/>
              </a:rPr>
              <a:t>STEP 5</a:t>
            </a:r>
            <a:endParaRPr lang="en-US" sz="1050" dirty="0"/>
          </a:p>
        </p:txBody>
      </p:sp>
      <p:sp>
        <p:nvSpPr>
          <p:cNvPr id="37" name="Text 35"/>
          <p:cNvSpPr/>
          <p:nvPr/>
        </p:nvSpPr>
        <p:spPr>
          <a:xfrm>
            <a:off x="9714586" y="2313432"/>
            <a:ext cx="1642262" cy="384048"/>
          </a:xfrm>
          <a:prstGeom prst="rect">
            <a:avLst/>
          </a:prstGeom>
          <a:noFill/>
          <a:ln/>
        </p:spPr>
        <p:txBody>
          <a:bodyPr wrap="square" rtlCol="0" anchor="ctr"/>
          <a:lstStyle/>
          <a:p>
            <a:pPr marL="0" indent="0">
              <a:lnSpc>
                <a:spcPct val="95000"/>
              </a:lnSpc>
              <a:buNone/>
            </a:pPr>
            <a:r>
              <a:rPr lang="en-US" sz="1250" b="1" dirty="0">
                <a:solidFill>
                  <a:srgbClr val="FFFFFF"/>
                </a:solidFill>
                <a:latin typeface="Calibri" pitchFamily="34" charset="0"/>
                <a:ea typeface="Calibri" pitchFamily="34" charset="-122"/>
                <a:cs typeface="Calibri" pitchFamily="34" charset="-120"/>
              </a:rPr>
              <a:t>Automated Delivery</a:t>
            </a:r>
            <a:endParaRPr lang="en-US" sz="1250" dirty="0"/>
          </a:p>
        </p:txBody>
      </p:sp>
      <p:sp>
        <p:nvSpPr>
          <p:cNvPr id="38" name="Text 36"/>
          <p:cNvSpPr/>
          <p:nvPr/>
        </p:nvSpPr>
        <p:spPr>
          <a:xfrm>
            <a:off x="9714586" y="2926080"/>
            <a:ext cx="1642262" cy="3108960"/>
          </a:xfrm>
          <a:prstGeom prst="rect">
            <a:avLst/>
          </a:prstGeom>
          <a:noFill/>
          <a:ln/>
        </p:spPr>
        <p:txBody>
          <a:bodyPr wrap="square" rtlCol="0" anchor="ctr"/>
          <a:lstStyle/>
          <a:p>
            <a:pPr marL="0" indent="0">
              <a:lnSpc>
                <a:spcPct val="125000"/>
              </a:lnSpc>
              <a:buNone/>
            </a:pPr>
            <a:r>
              <a:rPr lang="en-US" sz="1100" dirty="0">
                <a:solidFill>
                  <a:srgbClr val="1C2733"/>
                </a:solidFill>
                <a:latin typeface="Calibri" pitchFamily="34" charset="0"/>
                <a:ea typeface="Calibri" pitchFamily="34" charset="-122"/>
                <a:cs typeface="Calibri" pitchFamily="34" charset="-120"/>
              </a:rPr>
              <a:t>A Gmail node transmits the formatted status report directly to leadership and client stakeholders.</a:t>
            </a:r>
            <a:endParaRPr lang="en-US" sz="1100" dirty="0"/>
          </a:p>
        </p:txBody>
      </p:sp>
      <p:sp>
        <p:nvSpPr>
          <p:cNvPr id="39" name="Text 37"/>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MIRA — Multi-Agent PMO Orchestrator</a:t>
            </a:r>
            <a:endParaRPr lang="en-US" sz="900" dirty="0"/>
          </a:p>
        </p:txBody>
      </p:sp>
      <p:sp>
        <p:nvSpPr>
          <p:cNvPr id="40" name="Text 38"/>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D6B7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rtlCol="0" anchor="ctr"/>
          <a:lstStyle/>
          <a:p>
            <a:pPr marL="0" indent="0" algn="l">
              <a:buNone/>
            </a:pPr>
            <a:r>
              <a:rPr lang="en-US" sz="1250" b="1" kern="0" spc="200" dirty="0">
                <a:solidFill>
                  <a:srgbClr val="3E6B8A"/>
                </a:solidFill>
                <a:latin typeface="Calibri" pitchFamily="34" charset="0"/>
                <a:ea typeface="Calibri" pitchFamily="34" charset="-122"/>
                <a:cs typeface="Calibri" pitchFamily="34" charset="-120"/>
              </a:rPr>
              <a:t>ENGINEERING UNDER FIRE</a:t>
            </a:r>
            <a:endParaRPr lang="en-US" sz="1250" dirty="0"/>
          </a:p>
        </p:txBody>
      </p:sp>
      <p:sp>
        <p:nvSpPr>
          <p:cNvPr id="3" name="Text 1"/>
          <p:cNvSpPr/>
          <p:nvPr/>
        </p:nvSpPr>
        <p:spPr>
          <a:xfrm>
            <a:off x="640080" y="658368"/>
            <a:ext cx="10607040" cy="658368"/>
          </a:xfrm>
          <a:prstGeom prst="rect">
            <a:avLst/>
          </a:prstGeom>
          <a:noFill/>
          <a:ln/>
        </p:spPr>
        <p:txBody>
          <a:bodyPr wrap="square" rtlCol="0" anchor="ctr"/>
          <a:lstStyle/>
          <a:p>
            <a:pPr marL="0" indent="0" algn="l">
              <a:buNone/>
            </a:pPr>
            <a:r>
              <a:rPr lang="en-US" sz="3200" b="1" dirty="0">
                <a:solidFill>
                  <a:srgbClr val="1B2F4E"/>
                </a:solidFill>
                <a:latin typeface="Cambria" pitchFamily="34" charset="0"/>
                <a:ea typeface="Cambria" pitchFamily="34" charset="-122"/>
                <a:cs typeface="Cambria" pitchFamily="34" charset="-120"/>
              </a:rPr>
              <a:t>From Prototype to Production</a:t>
            </a:r>
            <a:endParaRPr lang="en-US" sz="3200" dirty="0"/>
          </a:p>
        </p:txBody>
      </p:sp>
      <p:sp>
        <p:nvSpPr>
          <p:cNvPr id="4" name="Text 2"/>
          <p:cNvSpPr/>
          <p:nvPr/>
        </p:nvSpPr>
        <p:spPr>
          <a:xfrm>
            <a:off x="640080" y="1298448"/>
            <a:ext cx="10607040" cy="457200"/>
          </a:xfrm>
          <a:prstGeom prst="rect">
            <a:avLst/>
          </a:prstGeom>
          <a:noFill/>
          <a:ln/>
        </p:spPr>
        <p:txBody>
          <a:bodyPr wrap="square" rtlCol="0" anchor="ctr"/>
          <a:lstStyle/>
          <a:p>
            <a:pPr marL="0" indent="0">
              <a:buNone/>
            </a:pPr>
            <a:r>
              <a:rPr lang="en-US" sz="1300" dirty="0">
                <a:solidFill>
                  <a:srgbClr val="5D6B7A"/>
                </a:solidFill>
                <a:latin typeface="Calibri" pitchFamily="34" charset="0"/>
                <a:ea typeface="Calibri" pitchFamily="34" charset="-122"/>
                <a:cs typeface="Calibri" pitchFamily="34" charset="-120"/>
              </a:rPr>
              <a:t>Production testing surfaced three real failure modes invisible in prompt-only testing. Each fix changed how the pipeline is built, not just its prompt.</a:t>
            </a:r>
            <a:endParaRPr lang="en-US" sz="1300" dirty="0"/>
          </a:p>
        </p:txBody>
      </p:sp>
      <p:sp>
        <p:nvSpPr>
          <p:cNvPr id="5" name="Shape 3"/>
          <p:cNvSpPr/>
          <p:nvPr/>
        </p:nvSpPr>
        <p:spPr>
          <a:xfrm>
            <a:off x="640080" y="2103120"/>
            <a:ext cx="3502152" cy="4160520"/>
          </a:xfrm>
          <a:prstGeom prst="roundRect">
            <a:avLst>
              <a:gd name="adj" fmla="val 2089"/>
            </a:avLst>
          </a:prstGeom>
          <a:solidFill>
            <a:srgbClr val="F4F6F9"/>
          </a:solidFill>
          <a:ln w="12700">
            <a:solidFill>
              <a:srgbClr val="E1E6ED"/>
            </a:solidFill>
            <a:prstDash val="solid"/>
          </a:ln>
        </p:spPr>
      </p:sp>
      <p:sp>
        <p:nvSpPr>
          <p:cNvPr id="6" name="Shape 4"/>
          <p:cNvSpPr/>
          <p:nvPr/>
        </p:nvSpPr>
        <p:spPr>
          <a:xfrm>
            <a:off x="841248" y="2304288"/>
            <a:ext cx="3099816" cy="457200"/>
          </a:xfrm>
          <a:prstGeom prst="roundRect">
            <a:avLst>
              <a:gd name="adj" fmla="val 10000"/>
            </a:avLst>
          </a:prstGeom>
          <a:solidFill>
            <a:srgbClr val="B84A3E"/>
          </a:solidFill>
          <a:ln/>
        </p:spPr>
      </p:sp>
      <p:sp>
        <p:nvSpPr>
          <p:cNvPr id="7" name="Text 5"/>
          <p:cNvSpPr/>
          <p:nvPr/>
        </p:nvSpPr>
        <p:spPr>
          <a:xfrm>
            <a:off x="841248" y="2304288"/>
            <a:ext cx="1188720" cy="45720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ISSUE 1</a:t>
            </a:r>
            <a:endParaRPr lang="en-US" sz="1000" dirty="0"/>
          </a:p>
        </p:txBody>
      </p:sp>
      <p:sp>
        <p:nvSpPr>
          <p:cNvPr id="8" name="Text 6"/>
          <p:cNvSpPr/>
          <p:nvPr/>
        </p:nvSpPr>
        <p:spPr>
          <a:xfrm>
            <a:off x="841248" y="2880360"/>
            <a:ext cx="3099816" cy="502920"/>
          </a:xfrm>
          <a:prstGeom prst="rect">
            <a:avLst/>
          </a:prstGeom>
          <a:noFill/>
          <a:ln/>
        </p:spPr>
        <p:txBody>
          <a:bodyPr wrap="square" rtlCol="0" anchor="ctr"/>
          <a:lstStyle/>
          <a:p>
            <a:pPr marL="0" indent="0">
              <a:lnSpc>
                <a:spcPct val="95000"/>
              </a:lnSpc>
              <a:buNone/>
            </a:pPr>
            <a:r>
              <a:rPr lang="en-US" sz="1500" b="1" dirty="0">
                <a:solidFill>
                  <a:srgbClr val="1B2F4E"/>
                </a:solidFill>
                <a:latin typeface="Calibri" pitchFamily="34" charset="0"/>
                <a:ea typeface="Calibri" pitchFamily="34" charset="-122"/>
                <a:cs typeface="Calibri" pitchFamily="34" charset="-120"/>
              </a:rPr>
              <a:t>Silent Data Loss</a:t>
            </a:r>
            <a:endParaRPr lang="en-US" sz="1500" dirty="0"/>
          </a:p>
        </p:txBody>
      </p:sp>
      <p:sp>
        <p:nvSpPr>
          <p:cNvPr id="9" name="Text 7"/>
          <p:cNvSpPr/>
          <p:nvPr/>
        </p:nvSpPr>
        <p:spPr>
          <a:xfrm>
            <a:off x="841248" y="3456432"/>
            <a:ext cx="3099816" cy="228600"/>
          </a:xfrm>
          <a:prstGeom prst="rect">
            <a:avLst/>
          </a:prstGeom>
          <a:noFill/>
          <a:ln/>
        </p:spPr>
        <p:txBody>
          <a:bodyPr wrap="square" rtlCol="0" anchor="ctr"/>
          <a:lstStyle/>
          <a:p>
            <a:pPr marL="0" indent="0">
              <a:buNone/>
            </a:pPr>
            <a:r>
              <a:rPr lang="en-US" sz="950" b="1" kern="0" spc="50" dirty="0">
                <a:solidFill>
                  <a:srgbClr val="B84A3E"/>
                </a:solidFill>
                <a:latin typeface="Calibri" pitchFamily="34" charset="0"/>
                <a:ea typeface="Calibri" pitchFamily="34" charset="-122"/>
                <a:cs typeface="Calibri" pitchFamily="34" charset="-120"/>
              </a:rPr>
              <a:t>ROOT CAUSE</a:t>
            </a:r>
            <a:endParaRPr lang="en-US" sz="950" dirty="0"/>
          </a:p>
        </p:txBody>
      </p:sp>
      <p:sp>
        <p:nvSpPr>
          <p:cNvPr id="10" name="Text 8"/>
          <p:cNvSpPr/>
          <p:nvPr/>
        </p:nvSpPr>
        <p:spPr>
          <a:xfrm>
            <a:off x="841248" y="3694176"/>
            <a:ext cx="3099816" cy="1234440"/>
          </a:xfrm>
          <a:prstGeom prst="rect">
            <a:avLst/>
          </a:prstGeom>
          <a:noFill/>
          <a:ln/>
        </p:spPr>
        <p:txBody>
          <a:bodyPr wrap="square" rtlCol="0" anchor="ctr"/>
          <a:lstStyle/>
          <a:p>
            <a:pPr marL="0" indent="0">
              <a:lnSpc>
                <a:spcPct val="115000"/>
              </a:lnSpc>
              <a:buNone/>
            </a:pPr>
            <a:r>
              <a:rPr lang="en-US" sz="1000" dirty="0">
                <a:solidFill>
                  <a:srgbClr val="1C2733"/>
                </a:solidFill>
                <a:latin typeface="Calibri" pitchFamily="34" charset="0"/>
                <a:ea typeface="Calibri" pitchFamily="34" charset="-122"/>
                <a:cs typeface="Calibri" pitchFamily="34" charset="-120"/>
              </a:rPr>
              <a:t>RTF parsing silently dropped 4 of 10 risk-register rows before the data ever reached the AI agent — a plausible but incomplete plan, with no error thrown.</a:t>
            </a:r>
            <a:endParaRPr lang="en-US" sz="1000" dirty="0"/>
          </a:p>
        </p:txBody>
      </p:sp>
      <p:sp>
        <p:nvSpPr>
          <p:cNvPr id="11" name="Text 9"/>
          <p:cNvSpPr/>
          <p:nvPr/>
        </p:nvSpPr>
        <p:spPr>
          <a:xfrm>
            <a:off x="841248" y="4956048"/>
            <a:ext cx="3099816" cy="228600"/>
          </a:xfrm>
          <a:prstGeom prst="rect">
            <a:avLst/>
          </a:prstGeom>
          <a:noFill/>
          <a:ln/>
        </p:spPr>
        <p:txBody>
          <a:bodyPr wrap="square" rtlCol="0" anchor="ctr"/>
          <a:lstStyle/>
          <a:p>
            <a:pPr marL="0" indent="0">
              <a:buNone/>
            </a:pPr>
            <a:r>
              <a:rPr lang="en-US" sz="950" b="1" kern="0" spc="50" dirty="0">
                <a:solidFill>
                  <a:srgbClr val="3E8E63"/>
                </a:solidFill>
                <a:latin typeface="Calibri" pitchFamily="34" charset="0"/>
                <a:ea typeface="Calibri" pitchFamily="34" charset="-122"/>
                <a:cs typeface="Calibri" pitchFamily="34" charset="-120"/>
              </a:rPr>
              <a:t>THE FIX</a:t>
            </a:r>
            <a:endParaRPr lang="en-US" sz="950" dirty="0"/>
          </a:p>
        </p:txBody>
      </p:sp>
      <p:sp>
        <p:nvSpPr>
          <p:cNvPr id="12" name="Text 10"/>
          <p:cNvSpPr/>
          <p:nvPr/>
        </p:nvSpPr>
        <p:spPr>
          <a:xfrm>
            <a:off x="841248" y="5193792"/>
            <a:ext cx="3099816" cy="1005840"/>
          </a:xfrm>
          <a:prstGeom prst="rect">
            <a:avLst/>
          </a:prstGeom>
          <a:noFill/>
          <a:ln/>
        </p:spPr>
        <p:txBody>
          <a:bodyPr wrap="square" rtlCol="0" anchor="ctr"/>
          <a:lstStyle/>
          <a:p>
            <a:pPr marL="0" indent="0">
              <a:lnSpc>
                <a:spcPct val="115000"/>
              </a:lnSpc>
              <a:buNone/>
            </a:pPr>
            <a:r>
              <a:rPr lang="en-US" sz="1000" dirty="0">
                <a:solidFill>
                  <a:srgbClr val="5D6B7A"/>
                </a:solidFill>
                <a:latin typeface="Calibri" pitchFamily="34" charset="0"/>
                <a:ea typeface="Calibri" pitchFamily="34" charset="-122"/>
                <a:cs typeface="Calibri" pitchFamily="34" charset="-120"/>
              </a:rPr>
              <a:t>Switched to native DOCX extraction and added a sanity-check node that flags any item-count mismatch at the extraction boundary.</a:t>
            </a:r>
            <a:endParaRPr lang="en-US" sz="1000" dirty="0"/>
          </a:p>
        </p:txBody>
      </p:sp>
      <p:sp>
        <p:nvSpPr>
          <p:cNvPr id="13" name="Shape 11"/>
          <p:cNvSpPr/>
          <p:nvPr/>
        </p:nvSpPr>
        <p:spPr>
          <a:xfrm>
            <a:off x="4398264" y="2103120"/>
            <a:ext cx="3502152" cy="4160520"/>
          </a:xfrm>
          <a:prstGeom prst="roundRect">
            <a:avLst>
              <a:gd name="adj" fmla="val 2089"/>
            </a:avLst>
          </a:prstGeom>
          <a:solidFill>
            <a:srgbClr val="F4F6F9"/>
          </a:solidFill>
          <a:ln w="12700">
            <a:solidFill>
              <a:srgbClr val="E1E6ED"/>
            </a:solidFill>
            <a:prstDash val="solid"/>
          </a:ln>
        </p:spPr>
      </p:sp>
      <p:sp>
        <p:nvSpPr>
          <p:cNvPr id="14" name="Shape 12"/>
          <p:cNvSpPr/>
          <p:nvPr/>
        </p:nvSpPr>
        <p:spPr>
          <a:xfrm>
            <a:off x="4599432" y="2304288"/>
            <a:ext cx="3099816" cy="457200"/>
          </a:xfrm>
          <a:prstGeom prst="roundRect">
            <a:avLst>
              <a:gd name="adj" fmla="val 10000"/>
            </a:avLst>
          </a:prstGeom>
          <a:solidFill>
            <a:srgbClr val="3E6B8A"/>
          </a:solidFill>
          <a:ln/>
        </p:spPr>
      </p:sp>
      <p:sp>
        <p:nvSpPr>
          <p:cNvPr id="15" name="Text 13"/>
          <p:cNvSpPr/>
          <p:nvPr/>
        </p:nvSpPr>
        <p:spPr>
          <a:xfrm>
            <a:off x="4599432" y="2304288"/>
            <a:ext cx="1188720" cy="45720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ISSUE 2</a:t>
            </a:r>
            <a:endParaRPr lang="en-US" sz="1000" dirty="0"/>
          </a:p>
        </p:txBody>
      </p:sp>
      <p:sp>
        <p:nvSpPr>
          <p:cNvPr id="16" name="Text 14"/>
          <p:cNvSpPr/>
          <p:nvPr/>
        </p:nvSpPr>
        <p:spPr>
          <a:xfrm>
            <a:off x="4599432" y="2880360"/>
            <a:ext cx="3099816" cy="502920"/>
          </a:xfrm>
          <a:prstGeom prst="rect">
            <a:avLst/>
          </a:prstGeom>
          <a:noFill/>
          <a:ln/>
        </p:spPr>
        <p:txBody>
          <a:bodyPr wrap="square" rtlCol="0" anchor="ctr"/>
          <a:lstStyle/>
          <a:p>
            <a:pPr marL="0" indent="0">
              <a:lnSpc>
                <a:spcPct val="95000"/>
              </a:lnSpc>
              <a:buNone/>
            </a:pPr>
            <a:r>
              <a:rPr lang="en-US" sz="1500" b="1" dirty="0">
                <a:solidFill>
                  <a:srgbClr val="1B2F4E"/>
                </a:solidFill>
                <a:latin typeface="Calibri" pitchFamily="34" charset="0"/>
                <a:ea typeface="Calibri" pitchFamily="34" charset="-122"/>
                <a:cs typeface="Calibri" pitchFamily="34" charset="-120"/>
              </a:rPr>
              <a:t>Prompt Interference</a:t>
            </a:r>
            <a:endParaRPr lang="en-US" sz="1500" dirty="0"/>
          </a:p>
        </p:txBody>
      </p:sp>
      <p:sp>
        <p:nvSpPr>
          <p:cNvPr id="17" name="Text 15"/>
          <p:cNvSpPr/>
          <p:nvPr/>
        </p:nvSpPr>
        <p:spPr>
          <a:xfrm>
            <a:off x="4599432" y="3456432"/>
            <a:ext cx="3099816" cy="228600"/>
          </a:xfrm>
          <a:prstGeom prst="rect">
            <a:avLst/>
          </a:prstGeom>
          <a:noFill/>
          <a:ln/>
        </p:spPr>
        <p:txBody>
          <a:bodyPr wrap="square" rtlCol="0" anchor="ctr"/>
          <a:lstStyle/>
          <a:p>
            <a:pPr marL="0" indent="0">
              <a:buNone/>
            </a:pPr>
            <a:r>
              <a:rPr lang="en-US" sz="950" b="1" kern="0" spc="50" dirty="0">
                <a:solidFill>
                  <a:srgbClr val="3E6B8A"/>
                </a:solidFill>
                <a:latin typeface="Calibri" pitchFamily="34" charset="0"/>
                <a:ea typeface="Calibri" pitchFamily="34" charset="-122"/>
                <a:cs typeface="Calibri" pitchFamily="34" charset="-120"/>
              </a:rPr>
              <a:t>ROOT CAUSE</a:t>
            </a:r>
            <a:endParaRPr lang="en-US" sz="950" dirty="0"/>
          </a:p>
        </p:txBody>
      </p:sp>
      <p:sp>
        <p:nvSpPr>
          <p:cNvPr id="18" name="Text 16"/>
          <p:cNvSpPr/>
          <p:nvPr/>
        </p:nvSpPr>
        <p:spPr>
          <a:xfrm>
            <a:off x="4599432" y="3694176"/>
            <a:ext cx="3099816" cy="1234440"/>
          </a:xfrm>
          <a:prstGeom prst="rect">
            <a:avLst/>
          </a:prstGeom>
          <a:noFill/>
          <a:ln/>
        </p:spPr>
        <p:txBody>
          <a:bodyPr wrap="square" rtlCol="0" anchor="ctr"/>
          <a:lstStyle/>
          <a:p>
            <a:pPr marL="0" indent="0">
              <a:lnSpc>
                <a:spcPct val="115000"/>
              </a:lnSpc>
              <a:buNone/>
            </a:pPr>
            <a:r>
              <a:rPr lang="en-US" sz="1000" dirty="0">
                <a:solidFill>
                  <a:srgbClr val="1C2733"/>
                </a:solidFill>
                <a:latin typeface="Calibri" pitchFamily="34" charset="0"/>
                <a:ea typeface="Calibri" pitchFamily="34" charset="-122"/>
                <a:cs typeface="Calibri" pitchFamily="34" charset="-120"/>
              </a:rPr>
              <a:t>Both triggers — manual plan generation and the scheduled Trello report — fed a single shared AI Agent node, so one capability's instructions bled into the other.</a:t>
            </a:r>
            <a:endParaRPr lang="en-US" sz="1000" dirty="0"/>
          </a:p>
        </p:txBody>
      </p:sp>
      <p:sp>
        <p:nvSpPr>
          <p:cNvPr id="19" name="Text 17"/>
          <p:cNvSpPr/>
          <p:nvPr/>
        </p:nvSpPr>
        <p:spPr>
          <a:xfrm>
            <a:off x="4599432" y="4956048"/>
            <a:ext cx="3099816" cy="228600"/>
          </a:xfrm>
          <a:prstGeom prst="rect">
            <a:avLst/>
          </a:prstGeom>
          <a:noFill/>
          <a:ln/>
        </p:spPr>
        <p:txBody>
          <a:bodyPr wrap="square" rtlCol="0" anchor="ctr"/>
          <a:lstStyle/>
          <a:p>
            <a:pPr marL="0" indent="0">
              <a:buNone/>
            </a:pPr>
            <a:r>
              <a:rPr lang="en-US" sz="950" b="1" kern="0" spc="50" dirty="0">
                <a:solidFill>
                  <a:srgbClr val="3E8E63"/>
                </a:solidFill>
                <a:latin typeface="Calibri" pitchFamily="34" charset="0"/>
                <a:ea typeface="Calibri" pitchFamily="34" charset="-122"/>
                <a:cs typeface="Calibri" pitchFamily="34" charset="-120"/>
              </a:rPr>
              <a:t>THE FIX</a:t>
            </a:r>
            <a:endParaRPr lang="en-US" sz="950" dirty="0"/>
          </a:p>
        </p:txBody>
      </p:sp>
      <p:sp>
        <p:nvSpPr>
          <p:cNvPr id="20" name="Text 18"/>
          <p:cNvSpPr/>
          <p:nvPr/>
        </p:nvSpPr>
        <p:spPr>
          <a:xfrm>
            <a:off x="4599432" y="5193792"/>
            <a:ext cx="3099816" cy="1005840"/>
          </a:xfrm>
          <a:prstGeom prst="rect">
            <a:avLst/>
          </a:prstGeom>
          <a:noFill/>
          <a:ln/>
        </p:spPr>
        <p:txBody>
          <a:bodyPr wrap="square" rtlCol="0" anchor="ctr"/>
          <a:lstStyle/>
          <a:p>
            <a:pPr marL="0" indent="0">
              <a:lnSpc>
                <a:spcPct val="115000"/>
              </a:lnSpc>
              <a:buNone/>
            </a:pPr>
            <a:r>
              <a:rPr lang="en-US" sz="1000" dirty="0">
                <a:solidFill>
                  <a:srgbClr val="5D6B7A"/>
                </a:solidFill>
                <a:latin typeface="Calibri" pitchFamily="34" charset="0"/>
                <a:ea typeface="Calibri" pitchFamily="34" charset="-122"/>
                <a:cs typeface="Calibri" pitchFamily="34" charset="-120"/>
              </a:rPr>
              <a:t>Split into two dedicated AI Agent nodes, each with an isolated system prompt scoped to exactly one capability.</a:t>
            </a:r>
            <a:endParaRPr lang="en-US" sz="1000" dirty="0"/>
          </a:p>
        </p:txBody>
      </p:sp>
      <p:sp>
        <p:nvSpPr>
          <p:cNvPr id="21" name="Shape 19"/>
          <p:cNvSpPr/>
          <p:nvPr/>
        </p:nvSpPr>
        <p:spPr>
          <a:xfrm>
            <a:off x="8156448" y="2103120"/>
            <a:ext cx="3502152" cy="4160520"/>
          </a:xfrm>
          <a:prstGeom prst="roundRect">
            <a:avLst>
              <a:gd name="adj" fmla="val 2089"/>
            </a:avLst>
          </a:prstGeom>
          <a:solidFill>
            <a:srgbClr val="F4F6F9"/>
          </a:solidFill>
          <a:ln w="12700">
            <a:solidFill>
              <a:srgbClr val="E1E6ED"/>
            </a:solidFill>
            <a:prstDash val="solid"/>
          </a:ln>
        </p:spPr>
      </p:sp>
      <p:sp>
        <p:nvSpPr>
          <p:cNvPr id="22" name="Shape 20"/>
          <p:cNvSpPr/>
          <p:nvPr/>
        </p:nvSpPr>
        <p:spPr>
          <a:xfrm>
            <a:off x="8357616" y="2304288"/>
            <a:ext cx="3099816" cy="457200"/>
          </a:xfrm>
          <a:prstGeom prst="roundRect">
            <a:avLst>
              <a:gd name="adj" fmla="val 10000"/>
            </a:avLst>
          </a:prstGeom>
          <a:solidFill>
            <a:srgbClr val="D98E2B"/>
          </a:solidFill>
          <a:ln/>
        </p:spPr>
      </p:sp>
      <p:sp>
        <p:nvSpPr>
          <p:cNvPr id="23" name="Text 21"/>
          <p:cNvSpPr/>
          <p:nvPr/>
        </p:nvSpPr>
        <p:spPr>
          <a:xfrm>
            <a:off x="8357616" y="2304288"/>
            <a:ext cx="1188720" cy="45720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ISSUE 3</a:t>
            </a:r>
            <a:endParaRPr lang="en-US" sz="1000" dirty="0"/>
          </a:p>
        </p:txBody>
      </p:sp>
      <p:sp>
        <p:nvSpPr>
          <p:cNvPr id="24" name="Text 22"/>
          <p:cNvSpPr/>
          <p:nvPr/>
        </p:nvSpPr>
        <p:spPr>
          <a:xfrm>
            <a:off x="8357616" y="2880360"/>
            <a:ext cx="3099816" cy="502920"/>
          </a:xfrm>
          <a:prstGeom prst="rect">
            <a:avLst/>
          </a:prstGeom>
          <a:noFill/>
          <a:ln/>
        </p:spPr>
        <p:txBody>
          <a:bodyPr wrap="square" rtlCol="0" anchor="ctr"/>
          <a:lstStyle/>
          <a:p>
            <a:pPr marL="0" indent="0">
              <a:lnSpc>
                <a:spcPct val="95000"/>
              </a:lnSpc>
              <a:buNone/>
            </a:pPr>
            <a:r>
              <a:rPr lang="en-US" sz="1500" b="1" dirty="0">
                <a:solidFill>
                  <a:srgbClr val="1B2F4E"/>
                </a:solidFill>
                <a:latin typeface="Calibri" pitchFamily="34" charset="0"/>
                <a:ea typeface="Calibri" pitchFamily="34" charset="-122"/>
                <a:cs typeface="Calibri" pitchFamily="34" charset="-120"/>
              </a:rPr>
              <a:t>Report Inaccuracy</a:t>
            </a:r>
            <a:endParaRPr lang="en-US" sz="1500" dirty="0"/>
          </a:p>
        </p:txBody>
      </p:sp>
      <p:sp>
        <p:nvSpPr>
          <p:cNvPr id="25" name="Text 23"/>
          <p:cNvSpPr/>
          <p:nvPr/>
        </p:nvSpPr>
        <p:spPr>
          <a:xfrm>
            <a:off x="8357616" y="3456432"/>
            <a:ext cx="3099816" cy="228600"/>
          </a:xfrm>
          <a:prstGeom prst="rect">
            <a:avLst/>
          </a:prstGeom>
          <a:noFill/>
          <a:ln/>
        </p:spPr>
        <p:txBody>
          <a:bodyPr wrap="square" rtlCol="0" anchor="ctr"/>
          <a:lstStyle/>
          <a:p>
            <a:pPr marL="0" indent="0">
              <a:buNone/>
            </a:pPr>
            <a:r>
              <a:rPr lang="en-US" sz="950" b="1" kern="0" spc="50" dirty="0">
                <a:solidFill>
                  <a:srgbClr val="D98E2B"/>
                </a:solidFill>
                <a:latin typeface="Calibri" pitchFamily="34" charset="0"/>
                <a:ea typeface="Calibri" pitchFamily="34" charset="-122"/>
                <a:cs typeface="Calibri" pitchFamily="34" charset="-120"/>
              </a:rPr>
              <a:t>ROOT CAUSE</a:t>
            </a:r>
            <a:endParaRPr lang="en-US" sz="950" dirty="0"/>
          </a:p>
        </p:txBody>
      </p:sp>
      <p:sp>
        <p:nvSpPr>
          <p:cNvPr id="26" name="Text 24"/>
          <p:cNvSpPr/>
          <p:nvPr/>
        </p:nvSpPr>
        <p:spPr>
          <a:xfrm>
            <a:off x="8357616" y="3694176"/>
            <a:ext cx="3099816" cy="1234440"/>
          </a:xfrm>
          <a:prstGeom prst="rect">
            <a:avLst/>
          </a:prstGeom>
          <a:noFill/>
          <a:ln/>
        </p:spPr>
        <p:txBody>
          <a:bodyPr wrap="square" rtlCol="0" anchor="ctr"/>
          <a:lstStyle/>
          <a:p>
            <a:pPr marL="0" indent="0">
              <a:lnSpc>
                <a:spcPct val="115000"/>
              </a:lnSpc>
              <a:buNone/>
            </a:pPr>
            <a:r>
              <a:rPr lang="en-US" sz="1000" dirty="0">
                <a:solidFill>
                  <a:srgbClr val="1C2733"/>
                </a:solidFill>
                <a:latin typeface="Calibri" pitchFamily="34" charset="0"/>
                <a:ea typeface="Calibri" pitchFamily="34" charset="-122"/>
                <a:cs typeface="Calibri" pitchFamily="34" charset="-120"/>
              </a:rPr>
              <a:t>Five distinct failure modes in the weekly report: cards bucketed by title text instead of list membership, cards silently dropped, a fabricated 'Blocked' row, due-date mismatches, and wrong totals.</a:t>
            </a:r>
            <a:endParaRPr lang="en-US" sz="1000" dirty="0"/>
          </a:p>
        </p:txBody>
      </p:sp>
      <p:sp>
        <p:nvSpPr>
          <p:cNvPr id="27" name="Text 25"/>
          <p:cNvSpPr/>
          <p:nvPr/>
        </p:nvSpPr>
        <p:spPr>
          <a:xfrm>
            <a:off x="8357616" y="4956048"/>
            <a:ext cx="3099816" cy="228600"/>
          </a:xfrm>
          <a:prstGeom prst="rect">
            <a:avLst/>
          </a:prstGeom>
          <a:noFill/>
          <a:ln/>
        </p:spPr>
        <p:txBody>
          <a:bodyPr wrap="square" rtlCol="0" anchor="ctr"/>
          <a:lstStyle/>
          <a:p>
            <a:pPr marL="0" indent="0">
              <a:buNone/>
            </a:pPr>
            <a:r>
              <a:rPr lang="en-US" sz="950" b="1" kern="0" spc="50" dirty="0">
                <a:solidFill>
                  <a:srgbClr val="3E8E63"/>
                </a:solidFill>
                <a:latin typeface="Calibri" pitchFamily="34" charset="0"/>
                <a:ea typeface="Calibri" pitchFamily="34" charset="-122"/>
                <a:cs typeface="Calibri" pitchFamily="34" charset="-120"/>
              </a:rPr>
              <a:t>THE FIX</a:t>
            </a:r>
            <a:endParaRPr lang="en-US" sz="950" dirty="0"/>
          </a:p>
        </p:txBody>
      </p:sp>
      <p:sp>
        <p:nvSpPr>
          <p:cNvPr id="28" name="Text 26"/>
          <p:cNvSpPr/>
          <p:nvPr/>
        </p:nvSpPr>
        <p:spPr>
          <a:xfrm>
            <a:off x="8357616" y="5193792"/>
            <a:ext cx="3099816" cy="1005840"/>
          </a:xfrm>
          <a:prstGeom prst="rect">
            <a:avLst/>
          </a:prstGeom>
          <a:noFill/>
          <a:ln/>
        </p:spPr>
        <p:txBody>
          <a:bodyPr wrap="square" rtlCol="0" anchor="ctr"/>
          <a:lstStyle/>
          <a:p>
            <a:pPr marL="0" indent="0">
              <a:lnSpc>
                <a:spcPct val="115000"/>
              </a:lnSpc>
              <a:buNone/>
            </a:pPr>
            <a:r>
              <a:rPr lang="en-US" sz="1000" dirty="0">
                <a:solidFill>
                  <a:srgbClr val="5D6B7A"/>
                </a:solidFill>
                <a:latin typeface="Calibri" pitchFamily="34" charset="0"/>
                <a:ea typeface="Calibri" pitchFamily="34" charset="-122"/>
                <a:cs typeface="Calibri" pitchFamily="34" charset="-120"/>
              </a:rPr>
              <a:t>Rebuilt the Aggregate node to pass a clean listName field, then enforced strict list-to-bucket mapping, a no-fabrication rule, and a self-check reconciliation step in the agent prompt.</a:t>
            </a:r>
            <a:endParaRPr lang="en-US" sz="1000" dirty="0"/>
          </a:p>
        </p:txBody>
      </p:sp>
      <p:sp>
        <p:nvSpPr>
          <p:cNvPr id="29" name="Text 27"/>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MIRA — Multi-Agent PMO Orchestrator</a:t>
            </a:r>
            <a:endParaRPr lang="en-US" sz="900" dirty="0"/>
          </a:p>
        </p:txBody>
      </p:sp>
      <p:sp>
        <p:nvSpPr>
          <p:cNvPr id="30" name="Text 28"/>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D6B7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rtlCol="0" anchor="ctr"/>
          <a:lstStyle/>
          <a:p>
            <a:pPr marL="0" indent="0" algn="l">
              <a:buNone/>
            </a:pPr>
            <a:r>
              <a:rPr lang="en-US" sz="1250" b="1" kern="0" spc="200" dirty="0">
                <a:solidFill>
                  <a:srgbClr val="3E6B8A"/>
                </a:solidFill>
                <a:latin typeface="Calibri" pitchFamily="34" charset="0"/>
                <a:ea typeface="Calibri" pitchFamily="34" charset="-122"/>
                <a:cs typeface="Calibri" pitchFamily="34" charset="-120"/>
              </a:rPr>
              <a:t>OUTPUT ANALYSIS</a:t>
            </a:r>
            <a:endParaRPr lang="en-US" sz="1250" dirty="0"/>
          </a:p>
        </p:txBody>
      </p:sp>
      <p:sp>
        <p:nvSpPr>
          <p:cNvPr id="3" name="Text 1"/>
          <p:cNvSpPr/>
          <p:nvPr/>
        </p:nvSpPr>
        <p:spPr>
          <a:xfrm>
            <a:off x="640080" y="658368"/>
            <a:ext cx="10607040" cy="658368"/>
          </a:xfrm>
          <a:prstGeom prst="rect">
            <a:avLst/>
          </a:prstGeom>
          <a:noFill/>
          <a:ln/>
        </p:spPr>
        <p:txBody>
          <a:bodyPr wrap="square" rtlCol="0" anchor="ctr"/>
          <a:lstStyle/>
          <a:p>
            <a:pPr marL="0" indent="0" algn="l">
              <a:buNone/>
            </a:pPr>
            <a:r>
              <a:rPr lang="en-US" sz="3200" b="1" dirty="0">
                <a:solidFill>
                  <a:srgbClr val="1B2F4E"/>
                </a:solidFill>
                <a:latin typeface="Cambria" pitchFamily="34" charset="0"/>
                <a:ea typeface="Cambria" pitchFamily="34" charset="-122"/>
                <a:cs typeface="Cambria" pitchFamily="34" charset="-120"/>
              </a:rPr>
              <a:t>What Mira Actually Produces</a:t>
            </a:r>
            <a:endParaRPr lang="en-US" sz="3200" dirty="0"/>
          </a:p>
        </p:txBody>
      </p:sp>
      <p:sp>
        <p:nvSpPr>
          <p:cNvPr id="4" name="Shape 2"/>
          <p:cNvSpPr/>
          <p:nvPr/>
        </p:nvSpPr>
        <p:spPr>
          <a:xfrm>
            <a:off x="640080" y="1417320"/>
            <a:ext cx="5257800" cy="4846320"/>
          </a:xfrm>
          <a:prstGeom prst="roundRect">
            <a:avLst>
              <a:gd name="adj" fmla="val 1509"/>
            </a:avLst>
          </a:prstGeom>
          <a:solidFill>
            <a:srgbClr val="F4F6F9"/>
          </a:solidFill>
          <a:ln w="12700">
            <a:solidFill>
              <a:srgbClr val="E1E6ED"/>
            </a:solidFill>
            <a:prstDash val="solid"/>
          </a:ln>
        </p:spPr>
      </p:sp>
      <p:sp>
        <p:nvSpPr>
          <p:cNvPr id="5" name="Text 3"/>
          <p:cNvSpPr/>
          <p:nvPr/>
        </p:nvSpPr>
        <p:spPr>
          <a:xfrm>
            <a:off x="896112" y="1636776"/>
            <a:ext cx="4745736" cy="411480"/>
          </a:xfrm>
          <a:prstGeom prst="rect">
            <a:avLst/>
          </a:prstGeom>
          <a:noFill/>
          <a:ln/>
        </p:spPr>
        <p:txBody>
          <a:bodyPr wrap="square" rtlCol="0" anchor="ctr"/>
          <a:lstStyle/>
          <a:p>
            <a:pPr marL="0" indent="0">
              <a:lnSpc>
                <a:spcPct val="105000"/>
              </a:lnSpc>
              <a:buNone/>
            </a:pPr>
            <a:r>
              <a:rPr lang="en-US" sz="1150" b="1" dirty="0">
                <a:solidFill>
                  <a:srgbClr val="3E6B8A"/>
                </a:solidFill>
                <a:latin typeface="Calibri" pitchFamily="34" charset="0"/>
                <a:ea typeface="Calibri" pitchFamily="34" charset="-122"/>
                <a:cs typeface="Calibri" pitchFamily="34" charset="-120"/>
              </a:rPr>
              <a:t>GENERATED ARTIFACT — AI ADOPTION PROJECT PLAN</a:t>
            </a:r>
            <a:endParaRPr lang="en-US" sz="1150" dirty="0"/>
          </a:p>
        </p:txBody>
      </p:sp>
      <p:sp>
        <p:nvSpPr>
          <p:cNvPr id="6" name="Shape 4"/>
          <p:cNvSpPr/>
          <p:nvPr/>
        </p:nvSpPr>
        <p:spPr>
          <a:xfrm>
            <a:off x="896112" y="2194560"/>
            <a:ext cx="4745736" cy="457200"/>
          </a:xfrm>
          <a:prstGeom prst="roundRect">
            <a:avLst>
              <a:gd name="adj" fmla="val 10000"/>
            </a:avLst>
          </a:prstGeom>
          <a:solidFill>
            <a:srgbClr val="FFFFFF"/>
          </a:solidFill>
          <a:ln w="12700">
            <a:solidFill>
              <a:srgbClr val="E1E6ED"/>
            </a:solidFill>
            <a:prstDash val="solid"/>
          </a:ln>
        </p:spPr>
      </p:sp>
      <p:sp>
        <p:nvSpPr>
          <p:cNvPr id="7" name="Text 5"/>
          <p:cNvSpPr/>
          <p:nvPr/>
        </p:nvSpPr>
        <p:spPr>
          <a:xfrm>
            <a:off x="1024128" y="2194560"/>
            <a:ext cx="822960" cy="457200"/>
          </a:xfrm>
          <a:prstGeom prst="rect">
            <a:avLst/>
          </a:prstGeom>
          <a:noFill/>
          <a:ln/>
        </p:spPr>
        <p:txBody>
          <a:bodyPr wrap="square" rtlCol="0" anchor="ctr"/>
          <a:lstStyle/>
          <a:p>
            <a:pPr marL="0" indent="0">
              <a:buNone/>
            </a:pPr>
            <a:r>
              <a:rPr lang="en-US" sz="1050" b="1" dirty="0">
                <a:solidFill>
                  <a:srgbClr val="1B2F4E"/>
                </a:solidFill>
                <a:latin typeface="Calibri" pitchFamily="34" charset="0"/>
                <a:ea typeface="Calibri" pitchFamily="34" charset="-122"/>
                <a:cs typeface="Calibri" pitchFamily="34" charset="-120"/>
              </a:rPr>
              <a:t>Phase 1</a:t>
            </a:r>
            <a:endParaRPr lang="en-US" sz="1050" dirty="0"/>
          </a:p>
        </p:txBody>
      </p:sp>
      <p:sp>
        <p:nvSpPr>
          <p:cNvPr id="8" name="Text 6"/>
          <p:cNvSpPr/>
          <p:nvPr/>
        </p:nvSpPr>
        <p:spPr>
          <a:xfrm>
            <a:off x="1874520" y="2194560"/>
            <a:ext cx="3703320" cy="457200"/>
          </a:xfrm>
          <a:prstGeom prst="rect">
            <a:avLst/>
          </a:prstGeom>
          <a:noFill/>
          <a:ln/>
        </p:spPr>
        <p:txBody>
          <a:bodyPr wrap="square" rtlCol="0" anchor="ctr"/>
          <a:lstStyle/>
          <a:p>
            <a:pPr marL="0" indent="0">
              <a:buNone/>
            </a:pPr>
            <a:r>
              <a:rPr lang="en-US" sz="1100" dirty="0">
                <a:solidFill>
                  <a:srgbClr val="1C2733"/>
                </a:solidFill>
                <a:latin typeface="Calibri" pitchFamily="34" charset="0"/>
                <a:ea typeface="Calibri" pitchFamily="34" charset="-122"/>
                <a:cs typeface="Calibri" pitchFamily="34" charset="-120"/>
              </a:rPr>
              <a:t>Discovery &amp; Scope Definition</a:t>
            </a:r>
            <a:endParaRPr lang="en-US" sz="1100" dirty="0"/>
          </a:p>
        </p:txBody>
      </p:sp>
      <p:sp>
        <p:nvSpPr>
          <p:cNvPr id="9" name="Shape 7"/>
          <p:cNvSpPr/>
          <p:nvPr/>
        </p:nvSpPr>
        <p:spPr>
          <a:xfrm>
            <a:off x="896112" y="2761488"/>
            <a:ext cx="4745736" cy="457200"/>
          </a:xfrm>
          <a:prstGeom prst="roundRect">
            <a:avLst>
              <a:gd name="adj" fmla="val 10000"/>
            </a:avLst>
          </a:prstGeom>
          <a:solidFill>
            <a:srgbClr val="FFFFFF"/>
          </a:solidFill>
          <a:ln w="12700">
            <a:solidFill>
              <a:srgbClr val="E1E6ED"/>
            </a:solidFill>
            <a:prstDash val="solid"/>
          </a:ln>
        </p:spPr>
      </p:sp>
      <p:sp>
        <p:nvSpPr>
          <p:cNvPr id="10" name="Text 8"/>
          <p:cNvSpPr/>
          <p:nvPr/>
        </p:nvSpPr>
        <p:spPr>
          <a:xfrm>
            <a:off x="1024128" y="2761488"/>
            <a:ext cx="822960" cy="457200"/>
          </a:xfrm>
          <a:prstGeom prst="rect">
            <a:avLst/>
          </a:prstGeom>
          <a:noFill/>
          <a:ln/>
        </p:spPr>
        <p:txBody>
          <a:bodyPr wrap="square" rtlCol="0" anchor="ctr"/>
          <a:lstStyle/>
          <a:p>
            <a:pPr marL="0" indent="0">
              <a:buNone/>
            </a:pPr>
            <a:r>
              <a:rPr lang="en-US" sz="1050" b="1" dirty="0">
                <a:solidFill>
                  <a:srgbClr val="1B2F4E"/>
                </a:solidFill>
                <a:latin typeface="Calibri" pitchFamily="34" charset="0"/>
                <a:ea typeface="Calibri" pitchFamily="34" charset="-122"/>
                <a:cs typeface="Calibri" pitchFamily="34" charset="-120"/>
              </a:rPr>
              <a:t>Phase 2</a:t>
            </a:r>
            <a:endParaRPr lang="en-US" sz="1050" dirty="0"/>
          </a:p>
        </p:txBody>
      </p:sp>
      <p:sp>
        <p:nvSpPr>
          <p:cNvPr id="11" name="Text 9"/>
          <p:cNvSpPr/>
          <p:nvPr/>
        </p:nvSpPr>
        <p:spPr>
          <a:xfrm>
            <a:off x="1874520" y="2761488"/>
            <a:ext cx="3703320" cy="457200"/>
          </a:xfrm>
          <a:prstGeom prst="rect">
            <a:avLst/>
          </a:prstGeom>
          <a:noFill/>
          <a:ln/>
        </p:spPr>
        <p:txBody>
          <a:bodyPr wrap="square" rtlCol="0" anchor="ctr"/>
          <a:lstStyle/>
          <a:p>
            <a:pPr marL="0" indent="0">
              <a:buNone/>
            </a:pPr>
            <a:r>
              <a:rPr lang="en-US" sz="1100" dirty="0">
                <a:solidFill>
                  <a:srgbClr val="1C2733"/>
                </a:solidFill>
                <a:latin typeface="Calibri" pitchFamily="34" charset="0"/>
                <a:ea typeface="Calibri" pitchFamily="34" charset="-122"/>
                <a:cs typeface="Calibri" pitchFamily="34" charset="-120"/>
              </a:rPr>
              <a:t>Data Pipeline &amp; Model Prep</a:t>
            </a:r>
            <a:endParaRPr lang="en-US" sz="1100" dirty="0"/>
          </a:p>
        </p:txBody>
      </p:sp>
      <p:sp>
        <p:nvSpPr>
          <p:cNvPr id="12" name="Shape 10"/>
          <p:cNvSpPr/>
          <p:nvPr/>
        </p:nvSpPr>
        <p:spPr>
          <a:xfrm>
            <a:off x="896112" y="3328416"/>
            <a:ext cx="4745736" cy="457200"/>
          </a:xfrm>
          <a:prstGeom prst="roundRect">
            <a:avLst>
              <a:gd name="adj" fmla="val 10000"/>
            </a:avLst>
          </a:prstGeom>
          <a:solidFill>
            <a:srgbClr val="FFFFFF"/>
          </a:solidFill>
          <a:ln w="12700">
            <a:solidFill>
              <a:srgbClr val="E1E6ED"/>
            </a:solidFill>
            <a:prstDash val="solid"/>
          </a:ln>
        </p:spPr>
      </p:sp>
      <p:sp>
        <p:nvSpPr>
          <p:cNvPr id="13" name="Text 11"/>
          <p:cNvSpPr/>
          <p:nvPr/>
        </p:nvSpPr>
        <p:spPr>
          <a:xfrm>
            <a:off x="1024128" y="3328416"/>
            <a:ext cx="822960" cy="457200"/>
          </a:xfrm>
          <a:prstGeom prst="rect">
            <a:avLst/>
          </a:prstGeom>
          <a:noFill/>
          <a:ln/>
        </p:spPr>
        <p:txBody>
          <a:bodyPr wrap="square" rtlCol="0" anchor="ctr"/>
          <a:lstStyle/>
          <a:p>
            <a:pPr marL="0" indent="0">
              <a:buNone/>
            </a:pPr>
            <a:r>
              <a:rPr lang="en-US" sz="1050" b="1" dirty="0">
                <a:solidFill>
                  <a:srgbClr val="1B2F4E"/>
                </a:solidFill>
                <a:latin typeface="Calibri" pitchFamily="34" charset="0"/>
                <a:ea typeface="Calibri" pitchFamily="34" charset="-122"/>
                <a:cs typeface="Calibri" pitchFamily="34" charset="-120"/>
              </a:rPr>
              <a:t>Phase 3</a:t>
            </a:r>
            <a:endParaRPr lang="en-US" sz="1050" dirty="0"/>
          </a:p>
        </p:txBody>
      </p:sp>
      <p:sp>
        <p:nvSpPr>
          <p:cNvPr id="14" name="Text 12"/>
          <p:cNvSpPr/>
          <p:nvPr/>
        </p:nvSpPr>
        <p:spPr>
          <a:xfrm>
            <a:off x="1874520" y="3328416"/>
            <a:ext cx="3703320" cy="457200"/>
          </a:xfrm>
          <a:prstGeom prst="rect">
            <a:avLst/>
          </a:prstGeom>
          <a:noFill/>
          <a:ln/>
        </p:spPr>
        <p:txBody>
          <a:bodyPr wrap="square" rtlCol="0" anchor="ctr"/>
          <a:lstStyle/>
          <a:p>
            <a:pPr marL="0" indent="0">
              <a:buNone/>
            </a:pPr>
            <a:r>
              <a:rPr lang="en-US" sz="1100" dirty="0">
                <a:solidFill>
                  <a:srgbClr val="1C2733"/>
                </a:solidFill>
                <a:latin typeface="Calibri" pitchFamily="34" charset="0"/>
                <a:ea typeface="Calibri" pitchFamily="34" charset="-122"/>
                <a:cs typeface="Calibri" pitchFamily="34" charset="-120"/>
              </a:rPr>
              <a:t>Model Design &amp; Development</a:t>
            </a:r>
            <a:endParaRPr lang="en-US" sz="1100" dirty="0"/>
          </a:p>
        </p:txBody>
      </p:sp>
      <p:sp>
        <p:nvSpPr>
          <p:cNvPr id="15" name="Shape 13"/>
          <p:cNvSpPr/>
          <p:nvPr/>
        </p:nvSpPr>
        <p:spPr>
          <a:xfrm>
            <a:off x="896112" y="3895344"/>
            <a:ext cx="4745736" cy="457200"/>
          </a:xfrm>
          <a:prstGeom prst="roundRect">
            <a:avLst>
              <a:gd name="adj" fmla="val 10000"/>
            </a:avLst>
          </a:prstGeom>
          <a:solidFill>
            <a:srgbClr val="FFFFFF"/>
          </a:solidFill>
          <a:ln w="12700">
            <a:solidFill>
              <a:srgbClr val="E1E6ED"/>
            </a:solidFill>
            <a:prstDash val="solid"/>
          </a:ln>
        </p:spPr>
      </p:sp>
      <p:sp>
        <p:nvSpPr>
          <p:cNvPr id="16" name="Text 14"/>
          <p:cNvSpPr/>
          <p:nvPr/>
        </p:nvSpPr>
        <p:spPr>
          <a:xfrm>
            <a:off x="1024128" y="3895344"/>
            <a:ext cx="822960" cy="457200"/>
          </a:xfrm>
          <a:prstGeom prst="rect">
            <a:avLst/>
          </a:prstGeom>
          <a:noFill/>
          <a:ln/>
        </p:spPr>
        <p:txBody>
          <a:bodyPr wrap="square" rtlCol="0" anchor="ctr"/>
          <a:lstStyle/>
          <a:p>
            <a:pPr marL="0" indent="0">
              <a:buNone/>
            </a:pPr>
            <a:r>
              <a:rPr lang="en-US" sz="1050" b="1" dirty="0">
                <a:solidFill>
                  <a:srgbClr val="1B2F4E"/>
                </a:solidFill>
                <a:latin typeface="Calibri" pitchFamily="34" charset="0"/>
                <a:ea typeface="Calibri" pitchFamily="34" charset="-122"/>
                <a:cs typeface="Calibri" pitchFamily="34" charset="-120"/>
              </a:rPr>
              <a:t>Phase 4</a:t>
            </a:r>
            <a:endParaRPr lang="en-US" sz="1050" dirty="0"/>
          </a:p>
        </p:txBody>
      </p:sp>
      <p:sp>
        <p:nvSpPr>
          <p:cNvPr id="17" name="Text 15"/>
          <p:cNvSpPr/>
          <p:nvPr/>
        </p:nvSpPr>
        <p:spPr>
          <a:xfrm>
            <a:off x="1874520" y="3895344"/>
            <a:ext cx="3703320" cy="457200"/>
          </a:xfrm>
          <a:prstGeom prst="rect">
            <a:avLst/>
          </a:prstGeom>
          <a:noFill/>
          <a:ln/>
        </p:spPr>
        <p:txBody>
          <a:bodyPr wrap="square" rtlCol="0" anchor="ctr"/>
          <a:lstStyle/>
          <a:p>
            <a:pPr marL="0" indent="0">
              <a:buNone/>
            </a:pPr>
            <a:r>
              <a:rPr lang="en-US" sz="1100" dirty="0">
                <a:solidFill>
                  <a:srgbClr val="1C2733"/>
                </a:solidFill>
                <a:latin typeface="Calibri" pitchFamily="34" charset="0"/>
                <a:ea typeface="Calibri" pitchFamily="34" charset="-122"/>
                <a:cs typeface="Calibri" pitchFamily="34" charset="-120"/>
              </a:rPr>
              <a:t>Evaluation &amp; Enterprise Scaling</a:t>
            </a:r>
            <a:endParaRPr lang="en-US" sz="1100" dirty="0"/>
          </a:p>
        </p:txBody>
      </p:sp>
      <p:sp>
        <p:nvSpPr>
          <p:cNvPr id="18" name="Text 16"/>
          <p:cNvSpPr/>
          <p:nvPr/>
        </p:nvSpPr>
        <p:spPr>
          <a:xfrm>
            <a:off x="896112" y="4599432"/>
            <a:ext cx="1280160" cy="502920"/>
          </a:xfrm>
          <a:prstGeom prst="rect">
            <a:avLst/>
          </a:prstGeom>
          <a:noFill/>
          <a:ln/>
        </p:spPr>
        <p:txBody>
          <a:bodyPr wrap="square" rtlCol="0" anchor="ctr"/>
          <a:lstStyle/>
          <a:p>
            <a:pPr marL="0" indent="0">
              <a:buNone/>
            </a:pPr>
            <a:r>
              <a:rPr lang="en-US" sz="2000" b="1" dirty="0">
                <a:solidFill>
                  <a:srgbClr val="D98E2B"/>
                </a:solidFill>
                <a:latin typeface="Cambria" pitchFamily="34" charset="0"/>
                <a:ea typeface="Cambria" pitchFamily="34" charset="-122"/>
                <a:cs typeface="Cambria" pitchFamily="34" charset="-120"/>
              </a:rPr>
              <a:t>19</a:t>
            </a:r>
            <a:endParaRPr lang="en-US" sz="2000" dirty="0"/>
          </a:p>
        </p:txBody>
      </p:sp>
      <p:sp>
        <p:nvSpPr>
          <p:cNvPr id="19" name="Text 17"/>
          <p:cNvSpPr/>
          <p:nvPr/>
        </p:nvSpPr>
        <p:spPr>
          <a:xfrm>
            <a:off x="2176272" y="4599432"/>
            <a:ext cx="3429000" cy="502920"/>
          </a:xfrm>
          <a:prstGeom prst="rect">
            <a:avLst/>
          </a:prstGeom>
          <a:noFill/>
          <a:ln/>
        </p:spPr>
        <p:txBody>
          <a:bodyPr wrap="square" rtlCol="0" anchor="ctr"/>
          <a:lstStyle/>
          <a:p>
            <a:pPr marL="0" indent="0">
              <a:lnSpc>
                <a:spcPct val="105000"/>
              </a:lnSpc>
              <a:buNone/>
            </a:pPr>
            <a:r>
              <a:rPr lang="en-US" sz="1050" dirty="0">
                <a:solidFill>
                  <a:srgbClr val="5D6B7A"/>
                </a:solidFill>
                <a:latin typeface="Calibri" pitchFamily="34" charset="0"/>
                <a:ea typeface="Calibri" pitchFamily="34" charset="-122"/>
                <a:cs typeface="Calibri" pitchFamily="34" charset="-120"/>
              </a:rPr>
              <a:t>context blocks parsed across 4 formats</a:t>
            </a:r>
            <a:endParaRPr lang="en-US" sz="1050" dirty="0"/>
          </a:p>
        </p:txBody>
      </p:sp>
      <p:sp>
        <p:nvSpPr>
          <p:cNvPr id="20" name="Text 18"/>
          <p:cNvSpPr/>
          <p:nvPr/>
        </p:nvSpPr>
        <p:spPr>
          <a:xfrm>
            <a:off x="896112" y="5148072"/>
            <a:ext cx="1280160" cy="502920"/>
          </a:xfrm>
          <a:prstGeom prst="rect">
            <a:avLst/>
          </a:prstGeom>
          <a:noFill/>
          <a:ln/>
        </p:spPr>
        <p:txBody>
          <a:bodyPr wrap="square" rtlCol="0" anchor="ctr"/>
          <a:lstStyle/>
          <a:p>
            <a:pPr marL="0" indent="0">
              <a:buNone/>
            </a:pPr>
            <a:r>
              <a:rPr lang="en-US" sz="2000" b="1" dirty="0">
                <a:solidFill>
                  <a:srgbClr val="D98E2B"/>
                </a:solidFill>
                <a:latin typeface="Cambria" pitchFamily="34" charset="0"/>
                <a:ea typeface="Cambria" pitchFamily="34" charset="-122"/>
                <a:cs typeface="Cambria" pitchFamily="34" charset="-120"/>
              </a:rPr>
              <a:t>&lt;45 sec</a:t>
            </a:r>
            <a:endParaRPr lang="en-US" sz="2000" dirty="0"/>
          </a:p>
        </p:txBody>
      </p:sp>
      <p:sp>
        <p:nvSpPr>
          <p:cNvPr id="21" name="Text 19"/>
          <p:cNvSpPr/>
          <p:nvPr/>
        </p:nvSpPr>
        <p:spPr>
          <a:xfrm>
            <a:off x="2176272" y="5148072"/>
            <a:ext cx="3429000" cy="502920"/>
          </a:xfrm>
          <a:prstGeom prst="rect">
            <a:avLst/>
          </a:prstGeom>
          <a:noFill/>
          <a:ln/>
        </p:spPr>
        <p:txBody>
          <a:bodyPr wrap="square" rtlCol="0" anchor="ctr"/>
          <a:lstStyle/>
          <a:p>
            <a:pPr marL="0" indent="0">
              <a:lnSpc>
                <a:spcPct val="105000"/>
              </a:lnSpc>
              <a:buNone/>
            </a:pPr>
            <a:r>
              <a:rPr lang="en-US" sz="1050" dirty="0">
                <a:solidFill>
                  <a:srgbClr val="5D6B7A"/>
                </a:solidFill>
                <a:latin typeface="Calibri" pitchFamily="34" charset="0"/>
                <a:ea typeface="Calibri" pitchFamily="34" charset="-122"/>
                <a:cs typeface="Calibri" pitchFamily="34" charset="-120"/>
              </a:rPr>
              <a:t>full plan synthesized and converted</a:t>
            </a:r>
            <a:endParaRPr lang="en-US" sz="1050" dirty="0"/>
          </a:p>
        </p:txBody>
      </p:sp>
      <p:sp>
        <p:nvSpPr>
          <p:cNvPr id="22" name="Text 20"/>
          <p:cNvSpPr/>
          <p:nvPr/>
        </p:nvSpPr>
        <p:spPr>
          <a:xfrm>
            <a:off x="896112" y="5696712"/>
            <a:ext cx="1280160" cy="502920"/>
          </a:xfrm>
          <a:prstGeom prst="rect">
            <a:avLst/>
          </a:prstGeom>
          <a:noFill/>
          <a:ln/>
        </p:spPr>
        <p:txBody>
          <a:bodyPr wrap="square" rtlCol="0" anchor="ctr"/>
          <a:lstStyle/>
          <a:p>
            <a:pPr marL="0" indent="0">
              <a:buNone/>
            </a:pPr>
            <a:r>
              <a:rPr lang="en-US" sz="2000" b="1" dirty="0">
                <a:solidFill>
                  <a:srgbClr val="D98E2B"/>
                </a:solidFill>
                <a:latin typeface="Cambria" pitchFamily="34" charset="0"/>
                <a:ea typeface="Cambria" pitchFamily="34" charset="-122"/>
                <a:cs typeface="Cambria" pitchFamily="34" charset="-120"/>
              </a:rPr>
              <a:t>Zero</a:t>
            </a:r>
            <a:endParaRPr lang="en-US" sz="2000" dirty="0"/>
          </a:p>
        </p:txBody>
      </p:sp>
      <p:sp>
        <p:nvSpPr>
          <p:cNvPr id="23" name="Text 21"/>
          <p:cNvSpPr/>
          <p:nvPr/>
        </p:nvSpPr>
        <p:spPr>
          <a:xfrm>
            <a:off x="2176272" y="5696712"/>
            <a:ext cx="3429000" cy="502920"/>
          </a:xfrm>
          <a:prstGeom prst="rect">
            <a:avLst/>
          </a:prstGeom>
          <a:noFill/>
          <a:ln/>
        </p:spPr>
        <p:txBody>
          <a:bodyPr wrap="square" rtlCol="0" anchor="ctr"/>
          <a:lstStyle/>
          <a:p>
            <a:pPr marL="0" indent="0">
              <a:lnSpc>
                <a:spcPct val="105000"/>
              </a:lnSpc>
              <a:buNone/>
            </a:pPr>
            <a:r>
              <a:rPr lang="en-US" sz="1050" dirty="0">
                <a:solidFill>
                  <a:srgbClr val="5D6B7A"/>
                </a:solidFill>
                <a:latin typeface="Calibri" pitchFamily="34" charset="0"/>
                <a:ea typeface="Calibri" pitchFamily="34" charset="-122"/>
                <a:cs typeface="Calibri" pitchFamily="34" charset="-120"/>
              </a:rPr>
              <a:t>missing scope items or unassigned deliverables</a:t>
            </a:r>
            <a:endParaRPr lang="en-US" sz="1050" dirty="0"/>
          </a:p>
        </p:txBody>
      </p:sp>
      <p:sp>
        <p:nvSpPr>
          <p:cNvPr id="24" name="Shape 22"/>
          <p:cNvSpPr/>
          <p:nvPr/>
        </p:nvSpPr>
        <p:spPr>
          <a:xfrm>
            <a:off x="6263640" y="1417320"/>
            <a:ext cx="5257800" cy="4846320"/>
          </a:xfrm>
          <a:prstGeom prst="roundRect">
            <a:avLst>
              <a:gd name="adj" fmla="val 1509"/>
            </a:avLst>
          </a:prstGeom>
          <a:solidFill>
            <a:srgbClr val="1B2F4E"/>
          </a:solidFill>
          <a:ln/>
        </p:spPr>
      </p:sp>
      <p:sp>
        <p:nvSpPr>
          <p:cNvPr id="25" name="Text 23"/>
          <p:cNvSpPr/>
          <p:nvPr/>
        </p:nvSpPr>
        <p:spPr>
          <a:xfrm>
            <a:off x="6519672" y="1636776"/>
            <a:ext cx="4745736" cy="411480"/>
          </a:xfrm>
          <a:prstGeom prst="rect">
            <a:avLst/>
          </a:prstGeom>
          <a:noFill/>
          <a:ln/>
        </p:spPr>
        <p:txBody>
          <a:bodyPr wrap="square" rtlCol="0" anchor="ctr"/>
          <a:lstStyle/>
          <a:p>
            <a:pPr marL="0" indent="0">
              <a:lnSpc>
                <a:spcPct val="105000"/>
              </a:lnSpc>
              <a:buNone/>
            </a:pPr>
            <a:r>
              <a:rPr lang="en-US" sz="1150" b="1" dirty="0">
                <a:solidFill>
                  <a:srgbClr val="D98E2B"/>
                </a:solidFill>
                <a:latin typeface="Calibri" pitchFamily="34" charset="0"/>
                <a:ea typeface="Calibri" pitchFamily="34" charset="-122"/>
                <a:cs typeface="Calibri" pitchFamily="34" charset="-120"/>
              </a:rPr>
              <a:t>GENERATED ARTIFACT — WEEKLY KANBAN STATUS REPORT</a:t>
            </a:r>
            <a:endParaRPr lang="en-US" sz="1150" dirty="0"/>
          </a:p>
        </p:txBody>
      </p:sp>
      <p:sp>
        <p:nvSpPr>
          <p:cNvPr id="26" name="Shape 24"/>
          <p:cNvSpPr/>
          <p:nvPr/>
        </p:nvSpPr>
        <p:spPr>
          <a:xfrm>
            <a:off x="6519672" y="2194560"/>
            <a:ext cx="1490472" cy="914400"/>
          </a:xfrm>
          <a:prstGeom prst="roundRect">
            <a:avLst>
              <a:gd name="adj" fmla="val 6000"/>
            </a:avLst>
          </a:prstGeom>
          <a:solidFill>
            <a:srgbClr val="24406B"/>
          </a:solidFill>
          <a:ln/>
        </p:spPr>
      </p:sp>
      <p:sp>
        <p:nvSpPr>
          <p:cNvPr id="27" name="Text 25"/>
          <p:cNvSpPr/>
          <p:nvPr/>
        </p:nvSpPr>
        <p:spPr>
          <a:xfrm>
            <a:off x="6519672" y="2258568"/>
            <a:ext cx="1490472" cy="457200"/>
          </a:xfrm>
          <a:prstGeom prst="rect">
            <a:avLst/>
          </a:prstGeom>
          <a:noFill/>
          <a:ln/>
        </p:spPr>
        <p:txBody>
          <a:bodyPr wrap="square" rtlCol="0" anchor="ctr"/>
          <a:lstStyle/>
          <a:p>
            <a:pPr marL="0" indent="0" algn="ctr">
              <a:buNone/>
            </a:pPr>
            <a:r>
              <a:rPr lang="en-US" sz="2400" b="1" dirty="0">
                <a:solidFill>
                  <a:srgbClr val="3E8E63"/>
                </a:solidFill>
                <a:latin typeface="Cambria" pitchFamily="34" charset="0"/>
                <a:ea typeface="Cambria" pitchFamily="34" charset="-122"/>
                <a:cs typeface="Cambria" pitchFamily="34" charset="-120"/>
              </a:rPr>
              <a:t>8</a:t>
            </a:r>
            <a:endParaRPr lang="en-US" sz="2400" dirty="0"/>
          </a:p>
        </p:txBody>
      </p:sp>
      <p:sp>
        <p:nvSpPr>
          <p:cNvPr id="28" name="Text 26"/>
          <p:cNvSpPr/>
          <p:nvPr/>
        </p:nvSpPr>
        <p:spPr>
          <a:xfrm>
            <a:off x="6519672" y="2743200"/>
            <a:ext cx="1490472" cy="274320"/>
          </a:xfrm>
          <a:prstGeom prst="rect">
            <a:avLst/>
          </a:prstGeom>
          <a:noFill/>
          <a:ln/>
        </p:spPr>
        <p:txBody>
          <a:bodyPr wrap="square" rtlCol="0" anchor="ctr"/>
          <a:lstStyle/>
          <a:p>
            <a:pPr marL="0" indent="0" algn="ctr">
              <a:buNone/>
            </a:pPr>
            <a:r>
              <a:rPr lang="en-US" sz="950" dirty="0">
                <a:solidFill>
                  <a:srgbClr val="CBD9EE"/>
                </a:solidFill>
                <a:latin typeface="Calibri" pitchFamily="34" charset="0"/>
                <a:ea typeface="Calibri" pitchFamily="34" charset="-122"/>
                <a:cs typeface="Calibri" pitchFamily="34" charset="-120"/>
              </a:rPr>
              <a:t>Completed</a:t>
            </a:r>
            <a:endParaRPr lang="en-US" sz="950" dirty="0"/>
          </a:p>
        </p:txBody>
      </p:sp>
      <p:sp>
        <p:nvSpPr>
          <p:cNvPr id="29" name="Shape 27"/>
          <p:cNvSpPr/>
          <p:nvPr/>
        </p:nvSpPr>
        <p:spPr>
          <a:xfrm>
            <a:off x="8147304" y="2194560"/>
            <a:ext cx="1490472" cy="914400"/>
          </a:xfrm>
          <a:prstGeom prst="roundRect">
            <a:avLst>
              <a:gd name="adj" fmla="val 6000"/>
            </a:avLst>
          </a:prstGeom>
          <a:solidFill>
            <a:srgbClr val="24406B"/>
          </a:solidFill>
          <a:ln/>
        </p:spPr>
      </p:sp>
      <p:sp>
        <p:nvSpPr>
          <p:cNvPr id="30" name="Text 28"/>
          <p:cNvSpPr/>
          <p:nvPr/>
        </p:nvSpPr>
        <p:spPr>
          <a:xfrm>
            <a:off x="8147304" y="2258568"/>
            <a:ext cx="1490472" cy="457200"/>
          </a:xfrm>
          <a:prstGeom prst="rect">
            <a:avLst/>
          </a:prstGeom>
          <a:noFill/>
          <a:ln/>
        </p:spPr>
        <p:txBody>
          <a:bodyPr wrap="square" rtlCol="0" anchor="ctr"/>
          <a:lstStyle/>
          <a:p>
            <a:pPr marL="0" indent="0" algn="ctr">
              <a:buNone/>
            </a:pPr>
            <a:r>
              <a:rPr lang="en-US" sz="2400" b="1" dirty="0">
                <a:solidFill>
                  <a:srgbClr val="3E6B8A"/>
                </a:solidFill>
                <a:latin typeface="Cambria" pitchFamily="34" charset="0"/>
                <a:ea typeface="Cambria" pitchFamily="34" charset="-122"/>
                <a:cs typeface="Cambria" pitchFamily="34" charset="-120"/>
              </a:rPr>
              <a:t>5</a:t>
            </a:r>
            <a:endParaRPr lang="en-US" sz="2400" dirty="0"/>
          </a:p>
        </p:txBody>
      </p:sp>
      <p:sp>
        <p:nvSpPr>
          <p:cNvPr id="31" name="Text 29"/>
          <p:cNvSpPr/>
          <p:nvPr/>
        </p:nvSpPr>
        <p:spPr>
          <a:xfrm>
            <a:off x="8147304" y="2743200"/>
            <a:ext cx="1490472" cy="274320"/>
          </a:xfrm>
          <a:prstGeom prst="rect">
            <a:avLst/>
          </a:prstGeom>
          <a:noFill/>
          <a:ln/>
        </p:spPr>
        <p:txBody>
          <a:bodyPr wrap="square" rtlCol="0" anchor="ctr"/>
          <a:lstStyle/>
          <a:p>
            <a:pPr marL="0" indent="0" algn="ctr">
              <a:buNone/>
            </a:pPr>
            <a:r>
              <a:rPr lang="en-US" sz="950" dirty="0">
                <a:solidFill>
                  <a:srgbClr val="CBD9EE"/>
                </a:solidFill>
                <a:latin typeface="Calibri" pitchFamily="34" charset="0"/>
                <a:ea typeface="Calibri" pitchFamily="34" charset="-122"/>
                <a:cs typeface="Calibri" pitchFamily="34" charset="-120"/>
              </a:rPr>
              <a:t>In Progress</a:t>
            </a:r>
            <a:endParaRPr lang="en-US" sz="950" dirty="0"/>
          </a:p>
        </p:txBody>
      </p:sp>
      <p:sp>
        <p:nvSpPr>
          <p:cNvPr id="32" name="Shape 30"/>
          <p:cNvSpPr/>
          <p:nvPr/>
        </p:nvSpPr>
        <p:spPr>
          <a:xfrm>
            <a:off x="9774936" y="2194560"/>
            <a:ext cx="1490472" cy="914400"/>
          </a:xfrm>
          <a:prstGeom prst="roundRect">
            <a:avLst>
              <a:gd name="adj" fmla="val 6000"/>
            </a:avLst>
          </a:prstGeom>
          <a:solidFill>
            <a:srgbClr val="24406B"/>
          </a:solidFill>
          <a:ln/>
        </p:spPr>
      </p:sp>
      <p:sp>
        <p:nvSpPr>
          <p:cNvPr id="33" name="Text 31"/>
          <p:cNvSpPr/>
          <p:nvPr/>
        </p:nvSpPr>
        <p:spPr>
          <a:xfrm>
            <a:off x="9774936" y="2258568"/>
            <a:ext cx="1490472" cy="457200"/>
          </a:xfrm>
          <a:prstGeom prst="rect">
            <a:avLst/>
          </a:prstGeom>
          <a:noFill/>
          <a:ln/>
        </p:spPr>
        <p:txBody>
          <a:bodyPr wrap="square" rtlCol="0" anchor="ctr"/>
          <a:lstStyle/>
          <a:p>
            <a:pPr marL="0" indent="0" algn="ctr">
              <a:buNone/>
            </a:pPr>
            <a:r>
              <a:rPr lang="en-US" sz="2400" b="1" dirty="0">
                <a:solidFill>
                  <a:srgbClr val="B84A3E"/>
                </a:solidFill>
                <a:latin typeface="Cambria" pitchFamily="34" charset="0"/>
                <a:ea typeface="Cambria" pitchFamily="34" charset="-122"/>
                <a:cs typeface="Cambria" pitchFamily="34" charset="-120"/>
              </a:rPr>
              <a:t>1</a:t>
            </a:r>
            <a:endParaRPr lang="en-US" sz="2400" dirty="0"/>
          </a:p>
        </p:txBody>
      </p:sp>
      <p:sp>
        <p:nvSpPr>
          <p:cNvPr id="34" name="Text 32"/>
          <p:cNvSpPr/>
          <p:nvPr/>
        </p:nvSpPr>
        <p:spPr>
          <a:xfrm>
            <a:off x="9774936" y="2743200"/>
            <a:ext cx="1490472" cy="274320"/>
          </a:xfrm>
          <a:prstGeom prst="rect">
            <a:avLst/>
          </a:prstGeom>
          <a:noFill/>
          <a:ln/>
        </p:spPr>
        <p:txBody>
          <a:bodyPr wrap="square" rtlCol="0" anchor="ctr"/>
          <a:lstStyle/>
          <a:p>
            <a:pPr marL="0" indent="0" algn="ctr">
              <a:buNone/>
            </a:pPr>
            <a:r>
              <a:rPr lang="en-US" sz="950" dirty="0">
                <a:solidFill>
                  <a:srgbClr val="CBD9EE"/>
                </a:solidFill>
                <a:latin typeface="Calibri" pitchFamily="34" charset="0"/>
                <a:ea typeface="Calibri" pitchFamily="34" charset="-122"/>
                <a:cs typeface="Calibri" pitchFamily="34" charset="-120"/>
              </a:rPr>
              <a:t>Blocked</a:t>
            </a:r>
            <a:endParaRPr lang="en-US" sz="950" dirty="0"/>
          </a:p>
        </p:txBody>
      </p:sp>
      <p:sp>
        <p:nvSpPr>
          <p:cNvPr id="35" name="Text 33"/>
          <p:cNvSpPr/>
          <p:nvPr/>
        </p:nvSpPr>
        <p:spPr>
          <a:xfrm>
            <a:off x="6519672" y="3291840"/>
            <a:ext cx="4745736" cy="228600"/>
          </a:xfrm>
          <a:prstGeom prst="rect">
            <a:avLst/>
          </a:prstGeom>
          <a:noFill/>
          <a:ln/>
        </p:spPr>
        <p:txBody>
          <a:bodyPr wrap="square" rtlCol="0" anchor="ctr"/>
          <a:lstStyle/>
          <a:p>
            <a:pPr marL="0" indent="0">
              <a:buNone/>
            </a:pPr>
            <a:r>
              <a:rPr lang="en-US" sz="1000" b="1" kern="0" spc="100" dirty="0">
                <a:solidFill>
                  <a:srgbClr val="CBD9EE"/>
                </a:solidFill>
                <a:latin typeface="Calibri" pitchFamily="34" charset="0"/>
                <a:ea typeface="Calibri" pitchFamily="34" charset="-122"/>
                <a:cs typeface="Calibri" pitchFamily="34" charset="-120"/>
              </a:rPr>
              <a:t>ACTIVE IN PROGRESS</a:t>
            </a:r>
            <a:endParaRPr lang="en-US" sz="1000" dirty="0"/>
          </a:p>
        </p:txBody>
      </p:sp>
      <p:sp>
        <p:nvSpPr>
          <p:cNvPr id="36" name="Text 34"/>
          <p:cNvSpPr/>
          <p:nvPr/>
        </p:nvSpPr>
        <p:spPr>
          <a:xfrm>
            <a:off x="6519672" y="3566160"/>
            <a:ext cx="4745736" cy="292608"/>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Data Collection &amp; Preparation — Ravi Mehta · Due Sep 30</a:t>
            </a:r>
            <a:endParaRPr lang="en-US" sz="1050" dirty="0"/>
          </a:p>
        </p:txBody>
      </p:sp>
      <p:sp>
        <p:nvSpPr>
          <p:cNvPr id="37" name="Text 35"/>
          <p:cNvSpPr/>
          <p:nvPr/>
        </p:nvSpPr>
        <p:spPr>
          <a:xfrm>
            <a:off x="6519672" y="3895344"/>
            <a:ext cx="4745736" cy="292608"/>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Model Design &amp; Development — Ravi Mehta · Due Oct 9</a:t>
            </a:r>
            <a:endParaRPr lang="en-US" sz="1050" dirty="0"/>
          </a:p>
        </p:txBody>
      </p:sp>
      <p:sp>
        <p:nvSpPr>
          <p:cNvPr id="38" name="Shape 36"/>
          <p:cNvSpPr/>
          <p:nvPr/>
        </p:nvSpPr>
        <p:spPr>
          <a:xfrm>
            <a:off x="6519672" y="4361688"/>
            <a:ext cx="4745736" cy="1417320"/>
          </a:xfrm>
          <a:prstGeom prst="roundRect">
            <a:avLst>
              <a:gd name="adj" fmla="val 3871"/>
            </a:avLst>
          </a:prstGeom>
          <a:solidFill>
            <a:srgbClr val="24406B"/>
          </a:solidFill>
          <a:ln/>
        </p:spPr>
      </p:sp>
      <p:sp>
        <p:nvSpPr>
          <p:cNvPr id="39" name="Text 37"/>
          <p:cNvSpPr/>
          <p:nvPr/>
        </p:nvSpPr>
        <p:spPr>
          <a:xfrm>
            <a:off x="6720840" y="4498848"/>
            <a:ext cx="4343400" cy="228600"/>
          </a:xfrm>
          <a:prstGeom prst="rect">
            <a:avLst/>
          </a:prstGeom>
          <a:noFill/>
          <a:ln/>
        </p:spPr>
        <p:txBody>
          <a:bodyPr wrap="square" rtlCol="0" anchor="ctr"/>
          <a:lstStyle/>
          <a:p>
            <a:pPr marL="0" indent="0">
              <a:buNone/>
            </a:pPr>
            <a:r>
              <a:rPr lang="en-US" sz="950" b="1" kern="0" spc="100" dirty="0">
                <a:solidFill>
                  <a:srgbClr val="D98E2B"/>
                </a:solidFill>
                <a:latin typeface="Calibri" pitchFamily="34" charset="0"/>
                <a:ea typeface="Calibri" pitchFamily="34" charset="-122"/>
                <a:cs typeface="Calibri" pitchFamily="34" charset="-120"/>
              </a:rPr>
              <a:t>AUTOMATED RECOMMENDATION ENGINE</a:t>
            </a:r>
            <a:endParaRPr lang="en-US" sz="950" dirty="0"/>
          </a:p>
        </p:txBody>
      </p:sp>
      <p:sp>
        <p:nvSpPr>
          <p:cNvPr id="40" name="Text 38"/>
          <p:cNvSpPr/>
          <p:nvPr/>
        </p:nvSpPr>
        <p:spPr>
          <a:xfrm>
            <a:off x="6720840" y="4754880"/>
            <a:ext cx="4343400" cy="960120"/>
          </a:xfrm>
          <a:prstGeom prst="rect">
            <a:avLst/>
          </a:prstGeom>
          <a:noFill/>
          <a:ln/>
        </p:spPr>
        <p:txBody>
          <a:bodyPr wrap="square" rtlCol="0" anchor="ctr"/>
          <a:lstStyle/>
          <a:p>
            <a:pPr marL="0" indent="0">
              <a:lnSpc>
                <a:spcPct val="125000"/>
              </a:lnSpc>
              <a:buNone/>
            </a:pPr>
            <a:r>
              <a:rPr lang="en-US" sz="1050" i="1" dirty="0">
                <a:solidFill>
                  <a:srgbClr val="CBD9EE"/>
                </a:solidFill>
                <a:latin typeface="Calibri" pitchFamily="34" charset="0"/>
                <a:ea typeface="Calibri" pitchFamily="34" charset="-122"/>
                <a:cs typeface="Calibri" pitchFamily="34" charset="-120"/>
              </a:rPr>
              <a:t>Recommends immediate focus on resolving the current blocker, noting it hinders downstream model evaluation while all other tasks remain within scheduled timeline buffers.</a:t>
            </a:r>
            <a:endParaRPr lang="en-US" sz="1050" dirty="0"/>
          </a:p>
        </p:txBody>
      </p:sp>
      <p:sp>
        <p:nvSpPr>
          <p:cNvPr id="41" name="Text 39"/>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MIRA — Multi-Agent PMO Orchestrator</a:t>
            </a:r>
            <a:endParaRPr lang="en-US" sz="900" dirty="0"/>
          </a:p>
        </p:txBody>
      </p:sp>
      <p:sp>
        <p:nvSpPr>
          <p:cNvPr id="42" name="Text 40"/>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D6B7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1B2F4E"/>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rtlCol="0" anchor="ctr"/>
          <a:lstStyle/>
          <a:p>
            <a:pPr marL="0" indent="0" algn="l">
              <a:buNone/>
            </a:pPr>
            <a:r>
              <a:rPr lang="en-US" sz="1250" b="1" kern="0" spc="200" dirty="0">
                <a:solidFill>
                  <a:srgbClr val="D98E2B"/>
                </a:solidFill>
                <a:latin typeface="Calibri" pitchFamily="34" charset="0"/>
                <a:ea typeface="Calibri" pitchFamily="34" charset="-122"/>
                <a:cs typeface="Calibri" pitchFamily="34" charset="-120"/>
              </a:rPr>
              <a:t>STRATEGIC VALUE REALIZATION</a:t>
            </a:r>
            <a:endParaRPr lang="en-US" sz="1250" dirty="0"/>
          </a:p>
        </p:txBody>
      </p:sp>
      <p:sp>
        <p:nvSpPr>
          <p:cNvPr id="3" name="Text 1"/>
          <p:cNvSpPr/>
          <p:nvPr/>
        </p:nvSpPr>
        <p:spPr>
          <a:xfrm>
            <a:off x="640080" y="658368"/>
            <a:ext cx="10607040" cy="658368"/>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Measured PMO Return on Investment</a:t>
            </a:r>
            <a:endParaRPr lang="en-US" sz="3200" dirty="0"/>
          </a:p>
        </p:txBody>
      </p:sp>
      <p:sp>
        <p:nvSpPr>
          <p:cNvPr id="4" name="Shape 2"/>
          <p:cNvSpPr/>
          <p:nvPr/>
        </p:nvSpPr>
        <p:spPr>
          <a:xfrm>
            <a:off x="640080" y="2103120"/>
            <a:ext cx="2606040" cy="3566160"/>
          </a:xfrm>
          <a:prstGeom prst="roundRect">
            <a:avLst>
              <a:gd name="adj" fmla="val 2807"/>
            </a:avLst>
          </a:prstGeom>
          <a:solidFill>
            <a:srgbClr val="24406B"/>
          </a:solidFill>
          <a:ln/>
        </p:spPr>
      </p:sp>
      <p:sp>
        <p:nvSpPr>
          <p:cNvPr id="5" name="Text 3"/>
          <p:cNvSpPr/>
          <p:nvPr/>
        </p:nvSpPr>
        <p:spPr>
          <a:xfrm>
            <a:off x="777240" y="2423160"/>
            <a:ext cx="2331720" cy="868680"/>
          </a:xfrm>
          <a:prstGeom prst="rect">
            <a:avLst/>
          </a:prstGeom>
          <a:noFill/>
          <a:ln/>
        </p:spPr>
        <p:txBody>
          <a:bodyPr wrap="square" rtlCol="0" anchor="ctr"/>
          <a:lstStyle/>
          <a:p>
            <a:pPr marL="0" indent="0" algn="ctr">
              <a:buNone/>
            </a:pPr>
            <a:r>
              <a:rPr lang="en-US" sz="4000" b="1" dirty="0">
                <a:solidFill>
                  <a:srgbClr val="D98E2B"/>
                </a:solidFill>
                <a:latin typeface="Cambria" pitchFamily="34" charset="0"/>
                <a:ea typeface="Cambria" pitchFamily="34" charset="-122"/>
                <a:cs typeface="Cambria" pitchFamily="34" charset="-120"/>
              </a:rPr>
              <a:t>85%</a:t>
            </a:r>
            <a:endParaRPr lang="en-US" sz="4000" dirty="0"/>
          </a:p>
        </p:txBody>
      </p:sp>
      <p:sp>
        <p:nvSpPr>
          <p:cNvPr id="6" name="Text 4"/>
          <p:cNvSpPr/>
          <p:nvPr/>
        </p:nvSpPr>
        <p:spPr>
          <a:xfrm>
            <a:off x="822960" y="3383280"/>
            <a:ext cx="2240280" cy="594360"/>
          </a:xfrm>
          <a:prstGeom prst="rect">
            <a:avLst/>
          </a:prstGeom>
          <a:noFill/>
          <a:ln/>
        </p:spPr>
        <p:txBody>
          <a:bodyPr wrap="square" rtlCol="0" anchor="ctr"/>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Time Saved in Planning</a:t>
            </a:r>
            <a:endParaRPr lang="en-US" sz="1300" dirty="0"/>
          </a:p>
        </p:txBody>
      </p:sp>
      <p:sp>
        <p:nvSpPr>
          <p:cNvPr id="7" name="Text 5"/>
          <p:cNvSpPr/>
          <p:nvPr/>
        </p:nvSpPr>
        <p:spPr>
          <a:xfrm>
            <a:off x="868680" y="4069080"/>
            <a:ext cx="2148840" cy="1463040"/>
          </a:xfrm>
          <a:prstGeom prst="rect">
            <a:avLst/>
          </a:prstGeom>
          <a:noFill/>
          <a:ln/>
        </p:spPr>
        <p:txBody>
          <a:bodyPr wrap="square" rtlCol="0" anchor="ctr"/>
          <a:lstStyle/>
          <a:p>
            <a:pPr marL="0" indent="0" algn="ctr">
              <a:lnSpc>
                <a:spcPct val="125000"/>
              </a:lnSpc>
              <a:buNone/>
            </a:pPr>
            <a:r>
              <a:rPr lang="en-US" sz="1050" dirty="0">
                <a:solidFill>
                  <a:srgbClr val="CBD9EE"/>
                </a:solidFill>
                <a:latin typeface="Calibri" pitchFamily="34" charset="0"/>
                <a:ea typeface="Calibri" pitchFamily="34" charset="-122"/>
                <a:cs typeface="Calibri" pitchFamily="34" charset="-120"/>
              </a:rPr>
              <a:t>Project-plan synthesis reduced from 6 hours to under 45 seconds.</a:t>
            </a:r>
            <a:endParaRPr lang="en-US" sz="1050" dirty="0"/>
          </a:p>
        </p:txBody>
      </p:sp>
      <p:sp>
        <p:nvSpPr>
          <p:cNvPr id="8" name="Shape 6"/>
          <p:cNvSpPr/>
          <p:nvPr/>
        </p:nvSpPr>
        <p:spPr>
          <a:xfrm>
            <a:off x="3474720" y="2103120"/>
            <a:ext cx="2606040" cy="3566160"/>
          </a:xfrm>
          <a:prstGeom prst="roundRect">
            <a:avLst>
              <a:gd name="adj" fmla="val 2807"/>
            </a:avLst>
          </a:prstGeom>
          <a:solidFill>
            <a:srgbClr val="24406B"/>
          </a:solidFill>
          <a:ln/>
        </p:spPr>
      </p:sp>
      <p:sp>
        <p:nvSpPr>
          <p:cNvPr id="9" name="Text 7"/>
          <p:cNvSpPr/>
          <p:nvPr/>
        </p:nvSpPr>
        <p:spPr>
          <a:xfrm>
            <a:off x="3611880" y="2423160"/>
            <a:ext cx="2331720" cy="868680"/>
          </a:xfrm>
          <a:prstGeom prst="rect">
            <a:avLst/>
          </a:prstGeom>
          <a:noFill/>
          <a:ln/>
        </p:spPr>
        <p:txBody>
          <a:bodyPr wrap="square" rtlCol="0" anchor="ctr"/>
          <a:lstStyle/>
          <a:p>
            <a:pPr marL="0" indent="0" algn="ctr">
              <a:buNone/>
            </a:pPr>
            <a:r>
              <a:rPr lang="en-US" sz="4000" b="1" dirty="0">
                <a:solidFill>
                  <a:srgbClr val="D98E2B"/>
                </a:solidFill>
                <a:latin typeface="Cambria" pitchFamily="34" charset="0"/>
                <a:ea typeface="Cambria" pitchFamily="34" charset="-122"/>
                <a:cs typeface="Cambria" pitchFamily="34" charset="-120"/>
              </a:rPr>
              <a:t>100%</a:t>
            </a:r>
            <a:endParaRPr lang="en-US" sz="4000" dirty="0"/>
          </a:p>
        </p:txBody>
      </p:sp>
      <p:sp>
        <p:nvSpPr>
          <p:cNvPr id="10" name="Text 8"/>
          <p:cNvSpPr/>
          <p:nvPr/>
        </p:nvSpPr>
        <p:spPr>
          <a:xfrm>
            <a:off x="3657600" y="3383280"/>
            <a:ext cx="2240280" cy="594360"/>
          </a:xfrm>
          <a:prstGeom prst="rect">
            <a:avLst/>
          </a:prstGeom>
          <a:noFill/>
          <a:ln/>
        </p:spPr>
        <p:txBody>
          <a:bodyPr wrap="square" rtlCol="0" anchor="ctr"/>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Automated Reporting</a:t>
            </a:r>
            <a:endParaRPr lang="en-US" sz="1300" dirty="0"/>
          </a:p>
        </p:txBody>
      </p:sp>
      <p:sp>
        <p:nvSpPr>
          <p:cNvPr id="11" name="Text 9"/>
          <p:cNvSpPr/>
          <p:nvPr/>
        </p:nvSpPr>
        <p:spPr>
          <a:xfrm>
            <a:off x="3703320" y="4069080"/>
            <a:ext cx="2148840" cy="1463040"/>
          </a:xfrm>
          <a:prstGeom prst="rect">
            <a:avLst/>
          </a:prstGeom>
          <a:noFill/>
          <a:ln/>
        </p:spPr>
        <p:txBody>
          <a:bodyPr wrap="square" rtlCol="0" anchor="ctr"/>
          <a:lstStyle/>
          <a:p>
            <a:pPr marL="0" indent="0" algn="ctr">
              <a:lnSpc>
                <a:spcPct val="125000"/>
              </a:lnSpc>
              <a:buNone/>
            </a:pPr>
            <a:r>
              <a:rPr lang="en-US" sz="1050" dirty="0">
                <a:solidFill>
                  <a:srgbClr val="CBD9EE"/>
                </a:solidFill>
                <a:latin typeface="Calibri" pitchFamily="34" charset="0"/>
                <a:ea typeface="Calibri" pitchFamily="34" charset="-122"/>
                <a:cs typeface="Calibri" pitchFamily="34" charset="-120"/>
              </a:rPr>
              <a:t>Eliminated weekly manual Trello data compilation and email drafting.</a:t>
            </a:r>
            <a:endParaRPr lang="en-US" sz="1050" dirty="0"/>
          </a:p>
        </p:txBody>
      </p:sp>
      <p:sp>
        <p:nvSpPr>
          <p:cNvPr id="12" name="Shape 10"/>
          <p:cNvSpPr/>
          <p:nvPr/>
        </p:nvSpPr>
        <p:spPr>
          <a:xfrm>
            <a:off x="6309360" y="2103120"/>
            <a:ext cx="2606040" cy="3566160"/>
          </a:xfrm>
          <a:prstGeom prst="roundRect">
            <a:avLst>
              <a:gd name="adj" fmla="val 2807"/>
            </a:avLst>
          </a:prstGeom>
          <a:solidFill>
            <a:srgbClr val="24406B"/>
          </a:solidFill>
          <a:ln/>
        </p:spPr>
      </p:sp>
      <p:sp>
        <p:nvSpPr>
          <p:cNvPr id="13" name="Text 11"/>
          <p:cNvSpPr/>
          <p:nvPr/>
        </p:nvSpPr>
        <p:spPr>
          <a:xfrm>
            <a:off x="6446520" y="2423160"/>
            <a:ext cx="2331720" cy="868680"/>
          </a:xfrm>
          <a:prstGeom prst="rect">
            <a:avLst/>
          </a:prstGeom>
          <a:noFill/>
          <a:ln/>
        </p:spPr>
        <p:txBody>
          <a:bodyPr wrap="square" rtlCol="0" anchor="ctr"/>
          <a:lstStyle/>
          <a:p>
            <a:pPr marL="0" indent="0" algn="ctr">
              <a:buNone/>
            </a:pPr>
            <a:r>
              <a:rPr lang="en-US" sz="4000" b="1" dirty="0">
                <a:solidFill>
                  <a:srgbClr val="D98E2B"/>
                </a:solidFill>
                <a:latin typeface="Cambria" pitchFamily="34" charset="0"/>
                <a:ea typeface="Cambria" pitchFamily="34" charset="-122"/>
                <a:cs typeface="Cambria" pitchFamily="34" charset="-120"/>
              </a:rPr>
              <a:t>0%</a:t>
            </a:r>
            <a:endParaRPr lang="en-US" sz="4000" dirty="0"/>
          </a:p>
        </p:txBody>
      </p:sp>
      <p:sp>
        <p:nvSpPr>
          <p:cNvPr id="14" name="Text 12"/>
          <p:cNvSpPr/>
          <p:nvPr/>
        </p:nvSpPr>
        <p:spPr>
          <a:xfrm>
            <a:off x="6492240" y="3383280"/>
            <a:ext cx="2240280" cy="594360"/>
          </a:xfrm>
          <a:prstGeom prst="rect">
            <a:avLst/>
          </a:prstGeom>
          <a:noFill/>
          <a:ln/>
        </p:spPr>
        <p:txBody>
          <a:bodyPr wrap="square" rtlCol="0" anchor="ctr"/>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Human Copy-Paste Error</a:t>
            </a:r>
            <a:endParaRPr lang="en-US" sz="1300" dirty="0"/>
          </a:p>
        </p:txBody>
      </p:sp>
      <p:sp>
        <p:nvSpPr>
          <p:cNvPr id="15" name="Text 13"/>
          <p:cNvSpPr/>
          <p:nvPr/>
        </p:nvSpPr>
        <p:spPr>
          <a:xfrm>
            <a:off x="6537960" y="4069080"/>
            <a:ext cx="2148840" cy="1463040"/>
          </a:xfrm>
          <a:prstGeom prst="rect">
            <a:avLst/>
          </a:prstGeom>
          <a:noFill/>
          <a:ln/>
        </p:spPr>
        <p:txBody>
          <a:bodyPr wrap="square" rtlCol="0" anchor="ctr"/>
          <a:lstStyle/>
          <a:p>
            <a:pPr marL="0" indent="0" algn="ctr">
              <a:lnSpc>
                <a:spcPct val="125000"/>
              </a:lnSpc>
              <a:buNone/>
            </a:pPr>
            <a:r>
              <a:rPr lang="en-US" sz="1050" dirty="0">
                <a:solidFill>
                  <a:srgbClr val="CBD9EE"/>
                </a:solidFill>
                <a:latin typeface="Calibri" pitchFamily="34" charset="0"/>
                <a:ea typeface="Calibri" pitchFamily="34" charset="-122"/>
                <a:cs typeface="Calibri" pitchFamily="34" charset="-120"/>
              </a:rPr>
              <a:t>Direct API integration guarantees full board-data fidelity.</a:t>
            </a:r>
            <a:endParaRPr lang="en-US" sz="1050" dirty="0"/>
          </a:p>
        </p:txBody>
      </p:sp>
      <p:sp>
        <p:nvSpPr>
          <p:cNvPr id="16" name="Shape 14"/>
          <p:cNvSpPr/>
          <p:nvPr/>
        </p:nvSpPr>
        <p:spPr>
          <a:xfrm>
            <a:off x="9144000" y="2103120"/>
            <a:ext cx="2606040" cy="3566160"/>
          </a:xfrm>
          <a:prstGeom prst="roundRect">
            <a:avLst>
              <a:gd name="adj" fmla="val 2807"/>
            </a:avLst>
          </a:prstGeom>
          <a:solidFill>
            <a:srgbClr val="24406B"/>
          </a:solidFill>
          <a:ln/>
        </p:spPr>
      </p:sp>
      <p:sp>
        <p:nvSpPr>
          <p:cNvPr id="17" name="Text 15"/>
          <p:cNvSpPr/>
          <p:nvPr/>
        </p:nvSpPr>
        <p:spPr>
          <a:xfrm>
            <a:off x="9281160" y="2423160"/>
            <a:ext cx="2331720" cy="868680"/>
          </a:xfrm>
          <a:prstGeom prst="rect">
            <a:avLst/>
          </a:prstGeom>
          <a:noFill/>
          <a:ln/>
        </p:spPr>
        <p:txBody>
          <a:bodyPr wrap="square" rtlCol="0" anchor="ctr"/>
          <a:lstStyle/>
          <a:p>
            <a:pPr marL="0" indent="0" algn="ctr">
              <a:buNone/>
            </a:pPr>
            <a:r>
              <a:rPr lang="en-US" sz="4000" b="1" dirty="0">
                <a:solidFill>
                  <a:srgbClr val="D98E2B"/>
                </a:solidFill>
                <a:latin typeface="Cambria" pitchFamily="34" charset="0"/>
                <a:ea typeface="Cambria" pitchFamily="34" charset="-122"/>
                <a:cs typeface="Cambria" pitchFamily="34" charset="-120"/>
              </a:rPr>
              <a:t>12 hrs</a:t>
            </a:r>
            <a:endParaRPr lang="en-US" sz="4000" dirty="0"/>
          </a:p>
        </p:txBody>
      </p:sp>
      <p:sp>
        <p:nvSpPr>
          <p:cNvPr id="18" name="Text 16"/>
          <p:cNvSpPr/>
          <p:nvPr/>
        </p:nvSpPr>
        <p:spPr>
          <a:xfrm>
            <a:off x="9326880" y="3383280"/>
            <a:ext cx="2240280" cy="594360"/>
          </a:xfrm>
          <a:prstGeom prst="rect">
            <a:avLst/>
          </a:prstGeom>
          <a:noFill/>
          <a:ln/>
        </p:spPr>
        <p:txBody>
          <a:bodyPr wrap="square" rtlCol="0" anchor="ctr"/>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Weekly Bandwidth Recovered</a:t>
            </a:r>
            <a:endParaRPr lang="en-US" sz="1300" dirty="0"/>
          </a:p>
        </p:txBody>
      </p:sp>
      <p:sp>
        <p:nvSpPr>
          <p:cNvPr id="19" name="Text 17"/>
          <p:cNvSpPr/>
          <p:nvPr/>
        </p:nvSpPr>
        <p:spPr>
          <a:xfrm>
            <a:off x="9372600" y="4069080"/>
            <a:ext cx="2148840" cy="1463040"/>
          </a:xfrm>
          <a:prstGeom prst="rect">
            <a:avLst/>
          </a:prstGeom>
          <a:noFill/>
          <a:ln/>
        </p:spPr>
        <p:txBody>
          <a:bodyPr wrap="square" rtlCol="0" anchor="ctr"/>
          <a:lstStyle/>
          <a:p>
            <a:pPr marL="0" indent="0" algn="ctr">
              <a:lnSpc>
                <a:spcPct val="125000"/>
              </a:lnSpc>
              <a:buNone/>
            </a:pPr>
            <a:r>
              <a:rPr lang="en-US" sz="1050" dirty="0">
                <a:solidFill>
                  <a:srgbClr val="CBD9EE"/>
                </a:solidFill>
                <a:latin typeface="Calibri" pitchFamily="34" charset="0"/>
                <a:ea typeface="Calibri" pitchFamily="34" charset="-122"/>
                <a:cs typeface="Calibri" pitchFamily="34" charset="-120"/>
              </a:rPr>
              <a:t>Frees TPMs to focus on client strategy and cross-functional alignment.</a:t>
            </a:r>
            <a:endParaRPr lang="en-US" sz="1050" dirty="0"/>
          </a:p>
        </p:txBody>
      </p:sp>
      <p:sp>
        <p:nvSpPr>
          <p:cNvPr id="20" name="Text 18"/>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8FA3C2"/>
                </a:solidFill>
                <a:latin typeface="Calibri" pitchFamily="34" charset="0"/>
                <a:ea typeface="Calibri" pitchFamily="34" charset="-122"/>
                <a:cs typeface="Calibri" pitchFamily="34" charset="-120"/>
              </a:rPr>
              <a:t>MIRA — Multi-Agent PMO Orchestrator</a:t>
            </a:r>
            <a:endParaRPr lang="en-US" sz="900" dirty="0"/>
          </a:p>
        </p:txBody>
      </p:sp>
      <p:sp>
        <p:nvSpPr>
          <p:cNvPr id="21" name="Text 19"/>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8FA3C2"/>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rtlCol="0" anchor="ctr"/>
          <a:lstStyle/>
          <a:p>
            <a:pPr marL="0" indent="0" algn="l">
              <a:buNone/>
            </a:pPr>
            <a:r>
              <a:rPr lang="en-US" sz="1250" b="1" kern="0" spc="200" dirty="0">
                <a:solidFill>
                  <a:srgbClr val="3E6B8A"/>
                </a:solidFill>
                <a:latin typeface="Calibri" pitchFamily="34" charset="0"/>
                <a:ea typeface="Calibri" pitchFamily="34" charset="-122"/>
                <a:cs typeface="Calibri" pitchFamily="34" charset="-120"/>
              </a:rPr>
              <a:t>SCALE &amp; EXPANSION</a:t>
            </a:r>
            <a:endParaRPr lang="en-US" sz="1250" dirty="0"/>
          </a:p>
        </p:txBody>
      </p:sp>
      <p:sp>
        <p:nvSpPr>
          <p:cNvPr id="3" name="Text 1"/>
          <p:cNvSpPr/>
          <p:nvPr/>
        </p:nvSpPr>
        <p:spPr>
          <a:xfrm>
            <a:off x="640080" y="658368"/>
            <a:ext cx="10607040" cy="658368"/>
          </a:xfrm>
          <a:prstGeom prst="rect">
            <a:avLst/>
          </a:prstGeom>
          <a:noFill/>
          <a:ln/>
        </p:spPr>
        <p:txBody>
          <a:bodyPr wrap="square" rtlCol="0" anchor="ctr"/>
          <a:lstStyle/>
          <a:p>
            <a:pPr marL="0" indent="0" algn="l">
              <a:buNone/>
            </a:pPr>
            <a:r>
              <a:rPr lang="en-US" sz="3200" b="1" dirty="0">
                <a:solidFill>
                  <a:srgbClr val="1B2F4E"/>
                </a:solidFill>
                <a:latin typeface="Cambria" pitchFamily="34" charset="0"/>
                <a:ea typeface="Cambria" pitchFamily="34" charset="-122"/>
                <a:cs typeface="Cambria" pitchFamily="34" charset="-120"/>
              </a:rPr>
              <a:t>Where Mira Goes Next</a:t>
            </a:r>
            <a:endParaRPr lang="en-US" sz="3200" dirty="0"/>
          </a:p>
        </p:txBody>
      </p:sp>
      <p:sp>
        <p:nvSpPr>
          <p:cNvPr id="4" name="Text 2"/>
          <p:cNvSpPr/>
          <p:nvPr/>
        </p:nvSpPr>
        <p:spPr>
          <a:xfrm>
            <a:off x="640080" y="1298448"/>
            <a:ext cx="10424160" cy="365760"/>
          </a:xfrm>
          <a:prstGeom prst="rect">
            <a:avLst/>
          </a:prstGeom>
          <a:noFill/>
          <a:ln/>
        </p:spPr>
        <p:txBody>
          <a:bodyPr wrap="square" rtlCol="0" anchor="ctr"/>
          <a:lstStyle/>
          <a:p>
            <a:pPr marL="0" indent="0">
              <a:buNone/>
            </a:pPr>
            <a:r>
              <a:rPr lang="en-US" sz="1300" dirty="0">
                <a:solidFill>
                  <a:srgbClr val="5D6B7A"/>
                </a:solidFill>
                <a:latin typeface="Calibri" pitchFamily="34" charset="0"/>
                <a:ea typeface="Calibri" pitchFamily="34" charset="-122"/>
                <a:cs typeface="Calibri" pitchFamily="34" charset="-120"/>
              </a:rPr>
              <a:t>The architecture is deliberately extensible — each phase below reuses the same ingestion and reasoning core.</a:t>
            </a:r>
            <a:endParaRPr lang="en-US" sz="1300" dirty="0"/>
          </a:p>
        </p:txBody>
      </p:sp>
      <p:sp>
        <p:nvSpPr>
          <p:cNvPr id="5" name="Shape 3"/>
          <p:cNvSpPr/>
          <p:nvPr/>
        </p:nvSpPr>
        <p:spPr>
          <a:xfrm>
            <a:off x="640080" y="1965960"/>
            <a:ext cx="5074920" cy="1965960"/>
          </a:xfrm>
          <a:prstGeom prst="roundRect">
            <a:avLst>
              <a:gd name="adj" fmla="val 3721"/>
            </a:avLst>
          </a:prstGeom>
          <a:solidFill>
            <a:srgbClr val="F4F6F9"/>
          </a:solidFill>
          <a:ln w="12700">
            <a:solidFill>
              <a:srgbClr val="E1E6ED"/>
            </a:solidFill>
            <a:prstDash val="solid"/>
          </a:ln>
        </p:spPr>
      </p:sp>
      <p:sp>
        <p:nvSpPr>
          <p:cNvPr id="6" name="Shape 4"/>
          <p:cNvSpPr/>
          <p:nvPr/>
        </p:nvSpPr>
        <p:spPr>
          <a:xfrm>
            <a:off x="877824" y="2203704"/>
            <a:ext cx="502920" cy="502920"/>
          </a:xfrm>
          <a:prstGeom prst="ellipse">
            <a:avLst/>
          </a:prstGeom>
          <a:solidFill>
            <a:srgbClr val="3E6B8A"/>
          </a:solidFill>
          <a:ln w="12700">
            <a:solidFill>
              <a:srgbClr val="3E6B8A"/>
            </a:solidFill>
            <a:prstDash val="solid"/>
          </a:ln>
        </p:spPr>
      </p:sp>
      <p:sp>
        <p:nvSpPr>
          <p:cNvPr id="7" name="Text 5"/>
          <p:cNvSpPr/>
          <p:nvPr/>
        </p:nvSpPr>
        <p:spPr>
          <a:xfrm>
            <a:off x="877824" y="2203704"/>
            <a:ext cx="502920" cy="50292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8" name="Text 6"/>
          <p:cNvSpPr/>
          <p:nvPr/>
        </p:nvSpPr>
        <p:spPr>
          <a:xfrm>
            <a:off x="1554480" y="2185416"/>
            <a:ext cx="3931920" cy="548640"/>
          </a:xfrm>
          <a:prstGeom prst="rect">
            <a:avLst/>
          </a:prstGeom>
          <a:noFill/>
          <a:ln/>
        </p:spPr>
        <p:txBody>
          <a:bodyPr wrap="square" rtlCol="0" anchor="ctr"/>
          <a:lstStyle/>
          <a:p>
            <a:pPr marL="0" indent="0">
              <a:lnSpc>
                <a:spcPct val="100000"/>
              </a:lnSpc>
              <a:buNone/>
            </a:pPr>
            <a:r>
              <a:rPr lang="en-US" sz="1400" b="1" dirty="0">
                <a:solidFill>
                  <a:srgbClr val="1B2F4E"/>
                </a:solidFill>
                <a:latin typeface="Calibri" pitchFamily="34" charset="0"/>
                <a:ea typeface="Calibri" pitchFamily="34" charset="-122"/>
                <a:cs typeface="Calibri" pitchFamily="34" charset="-120"/>
              </a:rPr>
              <a:t>Bi-Directional Slack &amp; Teams Alerts</a:t>
            </a:r>
            <a:endParaRPr lang="en-US" sz="1400" dirty="0"/>
          </a:p>
        </p:txBody>
      </p:sp>
      <p:sp>
        <p:nvSpPr>
          <p:cNvPr id="9" name="Text 7"/>
          <p:cNvSpPr/>
          <p:nvPr/>
        </p:nvSpPr>
        <p:spPr>
          <a:xfrm>
            <a:off x="877824" y="2880360"/>
            <a:ext cx="4599432" cy="960120"/>
          </a:xfrm>
          <a:prstGeom prst="rect">
            <a:avLst/>
          </a:prstGeom>
          <a:noFill/>
          <a:ln/>
        </p:spPr>
        <p:txBody>
          <a:bodyPr wrap="square" rtlCol="0" anchor="ctr"/>
          <a:lstStyle/>
          <a:p>
            <a:pPr marL="0" indent="0">
              <a:lnSpc>
                <a:spcPct val="120000"/>
              </a:lnSpc>
              <a:buNone/>
            </a:pPr>
            <a:r>
              <a:rPr lang="en-US" sz="1100" dirty="0">
                <a:solidFill>
                  <a:srgbClr val="5D6B7A"/>
                </a:solidFill>
                <a:latin typeface="Calibri" pitchFamily="34" charset="0"/>
                <a:ea typeface="Calibri" pitchFamily="34" charset="-122"/>
                <a:cs typeface="Calibri" pitchFamily="34" charset="-120"/>
              </a:rPr>
              <a:t>Extend the n8n workflow to trigger real-time alerts when a card moves to 'Blocked'.</a:t>
            </a:r>
            <a:endParaRPr lang="en-US" sz="1100" dirty="0"/>
          </a:p>
        </p:txBody>
      </p:sp>
      <p:sp>
        <p:nvSpPr>
          <p:cNvPr id="10" name="Shape 8"/>
          <p:cNvSpPr/>
          <p:nvPr/>
        </p:nvSpPr>
        <p:spPr>
          <a:xfrm>
            <a:off x="6035040" y="1965960"/>
            <a:ext cx="5074920" cy="1965960"/>
          </a:xfrm>
          <a:prstGeom prst="roundRect">
            <a:avLst>
              <a:gd name="adj" fmla="val 3721"/>
            </a:avLst>
          </a:prstGeom>
          <a:solidFill>
            <a:srgbClr val="F4F6F9"/>
          </a:solidFill>
          <a:ln w="12700">
            <a:solidFill>
              <a:srgbClr val="E1E6ED"/>
            </a:solidFill>
            <a:prstDash val="solid"/>
          </a:ln>
        </p:spPr>
      </p:sp>
      <p:sp>
        <p:nvSpPr>
          <p:cNvPr id="11" name="Shape 9"/>
          <p:cNvSpPr/>
          <p:nvPr/>
        </p:nvSpPr>
        <p:spPr>
          <a:xfrm>
            <a:off x="6272784" y="2203704"/>
            <a:ext cx="502920" cy="502920"/>
          </a:xfrm>
          <a:prstGeom prst="ellipse">
            <a:avLst/>
          </a:prstGeom>
          <a:solidFill>
            <a:srgbClr val="3E6B8A"/>
          </a:solidFill>
          <a:ln w="12700">
            <a:solidFill>
              <a:srgbClr val="3E6B8A"/>
            </a:solidFill>
            <a:prstDash val="solid"/>
          </a:ln>
        </p:spPr>
      </p:sp>
      <p:sp>
        <p:nvSpPr>
          <p:cNvPr id="12" name="Text 10"/>
          <p:cNvSpPr/>
          <p:nvPr/>
        </p:nvSpPr>
        <p:spPr>
          <a:xfrm>
            <a:off x="6272784" y="2203704"/>
            <a:ext cx="502920" cy="50292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3" name="Text 11"/>
          <p:cNvSpPr/>
          <p:nvPr/>
        </p:nvSpPr>
        <p:spPr>
          <a:xfrm>
            <a:off x="6949440" y="2185416"/>
            <a:ext cx="3931920" cy="548640"/>
          </a:xfrm>
          <a:prstGeom prst="rect">
            <a:avLst/>
          </a:prstGeom>
          <a:noFill/>
          <a:ln/>
        </p:spPr>
        <p:txBody>
          <a:bodyPr wrap="square" rtlCol="0" anchor="ctr"/>
          <a:lstStyle/>
          <a:p>
            <a:pPr marL="0" indent="0">
              <a:lnSpc>
                <a:spcPct val="100000"/>
              </a:lnSpc>
              <a:buNone/>
            </a:pPr>
            <a:r>
              <a:rPr lang="en-US" sz="1400" b="1" dirty="0">
                <a:solidFill>
                  <a:srgbClr val="1B2F4E"/>
                </a:solidFill>
                <a:latin typeface="Calibri" pitchFamily="34" charset="0"/>
                <a:ea typeface="Calibri" pitchFamily="34" charset="-122"/>
                <a:cs typeface="Calibri" pitchFamily="34" charset="-120"/>
              </a:rPr>
              <a:t>Predictive Risk &amp; SLA Scoring</a:t>
            </a:r>
            <a:endParaRPr lang="en-US" sz="1400" dirty="0"/>
          </a:p>
        </p:txBody>
      </p:sp>
      <p:sp>
        <p:nvSpPr>
          <p:cNvPr id="14" name="Text 12"/>
          <p:cNvSpPr/>
          <p:nvPr/>
        </p:nvSpPr>
        <p:spPr>
          <a:xfrm>
            <a:off x="6272784" y="2880360"/>
            <a:ext cx="4599432" cy="960120"/>
          </a:xfrm>
          <a:prstGeom prst="rect">
            <a:avLst/>
          </a:prstGeom>
          <a:noFill/>
          <a:ln/>
        </p:spPr>
        <p:txBody>
          <a:bodyPr wrap="square" rtlCol="0" anchor="ctr"/>
          <a:lstStyle/>
          <a:p>
            <a:pPr marL="0" indent="0">
              <a:lnSpc>
                <a:spcPct val="120000"/>
              </a:lnSpc>
              <a:buNone/>
            </a:pPr>
            <a:r>
              <a:rPr lang="en-US" sz="1100" dirty="0">
                <a:solidFill>
                  <a:srgbClr val="5D6B7A"/>
                </a:solidFill>
                <a:latin typeface="Calibri" pitchFamily="34" charset="0"/>
                <a:ea typeface="Calibri" pitchFamily="34" charset="-122"/>
                <a:cs typeface="Calibri" pitchFamily="34" charset="-120"/>
              </a:rPr>
              <a:t>Feed historical card-velocity metrics into the LLM prompt to predict deadline slippage before cards block.</a:t>
            </a:r>
            <a:endParaRPr lang="en-US" sz="1100" dirty="0"/>
          </a:p>
        </p:txBody>
      </p:sp>
      <p:sp>
        <p:nvSpPr>
          <p:cNvPr id="15" name="Shape 13"/>
          <p:cNvSpPr/>
          <p:nvPr/>
        </p:nvSpPr>
        <p:spPr>
          <a:xfrm>
            <a:off x="640080" y="4160520"/>
            <a:ext cx="5074920" cy="1965960"/>
          </a:xfrm>
          <a:prstGeom prst="roundRect">
            <a:avLst>
              <a:gd name="adj" fmla="val 3721"/>
            </a:avLst>
          </a:prstGeom>
          <a:solidFill>
            <a:srgbClr val="F4F6F9"/>
          </a:solidFill>
          <a:ln w="12700">
            <a:solidFill>
              <a:srgbClr val="E1E6ED"/>
            </a:solidFill>
            <a:prstDash val="solid"/>
          </a:ln>
        </p:spPr>
      </p:sp>
      <p:sp>
        <p:nvSpPr>
          <p:cNvPr id="16" name="Shape 14"/>
          <p:cNvSpPr/>
          <p:nvPr/>
        </p:nvSpPr>
        <p:spPr>
          <a:xfrm>
            <a:off x="877824" y="4398264"/>
            <a:ext cx="502920" cy="502920"/>
          </a:xfrm>
          <a:prstGeom prst="ellipse">
            <a:avLst/>
          </a:prstGeom>
          <a:solidFill>
            <a:srgbClr val="D98E2B"/>
          </a:solidFill>
          <a:ln w="12700">
            <a:solidFill>
              <a:srgbClr val="D98E2B"/>
            </a:solidFill>
            <a:prstDash val="solid"/>
          </a:ln>
        </p:spPr>
      </p:sp>
      <p:sp>
        <p:nvSpPr>
          <p:cNvPr id="17" name="Text 15"/>
          <p:cNvSpPr/>
          <p:nvPr/>
        </p:nvSpPr>
        <p:spPr>
          <a:xfrm>
            <a:off x="877824" y="4398264"/>
            <a:ext cx="502920" cy="50292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8" name="Text 16"/>
          <p:cNvSpPr/>
          <p:nvPr/>
        </p:nvSpPr>
        <p:spPr>
          <a:xfrm>
            <a:off x="1554480" y="4379976"/>
            <a:ext cx="3931920" cy="548640"/>
          </a:xfrm>
          <a:prstGeom prst="rect">
            <a:avLst/>
          </a:prstGeom>
          <a:noFill/>
          <a:ln/>
        </p:spPr>
        <p:txBody>
          <a:bodyPr wrap="square" rtlCol="0" anchor="ctr"/>
          <a:lstStyle/>
          <a:p>
            <a:pPr marL="0" indent="0">
              <a:lnSpc>
                <a:spcPct val="100000"/>
              </a:lnSpc>
              <a:buNone/>
            </a:pPr>
            <a:r>
              <a:rPr lang="en-US" sz="1400" b="1" dirty="0">
                <a:solidFill>
                  <a:srgbClr val="1B2F4E"/>
                </a:solidFill>
                <a:latin typeface="Calibri" pitchFamily="34" charset="0"/>
                <a:ea typeface="Calibri" pitchFamily="34" charset="-122"/>
                <a:cs typeface="Calibri" pitchFamily="34" charset="-120"/>
              </a:rPr>
              <a:t>Multi-Board Enterprise Aggregation</a:t>
            </a:r>
            <a:endParaRPr lang="en-US" sz="1400" dirty="0"/>
          </a:p>
        </p:txBody>
      </p:sp>
      <p:sp>
        <p:nvSpPr>
          <p:cNvPr id="19" name="Text 17"/>
          <p:cNvSpPr/>
          <p:nvPr/>
        </p:nvSpPr>
        <p:spPr>
          <a:xfrm>
            <a:off x="877824" y="5074920"/>
            <a:ext cx="4599432" cy="960120"/>
          </a:xfrm>
          <a:prstGeom prst="rect">
            <a:avLst/>
          </a:prstGeom>
          <a:noFill/>
          <a:ln/>
        </p:spPr>
        <p:txBody>
          <a:bodyPr wrap="square" rtlCol="0" anchor="ctr"/>
          <a:lstStyle/>
          <a:p>
            <a:pPr marL="0" indent="0">
              <a:lnSpc>
                <a:spcPct val="120000"/>
              </a:lnSpc>
              <a:buNone/>
            </a:pPr>
            <a:r>
              <a:rPr lang="en-US" sz="1100" dirty="0">
                <a:solidFill>
                  <a:srgbClr val="5D6B7A"/>
                </a:solidFill>
                <a:latin typeface="Calibri" pitchFamily="34" charset="0"/>
                <a:ea typeface="Calibri" pitchFamily="34" charset="-122"/>
                <a:cs typeface="Calibri" pitchFamily="34" charset="-120"/>
              </a:rPr>
              <a:t>Scale the Trello extractor to fetch data across all client boards for portfolio-level dashboarding.</a:t>
            </a:r>
            <a:endParaRPr lang="en-US" sz="1100" dirty="0"/>
          </a:p>
        </p:txBody>
      </p:sp>
      <p:sp>
        <p:nvSpPr>
          <p:cNvPr id="20" name="Shape 18"/>
          <p:cNvSpPr/>
          <p:nvPr/>
        </p:nvSpPr>
        <p:spPr>
          <a:xfrm>
            <a:off x="6035040" y="4160520"/>
            <a:ext cx="5074920" cy="1965960"/>
          </a:xfrm>
          <a:prstGeom prst="roundRect">
            <a:avLst>
              <a:gd name="adj" fmla="val 3721"/>
            </a:avLst>
          </a:prstGeom>
          <a:solidFill>
            <a:srgbClr val="F4F6F9"/>
          </a:solidFill>
          <a:ln w="12700">
            <a:solidFill>
              <a:srgbClr val="E1E6ED"/>
            </a:solidFill>
            <a:prstDash val="solid"/>
          </a:ln>
        </p:spPr>
      </p:sp>
      <p:sp>
        <p:nvSpPr>
          <p:cNvPr id="21" name="Shape 19"/>
          <p:cNvSpPr/>
          <p:nvPr/>
        </p:nvSpPr>
        <p:spPr>
          <a:xfrm>
            <a:off x="6272784" y="4398264"/>
            <a:ext cx="502920" cy="502920"/>
          </a:xfrm>
          <a:prstGeom prst="ellipse">
            <a:avLst/>
          </a:prstGeom>
          <a:solidFill>
            <a:srgbClr val="D98E2B"/>
          </a:solidFill>
          <a:ln w="12700">
            <a:solidFill>
              <a:srgbClr val="D98E2B"/>
            </a:solidFill>
            <a:prstDash val="solid"/>
          </a:ln>
        </p:spPr>
      </p:sp>
      <p:sp>
        <p:nvSpPr>
          <p:cNvPr id="22" name="Text 20"/>
          <p:cNvSpPr/>
          <p:nvPr/>
        </p:nvSpPr>
        <p:spPr>
          <a:xfrm>
            <a:off x="6272784" y="4398264"/>
            <a:ext cx="502920" cy="50292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3" name="Text 21"/>
          <p:cNvSpPr/>
          <p:nvPr/>
        </p:nvSpPr>
        <p:spPr>
          <a:xfrm>
            <a:off x="6949440" y="4379976"/>
            <a:ext cx="3931920" cy="548640"/>
          </a:xfrm>
          <a:prstGeom prst="rect">
            <a:avLst/>
          </a:prstGeom>
          <a:noFill/>
          <a:ln/>
        </p:spPr>
        <p:txBody>
          <a:bodyPr wrap="square" rtlCol="0" anchor="ctr"/>
          <a:lstStyle/>
          <a:p>
            <a:pPr marL="0" indent="0">
              <a:lnSpc>
                <a:spcPct val="100000"/>
              </a:lnSpc>
              <a:buNone/>
            </a:pPr>
            <a:r>
              <a:rPr lang="en-US" sz="1400" b="1" dirty="0">
                <a:solidFill>
                  <a:srgbClr val="1B2F4E"/>
                </a:solidFill>
                <a:latin typeface="Calibri" pitchFamily="34" charset="0"/>
                <a:ea typeface="Calibri" pitchFamily="34" charset="-122"/>
                <a:cs typeface="Calibri" pitchFamily="34" charset="-120"/>
              </a:rPr>
              <a:t>Calendar Integration</a:t>
            </a:r>
            <a:endParaRPr lang="en-US" sz="1400" dirty="0"/>
          </a:p>
        </p:txBody>
      </p:sp>
      <p:sp>
        <p:nvSpPr>
          <p:cNvPr id="24" name="Text 22"/>
          <p:cNvSpPr/>
          <p:nvPr/>
        </p:nvSpPr>
        <p:spPr>
          <a:xfrm>
            <a:off x="6272784" y="5074920"/>
            <a:ext cx="4599432" cy="960120"/>
          </a:xfrm>
          <a:prstGeom prst="rect">
            <a:avLst/>
          </a:prstGeom>
          <a:noFill/>
          <a:ln/>
        </p:spPr>
        <p:txBody>
          <a:bodyPr wrap="square" rtlCol="0" anchor="ctr"/>
          <a:lstStyle/>
          <a:p>
            <a:pPr marL="0" indent="0">
              <a:lnSpc>
                <a:spcPct val="120000"/>
              </a:lnSpc>
              <a:buNone/>
            </a:pPr>
            <a:r>
              <a:rPr lang="en-US" sz="1100" dirty="0">
                <a:solidFill>
                  <a:srgbClr val="5D6B7A"/>
                </a:solidFill>
                <a:latin typeface="Calibri" pitchFamily="34" charset="0"/>
                <a:ea typeface="Calibri" pitchFamily="34" charset="-122"/>
                <a:cs typeface="Calibri" pitchFamily="34" charset="-120"/>
              </a:rPr>
              <a:t>Connect Mira's status output to automatically reserve review meetings when critical blockers are detected.</a:t>
            </a:r>
            <a:endParaRPr lang="en-US" sz="1100" dirty="0"/>
          </a:p>
        </p:txBody>
      </p:sp>
      <p:sp>
        <p:nvSpPr>
          <p:cNvPr id="25" name="Text 23"/>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D6B7A"/>
                </a:solidFill>
                <a:latin typeface="Calibri" pitchFamily="34" charset="0"/>
                <a:ea typeface="Calibri" pitchFamily="34" charset="-122"/>
                <a:cs typeface="Calibri" pitchFamily="34" charset="-120"/>
              </a:rPr>
              <a:t>MIRA — Multi-Agent PMO Orchestrator</a:t>
            </a:r>
            <a:endParaRPr lang="en-US" sz="900" dirty="0"/>
          </a:p>
        </p:txBody>
      </p:sp>
      <p:sp>
        <p:nvSpPr>
          <p:cNvPr id="26" name="Text 24"/>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D6B7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1B2F4E"/>
        </a:solidFill>
        <a:effectLst/>
      </p:bgPr>
    </p:bg>
    <p:spTree>
      <p:nvGrpSpPr>
        <p:cNvPr id="1" name=""/>
        <p:cNvGrpSpPr/>
        <p:nvPr/>
      </p:nvGrpSpPr>
      <p:grpSpPr>
        <a:xfrm>
          <a:off x="0" y="0"/>
          <a:ext cx="0" cy="0"/>
          <a:chOff x="0" y="0"/>
          <a:chExt cx="0" cy="0"/>
        </a:xfrm>
      </p:grpSpPr>
      <p:sp>
        <p:nvSpPr>
          <p:cNvPr id="4" name="Text 2"/>
          <p:cNvSpPr/>
          <p:nvPr/>
        </p:nvSpPr>
        <p:spPr>
          <a:xfrm>
            <a:off x="822960" y="1828800"/>
            <a:ext cx="7315200" cy="320040"/>
          </a:xfrm>
          <a:prstGeom prst="rect">
            <a:avLst/>
          </a:prstGeom>
          <a:noFill/>
          <a:ln/>
        </p:spPr>
        <p:txBody>
          <a:bodyPr wrap="square" rtlCol="0" anchor="ctr"/>
          <a:lstStyle/>
          <a:p>
            <a:pPr marL="0" indent="0">
              <a:buNone/>
            </a:pPr>
            <a:r>
              <a:rPr lang="en-US" sz="1300" b="1" kern="0" spc="200" dirty="0">
                <a:solidFill>
                  <a:srgbClr val="D98E2B"/>
                </a:solidFill>
                <a:latin typeface="Calibri" pitchFamily="34" charset="0"/>
                <a:ea typeface="Calibri" pitchFamily="34" charset="-122"/>
                <a:cs typeface="Calibri" pitchFamily="34" charset="-120"/>
              </a:rPr>
              <a:t>THE TAKEAWAY</a:t>
            </a:r>
            <a:endParaRPr lang="en-US" sz="1300" dirty="0"/>
          </a:p>
        </p:txBody>
      </p:sp>
      <p:sp>
        <p:nvSpPr>
          <p:cNvPr id="5" name="Text 3"/>
          <p:cNvSpPr/>
          <p:nvPr/>
        </p:nvSpPr>
        <p:spPr>
          <a:xfrm>
            <a:off x="822960" y="2240280"/>
            <a:ext cx="9875520" cy="1463040"/>
          </a:xfrm>
          <a:prstGeom prst="rect">
            <a:avLst/>
          </a:prstGeom>
          <a:noFill/>
          <a:ln/>
        </p:spPr>
        <p:txBody>
          <a:bodyPr wrap="square" rtlCol="0" anchor="ctr"/>
          <a:lstStyle/>
          <a:p>
            <a:pPr marL="0" indent="0">
              <a:lnSpc>
                <a:spcPct val="115000"/>
              </a:lnSpc>
              <a:buNone/>
            </a:pPr>
            <a:r>
              <a:rPr lang="en-US" sz="2700" b="1" dirty="0">
                <a:solidFill>
                  <a:srgbClr val="FFFFFF"/>
                </a:solidFill>
                <a:latin typeface="Cambria" pitchFamily="34" charset="0"/>
                <a:ea typeface="Cambria" pitchFamily="34" charset="-122"/>
                <a:cs typeface="Cambria" pitchFamily="34" charset="-120"/>
              </a:rPr>
              <a:t>Mira turns a TPM's busiest week — chasing files and copy-pasting Kanban cards — into 45 seconds of synthesis and one clean email.</a:t>
            </a:r>
            <a:endParaRPr lang="en-US" sz="2700" dirty="0"/>
          </a:p>
        </p:txBody>
      </p:sp>
      <p:sp>
        <p:nvSpPr>
          <p:cNvPr id="6" name="Text 4"/>
          <p:cNvSpPr/>
          <p:nvPr/>
        </p:nvSpPr>
        <p:spPr>
          <a:xfrm>
            <a:off x="822960" y="3977640"/>
            <a:ext cx="9509760" cy="640080"/>
          </a:xfrm>
          <a:prstGeom prst="rect">
            <a:avLst/>
          </a:prstGeom>
          <a:noFill/>
          <a:ln/>
        </p:spPr>
        <p:txBody>
          <a:bodyPr wrap="square" rtlCol="0" anchor="ctr"/>
          <a:lstStyle/>
          <a:p>
            <a:pPr marL="0" indent="0">
              <a:lnSpc>
                <a:spcPct val="130000"/>
              </a:lnSpc>
              <a:buNone/>
            </a:pPr>
            <a:r>
              <a:rPr lang="en-US" sz="1400" dirty="0">
                <a:solidFill>
                  <a:srgbClr val="CBD9EE"/>
                </a:solidFill>
                <a:latin typeface="Calibri" pitchFamily="34" charset="0"/>
                <a:ea typeface="Calibri" pitchFamily="34" charset="-122"/>
                <a:cs typeface="Calibri" pitchFamily="34" charset="-120"/>
              </a:rPr>
              <a:t>Built and hardened in production on n8n with OpenAI, Google Drive, Trello and Gmail — for the AI Adoption program at ABCDE Ltd.</a:t>
            </a:r>
            <a:endParaRPr lang="en-US" sz="1400" dirty="0"/>
          </a:p>
        </p:txBody>
      </p:sp>
      <p:sp>
        <p:nvSpPr>
          <p:cNvPr id="7" name="Shape 5"/>
          <p:cNvSpPr/>
          <p:nvPr/>
        </p:nvSpPr>
        <p:spPr>
          <a:xfrm>
            <a:off x="822960" y="4937760"/>
            <a:ext cx="7863840" cy="18288"/>
          </a:xfrm>
          <a:prstGeom prst="rect">
            <a:avLst/>
          </a:prstGeom>
          <a:solidFill>
            <a:srgbClr val="3C5680"/>
          </a:solidFill>
          <a:ln/>
        </p:spPr>
      </p:sp>
      <p:sp>
        <p:nvSpPr>
          <p:cNvPr id="8" name="Text 6"/>
          <p:cNvSpPr/>
          <p:nvPr/>
        </p:nvSpPr>
        <p:spPr>
          <a:xfrm>
            <a:off x="822960" y="5166360"/>
            <a:ext cx="9875520" cy="45720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AI Technical Program Manager  ·  Nexora Pvt. Ltd.  ·  Capstone Project 1 — Applied Agentic AI for TPMs</a:t>
            </a:r>
            <a:endParaRPr lang="en-US" sz="1250" dirty="0"/>
          </a:p>
        </p:txBody>
      </p:sp>
      <p:sp>
        <p:nvSpPr>
          <p:cNvPr id="9" name="Text 7"/>
          <p:cNvSpPr/>
          <p:nvPr/>
        </p:nvSpPr>
        <p:spPr>
          <a:xfrm>
            <a:off x="822960" y="5989320"/>
            <a:ext cx="5486400" cy="457200"/>
          </a:xfrm>
          <a:prstGeom prst="rect">
            <a:avLst/>
          </a:prstGeom>
          <a:noFill/>
          <a:ln/>
        </p:spPr>
        <p:txBody>
          <a:bodyPr wrap="square" rtlCol="0" anchor="ctr"/>
          <a:lstStyle/>
          <a:p>
            <a:pPr marL="0" indent="0">
              <a:buNone/>
            </a:pPr>
            <a:r>
              <a:rPr lang="en-US" sz="1800" i="1" dirty="0">
                <a:solidFill>
                  <a:srgbClr val="D98E2B"/>
                </a:solidFill>
                <a:latin typeface="Cambria" pitchFamily="34" charset="0"/>
                <a:ea typeface="Cambria" pitchFamily="34" charset="-122"/>
                <a:cs typeface="Cambria" pitchFamily="34" charset="-120"/>
              </a:rPr>
              <a:t>Thank you.</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B2F4E"/>
        </a:solidFill>
        <a:effectLst/>
      </p:bgPr>
    </p:bg>
    <p:spTree>
      <p:nvGrpSpPr>
        <p:cNvPr id="1" name="">
          <a:extLst>
            <a:ext uri="{FF2B5EF4-FFF2-40B4-BE49-F238E27FC236}">
              <a16:creationId xmlns:a16="http://schemas.microsoft.com/office/drawing/2014/main" id="{7689D614-4322-B2E0-1707-EAA2E5E8A0A7}"/>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96851AD0-77AB-499C-E45A-CEEE23960F75}"/>
              </a:ext>
            </a:extLst>
          </p:cNvPr>
          <p:cNvPicPr>
            <a:picLocks noChangeAspect="1"/>
          </p:cNvPicPr>
          <p:nvPr/>
        </p:nvPicPr>
        <p:blipFill>
          <a:blip r:embed="rId3"/>
          <a:stretch>
            <a:fillRect/>
          </a:stretch>
        </p:blipFill>
        <p:spPr>
          <a:xfrm>
            <a:off x="186267" y="821267"/>
            <a:ext cx="11758342" cy="5029200"/>
          </a:xfrm>
          <a:prstGeom prst="rect">
            <a:avLst/>
          </a:prstGeom>
        </p:spPr>
      </p:pic>
      <p:sp>
        <p:nvSpPr>
          <p:cNvPr id="14" name="Text 1">
            <a:extLst>
              <a:ext uri="{FF2B5EF4-FFF2-40B4-BE49-F238E27FC236}">
                <a16:creationId xmlns:a16="http://schemas.microsoft.com/office/drawing/2014/main" id="{E898FD70-FFF0-F2C7-1DE2-371522534CE0}"/>
              </a:ext>
            </a:extLst>
          </p:cNvPr>
          <p:cNvSpPr/>
          <p:nvPr/>
        </p:nvSpPr>
        <p:spPr>
          <a:xfrm>
            <a:off x="3578014" y="0"/>
            <a:ext cx="6446520" cy="658368"/>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rPr>
              <a:t>MIRA- n8n Automation Workflow</a:t>
            </a:r>
            <a:endParaRPr lang="en-US" sz="3200" dirty="0"/>
          </a:p>
        </p:txBody>
      </p:sp>
    </p:spTree>
    <p:extLst>
      <p:ext uri="{BB962C8B-B14F-4D97-AF65-F5344CB8AC3E}">
        <p14:creationId xmlns:p14="http://schemas.microsoft.com/office/powerpoint/2010/main" val="40549411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B2F4E"/>
        </a:solidFill>
        <a:effectLst/>
      </p:bgPr>
    </p:bg>
    <p:spTree>
      <p:nvGrpSpPr>
        <p:cNvPr id="1" name="">
          <a:extLst>
            <a:ext uri="{FF2B5EF4-FFF2-40B4-BE49-F238E27FC236}">
              <a16:creationId xmlns:a16="http://schemas.microsoft.com/office/drawing/2014/main" id="{947E5335-714D-7DB2-FF9B-9949AD23A57E}"/>
            </a:ext>
          </a:extLst>
        </p:cNvPr>
        <p:cNvGrpSpPr/>
        <p:nvPr/>
      </p:nvGrpSpPr>
      <p:grpSpPr>
        <a:xfrm>
          <a:off x="0" y="0"/>
          <a:ext cx="0" cy="0"/>
          <a:chOff x="0" y="0"/>
          <a:chExt cx="0" cy="0"/>
        </a:xfrm>
      </p:grpSpPr>
      <p:sp>
        <p:nvSpPr>
          <p:cNvPr id="14" name="Text 1">
            <a:extLst>
              <a:ext uri="{FF2B5EF4-FFF2-40B4-BE49-F238E27FC236}">
                <a16:creationId xmlns:a16="http://schemas.microsoft.com/office/drawing/2014/main" id="{C340F2CB-E98C-81A9-D717-D79E16D0BD18}"/>
              </a:ext>
            </a:extLst>
          </p:cNvPr>
          <p:cNvSpPr/>
          <p:nvPr/>
        </p:nvSpPr>
        <p:spPr>
          <a:xfrm>
            <a:off x="1086678" y="329184"/>
            <a:ext cx="10508973" cy="658368"/>
          </a:xfrm>
          <a:prstGeom prst="rect">
            <a:avLst/>
          </a:prstGeom>
          <a:solidFill>
            <a:srgbClr val="1B2F4E"/>
          </a:solidFill>
          <a:ln/>
        </p:spPr>
        <p:txBody>
          <a:bodyPr wrap="square" rtlCol="0" anchor="ctr"/>
          <a:lstStyle/>
          <a:p>
            <a:r>
              <a:rPr lang="en-US" sz="3200" b="1" dirty="0">
                <a:solidFill>
                  <a:schemeClr val="bg1"/>
                </a:solidFill>
                <a:latin typeface="Cambria" pitchFamily="34" charset="0"/>
                <a:ea typeface="Cambria" pitchFamily="34" charset="-122"/>
              </a:rPr>
              <a:t>MIRA-Applied Agentic AI for TPMs- GitHub Repository</a:t>
            </a:r>
          </a:p>
        </p:txBody>
      </p:sp>
      <p:sp>
        <p:nvSpPr>
          <p:cNvPr id="3" name="TextBox 2">
            <a:extLst>
              <a:ext uri="{FF2B5EF4-FFF2-40B4-BE49-F238E27FC236}">
                <a16:creationId xmlns:a16="http://schemas.microsoft.com/office/drawing/2014/main" id="{F3C211BB-D0DE-67DF-9972-F38CA40A107C}"/>
              </a:ext>
            </a:extLst>
          </p:cNvPr>
          <p:cNvSpPr txBox="1"/>
          <p:nvPr/>
        </p:nvSpPr>
        <p:spPr>
          <a:xfrm>
            <a:off x="1086678" y="1983577"/>
            <a:ext cx="10164418" cy="1446550"/>
          </a:xfrm>
          <a:prstGeom prst="rect">
            <a:avLst/>
          </a:prstGeom>
          <a:solidFill>
            <a:srgbClr val="FFC000"/>
          </a:solidFill>
        </p:spPr>
        <p:txBody>
          <a:bodyPr wrap="square">
            <a:spAutoFit/>
          </a:bodyPr>
          <a:lstStyle/>
          <a:p>
            <a:r>
              <a:rPr lang="en-IN" sz="4400" dirty="0">
                <a:hlinkClick r:id="rId3"/>
              </a:rPr>
              <a:t>https://github.com/rakeshbit/MIRA-Applied-Agentic-AI-for-TPMs/upload/main</a:t>
            </a:r>
            <a:endParaRPr lang="en-IN" sz="4400" dirty="0"/>
          </a:p>
        </p:txBody>
      </p:sp>
    </p:spTree>
    <p:extLst>
      <p:ext uri="{BB962C8B-B14F-4D97-AF65-F5344CB8AC3E}">
        <p14:creationId xmlns:p14="http://schemas.microsoft.com/office/powerpoint/2010/main" val="5797073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B2F4E"/>
        </a:solidFill>
        <a:effectLst/>
      </p:bgPr>
    </p:bg>
    <p:spTree>
      <p:nvGrpSpPr>
        <p:cNvPr id="1" name="">
          <a:extLst>
            <a:ext uri="{FF2B5EF4-FFF2-40B4-BE49-F238E27FC236}">
              <a16:creationId xmlns:a16="http://schemas.microsoft.com/office/drawing/2014/main" id="{6A85EE78-E1F0-E7C4-F53A-E0292006AD38}"/>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43B212AA-3F68-7C98-B07E-B9808029EF87}"/>
              </a:ext>
            </a:extLst>
          </p:cNvPr>
          <p:cNvPicPr>
            <a:picLocks noChangeAspect="1"/>
          </p:cNvPicPr>
          <p:nvPr/>
        </p:nvPicPr>
        <p:blipFill>
          <a:blip r:embed="rId3"/>
          <a:stretch>
            <a:fillRect/>
          </a:stretch>
        </p:blipFill>
        <p:spPr>
          <a:xfrm>
            <a:off x="386068" y="1033170"/>
            <a:ext cx="5053340" cy="566396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4" name="TextBox 3">
            <a:extLst>
              <a:ext uri="{FF2B5EF4-FFF2-40B4-BE49-F238E27FC236}">
                <a16:creationId xmlns:a16="http://schemas.microsoft.com/office/drawing/2014/main" id="{6DCC0067-31A7-DF90-754C-83CACDDAD1A8}"/>
              </a:ext>
            </a:extLst>
          </p:cNvPr>
          <p:cNvSpPr txBox="1"/>
          <p:nvPr/>
        </p:nvSpPr>
        <p:spPr>
          <a:xfrm>
            <a:off x="1669921" y="160866"/>
            <a:ext cx="9565345" cy="584775"/>
          </a:xfrm>
          <a:prstGeom prst="rect">
            <a:avLst/>
          </a:prstGeom>
          <a:noFill/>
        </p:spPr>
        <p:txBody>
          <a:bodyPr wrap="square">
            <a:spAutoFit/>
          </a:bodyPr>
          <a:lstStyle/>
          <a:p>
            <a:pPr marL="0" indent="0" algn="l">
              <a:buNone/>
            </a:pPr>
            <a:r>
              <a:rPr lang="en-US" sz="3200" b="1" dirty="0">
                <a:solidFill>
                  <a:srgbClr val="FFFFFF"/>
                </a:solidFill>
                <a:latin typeface="Cambria" pitchFamily="34" charset="0"/>
                <a:ea typeface="Cambria" pitchFamily="34" charset="-122"/>
              </a:rPr>
              <a:t>MIRA- n8n Automation Workflow - Outputs</a:t>
            </a:r>
            <a:endParaRPr lang="en-US" sz="3200" dirty="0"/>
          </a:p>
        </p:txBody>
      </p:sp>
      <p:pic>
        <p:nvPicPr>
          <p:cNvPr id="5" name="Picture 4">
            <a:extLst>
              <a:ext uri="{FF2B5EF4-FFF2-40B4-BE49-F238E27FC236}">
                <a16:creationId xmlns:a16="http://schemas.microsoft.com/office/drawing/2014/main" id="{D6D3B185-5659-E5C7-66A4-DF5AE7B1C7B7}"/>
              </a:ext>
            </a:extLst>
          </p:cNvPr>
          <p:cNvPicPr>
            <a:picLocks noChangeAspect="1"/>
          </p:cNvPicPr>
          <p:nvPr/>
        </p:nvPicPr>
        <p:blipFill>
          <a:blip r:embed="rId4"/>
          <a:stretch>
            <a:fillRect/>
          </a:stretch>
        </p:blipFill>
        <p:spPr>
          <a:xfrm>
            <a:off x="5868939" y="928299"/>
            <a:ext cx="5704225" cy="576883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6872378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B2F4E"/>
        </a:solidFill>
        <a:effectLst/>
      </p:bgPr>
    </p:bg>
    <p:spTree>
      <p:nvGrpSpPr>
        <p:cNvPr id="1" name="">
          <a:extLst>
            <a:ext uri="{FF2B5EF4-FFF2-40B4-BE49-F238E27FC236}">
              <a16:creationId xmlns:a16="http://schemas.microsoft.com/office/drawing/2014/main" id="{28FA7FB2-01BD-3335-EDD2-D0C54D1A28F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A9EB42C-BA16-CB33-705B-EE6BBD4C0117}"/>
              </a:ext>
            </a:extLst>
          </p:cNvPr>
          <p:cNvSpPr txBox="1"/>
          <p:nvPr/>
        </p:nvSpPr>
        <p:spPr>
          <a:xfrm>
            <a:off x="1669921" y="160866"/>
            <a:ext cx="9565345" cy="584775"/>
          </a:xfrm>
          <a:prstGeom prst="rect">
            <a:avLst/>
          </a:prstGeom>
          <a:noFill/>
        </p:spPr>
        <p:txBody>
          <a:bodyPr wrap="square">
            <a:spAutoFit/>
          </a:bodyPr>
          <a:lstStyle/>
          <a:p>
            <a:pPr marL="0" indent="0" algn="l">
              <a:buNone/>
            </a:pPr>
            <a:r>
              <a:rPr lang="en-US" sz="3200" b="1" dirty="0">
                <a:solidFill>
                  <a:srgbClr val="FFFFFF"/>
                </a:solidFill>
                <a:latin typeface="Cambria" pitchFamily="34" charset="0"/>
                <a:ea typeface="Cambria" pitchFamily="34" charset="-122"/>
              </a:rPr>
              <a:t>MIRA- n8n Automation Workflow – JSON Outputs</a:t>
            </a:r>
            <a:endParaRPr lang="en-US" sz="3200" dirty="0"/>
          </a:p>
        </p:txBody>
      </p:sp>
      <p:graphicFrame>
        <p:nvGraphicFramePr>
          <p:cNvPr id="7" name="Object 6">
            <a:extLst>
              <a:ext uri="{FF2B5EF4-FFF2-40B4-BE49-F238E27FC236}">
                <a16:creationId xmlns:a16="http://schemas.microsoft.com/office/drawing/2014/main" id="{DC15F648-893B-0C8A-9646-933933E83CF3}"/>
              </a:ext>
            </a:extLst>
          </p:cNvPr>
          <p:cNvGraphicFramePr>
            <a:graphicFrameLocks noChangeAspect="1"/>
          </p:cNvGraphicFramePr>
          <p:nvPr>
            <p:extLst>
              <p:ext uri="{D42A27DB-BD31-4B8C-83A1-F6EECF244321}">
                <p14:modId xmlns:p14="http://schemas.microsoft.com/office/powerpoint/2010/main" val="2190779700"/>
              </p:ext>
            </p:extLst>
          </p:nvPr>
        </p:nvGraphicFramePr>
        <p:xfrm>
          <a:off x="4271816" y="1856510"/>
          <a:ext cx="2559841" cy="2159866"/>
        </p:xfrm>
        <a:graphic>
          <a:graphicData uri="http://schemas.openxmlformats.org/presentationml/2006/ole">
            <mc:AlternateContent xmlns:mc="http://schemas.openxmlformats.org/markup-compatibility/2006">
              <mc:Choice xmlns:v="urn:schemas-microsoft-com:vml" Requires="v">
                <p:oleObj name="Packager Shell Object" showAsIcon="1" r:id="rId3" imgW="914400" imgH="771525" progId="Package">
                  <p:embed/>
                </p:oleObj>
              </mc:Choice>
              <mc:Fallback>
                <p:oleObj name="Packager Shell Object" showAsIcon="1" r:id="rId3" imgW="914400" imgH="771525" progId="Package">
                  <p:embed/>
                  <p:pic>
                    <p:nvPicPr>
                      <p:cNvPr id="0" name=""/>
                      <p:cNvPicPr/>
                      <p:nvPr/>
                    </p:nvPicPr>
                    <p:blipFill>
                      <a:blip r:embed="rId4"/>
                      <a:stretch>
                        <a:fillRect/>
                      </a:stretch>
                    </p:blipFill>
                    <p:spPr>
                      <a:xfrm>
                        <a:off x="4271816" y="1856510"/>
                        <a:ext cx="2559841" cy="2159866"/>
                      </a:xfrm>
                      <a:prstGeom prst="rect">
                        <a:avLst/>
                      </a:prstGeom>
                      <a:solidFill>
                        <a:schemeClr val="accent6">
                          <a:lumMod val="20000"/>
                          <a:lumOff val="80000"/>
                        </a:schemeClr>
                      </a:solidFill>
                    </p:spPr>
                  </p:pic>
                </p:oleObj>
              </mc:Fallback>
            </mc:AlternateContent>
          </a:graphicData>
        </a:graphic>
      </p:graphicFrame>
    </p:spTree>
    <p:extLst>
      <p:ext uri="{BB962C8B-B14F-4D97-AF65-F5344CB8AC3E}">
        <p14:creationId xmlns:p14="http://schemas.microsoft.com/office/powerpoint/2010/main" val="23950569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1687</TotalTime>
  <Words>3019</Words>
  <Application>Microsoft Office PowerPoint</Application>
  <PresentationFormat>Widescreen</PresentationFormat>
  <Paragraphs>516</Paragraphs>
  <Slides>25</Slides>
  <Notes>25</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1" baseType="lpstr">
      <vt:lpstr>Arial</vt:lpstr>
      <vt:lpstr>Calibri</vt:lpstr>
      <vt:lpstr>Cambria</vt:lpstr>
      <vt:lpstr>Times New Roman</vt:lpstr>
      <vt:lpstr>Office Theme</vt:lpstr>
      <vt:lpstr>Package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Rakesh Yadav</cp:lastModifiedBy>
  <cp:revision>10</cp:revision>
  <dcterms:created xsi:type="dcterms:W3CDTF">2026-08-23T17:56:16Z</dcterms:created>
  <dcterms:modified xsi:type="dcterms:W3CDTF">2026-08-29T05:59:13Z</dcterms:modified>
</cp:coreProperties>
</file>